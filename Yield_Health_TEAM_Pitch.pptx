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B3A"/>
        </a:solidFill>
      </p:bgPr>
    </p:bg>
    <p:spTree>
      <p:nvGrpSpPr>
        <p:cNvPr id="1" name=""/>
        <p:cNvGrpSpPr/>
        <p:nvPr/>
      </p:nvGrpSpPr>
      <p:grpSpPr>
        <a:xfrm>
          <a:off x="0" y="0"/>
          <a:ext cx="0" cy="0"/>
          <a:chOff x="0" y="0"/>
          <a:chExt cx="0" cy="0"/>
        </a:xfrm>
      </p:grpSpPr>
      <p:pic>
        <p:nvPicPr>
          <p:cNvPr id="2" name="Image 0" descr="/sessions/kind-affectionate-ptolemy/mnt/outputs/build/assets/hero.jpeg">    </p:cNvPr>
          <p:cNvPicPr>
            <a:picLocks noChangeAspect="1"/>
          </p:cNvPicPr>
          <p:nvPr/>
        </p:nvPicPr>
        <p:blipFill>
          <a:blip r:embed="rId1"/>
          <a:srcRect l="0" r="0" t="0" b="0"/>
          <a:stretch/>
        </p:blipFill>
        <p:spPr>
          <a:xfrm>
            <a:off x="6400800" y="0"/>
            <a:ext cx="5790895" cy="6858000"/>
          </a:xfrm>
          <a:prstGeom prst="rect">
            <a:avLst/>
          </a:prstGeom>
        </p:spPr>
      </p:pic>
      <p:sp>
        <p:nvSpPr>
          <p:cNvPr id="3" name="Shape 0"/>
          <p:cNvSpPr/>
          <p:nvPr/>
        </p:nvSpPr>
        <p:spPr>
          <a:xfrm>
            <a:off x="0" y="0"/>
            <a:ext cx="12191695" cy="6858000"/>
          </a:xfrm>
          <a:prstGeom prst="rect">
            <a:avLst/>
          </a:prstGeom>
          <a:solidFill>
            <a:srgbClr val="1E4B3A">
              <a:alpha val="58000"/>
            </a:srgbClr>
          </a:solidFill>
          <a:ln/>
        </p:spPr>
      </p:sp>
      <p:sp>
        <p:nvSpPr>
          <p:cNvPr id="4" name="Shape 1"/>
          <p:cNvSpPr/>
          <p:nvPr/>
        </p:nvSpPr>
        <p:spPr>
          <a:xfrm>
            <a:off x="0" y="0"/>
            <a:ext cx="6949440" cy="6858000"/>
          </a:xfrm>
          <a:prstGeom prst="rect">
            <a:avLst/>
          </a:prstGeom>
          <a:solidFill>
            <a:srgbClr val="1E4B3A"/>
          </a:solidFill>
          <a:ln/>
        </p:spPr>
      </p:sp>
      <p:sp>
        <p:nvSpPr>
          <p:cNvPr id="5" name="Text 2"/>
          <p:cNvSpPr/>
          <p:nvPr/>
        </p:nvSpPr>
        <p:spPr>
          <a:xfrm>
            <a:off x="640080" y="1371600"/>
            <a:ext cx="6400800" cy="36576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PREPARED FOR TEAM HOSPITAL LEADERSHIP</a:t>
            </a:r>
            <a:endParaRPr lang="en-US" sz="1200" dirty="0"/>
          </a:p>
        </p:txBody>
      </p:sp>
      <p:sp>
        <p:nvSpPr>
          <p:cNvPr id="6" name="Text 3"/>
          <p:cNvSpPr/>
          <p:nvPr/>
        </p:nvSpPr>
        <p:spPr>
          <a:xfrm>
            <a:off x="640080" y="1828800"/>
            <a:ext cx="6217920" cy="141732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Arial" pitchFamily="34" charset="0"/>
                <a:ea typeface="Arial" pitchFamily="34" charset="-122"/>
                <a:cs typeface="Arial" pitchFamily="34" charset="-120"/>
              </a:rPr>
              <a:t>Your TEAM model just became</a:t>
            </a:r>
            <a:endParaRPr lang="en-US" sz="3400" dirty="0"/>
          </a:p>
          <a:p>
            <a:pPr indent="0" marL="0">
              <a:lnSpc>
                <a:spcPct val="108000"/>
              </a:lnSpc>
              <a:buNone/>
            </a:pPr>
            <a:r>
              <a:rPr lang="en-US" sz="3400" b="1" dirty="0">
                <a:solidFill>
                  <a:srgbClr val="FFFFFF"/>
                </a:solidFill>
                <a:latin typeface="Arial" pitchFamily="34" charset="0"/>
                <a:ea typeface="Arial" pitchFamily="34" charset="-122"/>
                <a:cs typeface="Arial" pitchFamily="34" charset="-120"/>
              </a:rPr>
              <a:t>a P&amp;L line.</a:t>
            </a:r>
            <a:endParaRPr lang="en-US" sz="3400" dirty="0"/>
          </a:p>
        </p:txBody>
      </p:sp>
      <p:sp>
        <p:nvSpPr>
          <p:cNvPr id="7" name="Text 4"/>
          <p:cNvSpPr/>
          <p:nvPr/>
        </p:nvSpPr>
        <p:spPr>
          <a:xfrm>
            <a:off x="640080" y="3337560"/>
            <a:ext cx="6217920" cy="548640"/>
          </a:xfrm>
          <a:prstGeom prst="rect">
            <a:avLst/>
          </a:prstGeom>
          <a:noFill/>
          <a:ln/>
        </p:spPr>
        <p:txBody>
          <a:bodyPr wrap="square" lIns="0" tIns="0" rIns="0" bIns="0" rtlCol="0" anchor="ctr"/>
          <a:lstStyle/>
          <a:p>
            <a:pPr indent="0" marL="0">
              <a:buNone/>
            </a:pPr>
            <a:r>
              <a:rPr lang="en-US" sz="2400" b="1" dirty="0">
                <a:solidFill>
                  <a:srgbClr val="8FA687"/>
                </a:solidFill>
                <a:latin typeface="Arial" pitchFamily="34" charset="0"/>
                <a:ea typeface="Arial" pitchFamily="34" charset="-122"/>
                <a:cs typeface="Arial" pitchFamily="34" charset="-120"/>
              </a:rPr>
              <a:t>Let's make sure it's a gain.</a:t>
            </a:r>
            <a:endParaRPr lang="en-US" sz="2400" dirty="0"/>
          </a:p>
        </p:txBody>
      </p:sp>
      <p:sp>
        <p:nvSpPr>
          <p:cNvPr id="8" name="Text 5"/>
          <p:cNvSpPr/>
          <p:nvPr/>
        </p:nvSpPr>
        <p:spPr>
          <a:xfrm>
            <a:off x="640080" y="4160520"/>
            <a:ext cx="5669280" cy="1005840"/>
          </a:xfrm>
          <a:prstGeom prst="rect">
            <a:avLst/>
          </a:prstGeom>
          <a:noFill/>
          <a:ln/>
        </p:spPr>
        <p:txBody>
          <a:bodyPr wrap="square" lIns="0" tIns="0" rIns="0" bIns="0" rtlCol="0" anchor="ctr"/>
          <a:lstStyle/>
          <a:p>
            <a:pPr indent="0" marL="0">
              <a:lnSpc>
                <a:spcPct val="130000"/>
              </a:lnSpc>
              <a:buNone/>
            </a:pPr>
            <a:r>
              <a:rPr lang="en-US" sz="1400" dirty="0">
                <a:solidFill>
                  <a:srgbClr val="DCE6D9"/>
                </a:solidFill>
                <a:latin typeface="Arial" pitchFamily="34" charset="0"/>
                <a:ea typeface="Arial" pitchFamily="34" charset="-122"/>
                <a:cs typeface="Arial" pitchFamily="34" charset="-120"/>
              </a:rPr>
              <a:t>Yield Health is the program built to run CMS's mandatory episode model -- priced so we only win when your hospital does.</a:t>
            </a:r>
            <a:endParaRPr lang="en-US" sz="1400" dirty="0"/>
          </a:p>
        </p:txBody>
      </p:sp>
      <p:sp>
        <p:nvSpPr>
          <p:cNvPr id="9" name="Text 6"/>
          <p:cNvSpPr/>
          <p:nvPr/>
        </p:nvSpPr>
        <p:spPr>
          <a:xfrm>
            <a:off x="640080" y="593445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a:t>
            </a:r>
            <a:endParaRPr lang="en-US" sz="1500" dirty="0"/>
          </a:p>
        </p:txBody>
      </p:sp>
      <p:sp>
        <p:nvSpPr>
          <p:cNvPr id="10" name="Text 7"/>
          <p:cNvSpPr/>
          <p:nvPr/>
        </p:nvSpPr>
        <p:spPr>
          <a:xfrm>
            <a:off x="640080" y="6355080"/>
            <a:ext cx="4572000" cy="274320"/>
          </a:xfrm>
          <a:prstGeom prst="rect">
            <a:avLst/>
          </a:prstGeom>
          <a:noFill/>
          <a:ln/>
        </p:spPr>
        <p:txBody>
          <a:bodyPr wrap="square" lIns="0" tIns="0" rIns="0" bIns="0" rtlCol="0" anchor="ctr"/>
          <a:lstStyle/>
          <a:p>
            <a:pPr indent="0" marL="0">
              <a:buNone/>
            </a:pPr>
            <a:r>
              <a:rPr lang="en-US" sz="900" dirty="0">
                <a:solidFill>
                  <a:srgbClr val="9DB29A"/>
                </a:solidFill>
                <a:latin typeface="Arial" pitchFamily="34" charset="0"/>
                <a:ea typeface="Arial" pitchFamily="34" charset="-122"/>
                <a:cs typeface="Arial" pitchFamily="34" charset="-120"/>
              </a:rPr>
              <a:t>Confidential - Prepared for discussion purposes - July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THE MOMENT</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TEAM isn't coming.</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It's already running.</a:t>
            </a:r>
            <a:endParaRPr lang="en-US" sz="3000" dirty="0"/>
          </a:p>
        </p:txBody>
      </p:sp>
      <p:sp>
        <p:nvSpPr>
          <p:cNvPr id="5" name="Text 3"/>
          <p:cNvSpPr/>
          <p:nvPr/>
        </p:nvSpPr>
        <p:spPr>
          <a:xfrm>
            <a:off x="4206240" y="640080"/>
            <a:ext cx="7436815" cy="1005840"/>
          </a:xfrm>
          <a:prstGeom prst="rect">
            <a:avLst/>
          </a:prstGeom>
          <a:noFill/>
          <a:ln/>
        </p:spPr>
        <p:txBody>
          <a:bodyPr wrap="square" lIns="0" tIns="0" rIns="0" bIns="0" rtlCol="0" anchor="ctr"/>
          <a:lstStyle/>
          <a:p>
            <a:pPr indent="0" marL="0">
              <a:lnSpc>
                <a:spcPct val="130000"/>
              </a:lnSpc>
              <a:buNone/>
            </a:pPr>
            <a:r>
              <a:rPr lang="en-US" sz="1500" dirty="0">
                <a:solidFill>
                  <a:srgbClr val="1E4B3A"/>
                </a:solidFill>
                <a:latin typeface="Arial" pitchFamily="34" charset="0"/>
                <a:ea typeface="Arial" pitchFamily="34" charset="-122"/>
                <a:cs typeface="Arial" pitchFamily="34" charset="-120"/>
              </a:rPr>
              <a:t>CMS flipped the switch on the Transforming Episode Accountability Model on January 1st. If your hospital got the letter, you're in it -- through 2030, mandatory, no opting out.</a:t>
            </a:r>
            <a:endParaRPr lang="en-US" sz="1500" dirty="0"/>
          </a:p>
        </p:txBody>
      </p:sp>
      <p:sp>
        <p:nvSpPr>
          <p:cNvPr id="6" name="Shape 4"/>
          <p:cNvSpPr/>
          <p:nvPr/>
        </p:nvSpPr>
        <p:spPr>
          <a:xfrm>
            <a:off x="4206240" y="1965960"/>
            <a:ext cx="1653464" cy="1554480"/>
          </a:xfrm>
          <a:prstGeom prst="rect">
            <a:avLst/>
          </a:prstGeom>
          <a:solidFill>
            <a:srgbClr val="F2F2F2"/>
          </a:solidFill>
          <a:ln/>
        </p:spPr>
      </p:sp>
      <p:sp>
        <p:nvSpPr>
          <p:cNvPr id="7" name="Text 5"/>
          <p:cNvSpPr/>
          <p:nvPr/>
        </p:nvSpPr>
        <p:spPr>
          <a:xfrm>
            <a:off x="4206240"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741</a:t>
            </a:r>
            <a:endParaRPr lang="en-US" sz="3000" dirty="0"/>
          </a:p>
        </p:txBody>
      </p:sp>
      <p:sp>
        <p:nvSpPr>
          <p:cNvPr id="8" name="Text 6"/>
          <p:cNvSpPr/>
          <p:nvPr/>
        </p:nvSpPr>
        <p:spPr>
          <a:xfrm>
            <a:off x="4315968"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hospitals required to participate</a:t>
            </a:r>
            <a:endParaRPr lang="en-US" sz="1050" dirty="0"/>
          </a:p>
        </p:txBody>
      </p:sp>
      <p:sp>
        <p:nvSpPr>
          <p:cNvPr id="9" name="Shape 7"/>
          <p:cNvSpPr/>
          <p:nvPr/>
        </p:nvSpPr>
        <p:spPr>
          <a:xfrm>
            <a:off x="6134024" y="1965960"/>
            <a:ext cx="1653464" cy="1554480"/>
          </a:xfrm>
          <a:prstGeom prst="rect">
            <a:avLst/>
          </a:prstGeom>
          <a:solidFill>
            <a:srgbClr val="F2F2F2"/>
          </a:solidFill>
          <a:ln/>
        </p:spPr>
      </p:sp>
      <p:sp>
        <p:nvSpPr>
          <p:cNvPr id="10" name="Text 8"/>
          <p:cNvSpPr/>
          <p:nvPr/>
        </p:nvSpPr>
        <p:spPr>
          <a:xfrm>
            <a:off x="6134024"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188</a:t>
            </a:r>
            <a:endParaRPr lang="en-US" sz="3000" dirty="0"/>
          </a:p>
        </p:txBody>
      </p:sp>
      <p:sp>
        <p:nvSpPr>
          <p:cNvPr id="11" name="Text 9"/>
          <p:cNvSpPr/>
          <p:nvPr/>
        </p:nvSpPr>
        <p:spPr>
          <a:xfrm>
            <a:off x="6243752"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mandatory U.S. markets</a:t>
            </a:r>
            <a:endParaRPr lang="en-US" sz="1050" dirty="0"/>
          </a:p>
        </p:txBody>
      </p:sp>
      <p:sp>
        <p:nvSpPr>
          <p:cNvPr id="12" name="Shape 10"/>
          <p:cNvSpPr/>
          <p:nvPr/>
        </p:nvSpPr>
        <p:spPr>
          <a:xfrm>
            <a:off x="8061808" y="1965960"/>
            <a:ext cx="1653464" cy="1554480"/>
          </a:xfrm>
          <a:prstGeom prst="rect">
            <a:avLst/>
          </a:prstGeom>
          <a:solidFill>
            <a:srgbClr val="F2F2F2"/>
          </a:solidFill>
          <a:ln/>
        </p:spPr>
      </p:sp>
      <p:sp>
        <p:nvSpPr>
          <p:cNvPr id="13" name="Text 11"/>
          <p:cNvSpPr/>
          <p:nvPr/>
        </p:nvSpPr>
        <p:spPr>
          <a:xfrm>
            <a:off x="8061808"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5</a:t>
            </a:r>
            <a:endParaRPr lang="en-US" sz="3000" dirty="0"/>
          </a:p>
        </p:txBody>
      </p:sp>
      <p:sp>
        <p:nvSpPr>
          <p:cNvPr id="14" name="Text 12"/>
          <p:cNvSpPr/>
          <p:nvPr/>
        </p:nvSpPr>
        <p:spPr>
          <a:xfrm>
            <a:off x="8171536"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surgical episode types</a:t>
            </a:r>
            <a:endParaRPr lang="en-US" sz="1050" dirty="0"/>
          </a:p>
        </p:txBody>
      </p:sp>
      <p:sp>
        <p:nvSpPr>
          <p:cNvPr id="15" name="Shape 13"/>
          <p:cNvSpPr/>
          <p:nvPr/>
        </p:nvSpPr>
        <p:spPr>
          <a:xfrm>
            <a:off x="9989591" y="1965960"/>
            <a:ext cx="1653464" cy="1554480"/>
          </a:xfrm>
          <a:prstGeom prst="rect">
            <a:avLst/>
          </a:prstGeom>
          <a:solidFill>
            <a:srgbClr val="F2F2F2"/>
          </a:solidFill>
          <a:ln/>
        </p:spPr>
      </p:sp>
      <p:sp>
        <p:nvSpPr>
          <p:cNvPr id="16" name="Text 14"/>
          <p:cNvSpPr/>
          <p:nvPr/>
        </p:nvSpPr>
        <p:spPr>
          <a:xfrm>
            <a:off x="9989591" y="2103120"/>
            <a:ext cx="1653464" cy="68580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30-day</a:t>
            </a:r>
            <a:endParaRPr lang="en-US" sz="3000" dirty="0"/>
          </a:p>
        </p:txBody>
      </p:sp>
      <p:sp>
        <p:nvSpPr>
          <p:cNvPr id="17" name="Text 15"/>
          <p:cNvSpPr/>
          <p:nvPr/>
        </p:nvSpPr>
        <p:spPr>
          <a:xfrm>
            <a:off x="10099319" y="2788920"/>
            <a:ext cx="1434008" cy="640080"/>
          </a:xfrm>
          <a:prstGeom prst="rect">
            <a:avLst/>
          </a:prstGeom>
          <a:noFill/>
          <a:ln/>
        </p:spPr>
        <p:txBody>
          <a:bodyPr wrap="square" lIns="0" tIns="0" rIns="0" bIns="0" rtlCol="0" anchor="ctr"/>
          <a:lstStyle/>
          <a:p>
            <a:pPr algn="ctr" indent="0" marL="0">
              <a:lnSpc>
                <a:spcPct val="115000"/>
              </a:lnSpc>
              <a:buNone/>
            </a:pPr>
            <a:r>
              <a:rPr lang="en-US" sz="1050" dirty="0">
                <a:solidFill>
                  <a:srgbClr val="545759"/>
                </a:solidFill>
                <a:latin typeface="Arial" pitchFamily="34" charset="0"/>
                <a:ea typeface="Arial" pitchFamily="34" charset="-122"/>
                <a:cs typeface="Arial" pitchFamily="34" charset="-120"/>
              </a:rPr>
              <a:t>accountability window</a:t>
            </a:r>
            <a:endParaRPr lang="en-US" sz="1050" dirty="0"/>
          </a:p>
        </p:txBody>
      </p:sp>
      <p:sp>
        <p:nvSpPr>
          <p:cNvPr id="18" name="Text 16"/>
          <p:cNvSpPr/>
          <p:nvPr/>
        </p:nvSpPr>
        <p:spPr>
          <a:xfrm>
            <a:off x="4206240" y="3886200"/>
            <a:ext cx="7436815" cy="548640"/>
          </a:xfrm>
          <a:prstGeom prst="rect">
            <a:avLst/>
          </a:prstGeom>
          <a:noFill/>
          <a:ln/>
        </p:spPr>
        <p:txBody>
          <a:bodyPr wrap="square" lIns="0" tIns="0" rIns="0" bIns="0" rtlCol="0" anchor="ctr"/>
          <a:lstStyle/>
          <a:p>
            <a:pPr indent="0" marL="0">
              <a:lnSpc>
                <a:spcPct val="130000"/>
              </a:lnSpc>
              <a:buNone/>
            </a:pPr>
            <a:r>
              <a:rPr lang="en-US" sz="1250" b="1" dirty="0">
                <a:solidFill>
                  <a:srgbClr val="1E4B3A"/>
                </a:solidFill>
                <a:latin typeface="Arial" pitchFamily="34" charset="0"/>
                <a:ea typeface="Arial" pitchFamily="34" charset="-122"/>
                <a:cs typeface="Arial" pitchFamily="34" charset="-120"/>
              </a:rPr>
              <a:t>The five episodes: </a:t>
            </a:r>
            <a:pPr indent="0" marL="0">
              <a:lnSpc>
                <a:spcPct val="130000"/>
              </a:lnSpc>
              <a:buNone/>
            </a:pPr>
            <a:r>
              <a:rPr lang="en-US" sz="1250" dirty="0">
                <a:solidFill>
                  <a:srgbClr val="545759"/>
                </a:solidFill>
                <a:latin typeface="Arial" pitchFamily="34" charset="0"/>
                <a:ea typeface="Arial" pitchFamily="34" charset="-122"/>
                <a:cs typeface="Arial" pitchFamily="34" charset="-120"/>
              </a:rPr>
              <a:t>joint replacement, hip/femur fracture, spinal fusion, CABG, major bowel</a:t>
            </a:r>
            <a:endParaRPr lang="en-US" sz="1250" dirty="0"/>
          </a:p>
        </p:txBody>
      </p:sp>
      <p:sp>
        <p:nvSpPr>
          <p:cNvPr id="19" name="Text 17"/>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20" name="Text 18"/>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1" name="Text 19"/>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THE STAKES</a:t>
            </a:r>
            <a:endParaRPr lang="en-US" sz="1200" dirty="0"/>
          </a:p>
        </p:txBody>
      </p:sp>
      <p:sp>
        <p:nvSpPr>
          <p:cNvPr id="3" name="Text 1"/>
          <p:cNvSpPr/>
          <p:nvPr/>
        </p:nvSpPr>
        <p:spPr>
          <a:xfrm>
            <a:off x="548640" y="868680"/>
            <a:ext cx="6858000" cy="1371600"/>
          </a:xfrm>
          <a:prstGeom prst="rect">
            <a:avLst/>
          </a:prstGeom>
          <a:noFill/>
          <a:ln/>
        </p:spPr>
        <p:txBody>
          <a:bodyPr wrap="square" lIns="0" tIns="0" rIns="0" bIns="0" rtlCol="0" anchor="ctr"/>
          <a:lstStyle/>
          <a:p>
            <a:pPr indent="0" marL="0">
              <a:lnSpc>
                <a:spcPct val="110000"/>
              </a:lnSpc>
              <a:buNone/>
            </a:pPr>
            <a:r>
              <a:rPr lang="en-US" sz="2800" b="1" dirty="0">
                <a:solidFill>
                  <a:srgbClr val="FFFFFF"/>
                </a:solidFill>
                <a:latin typeface="Arial" pitchFamily="34" charset="0"/>
                <a:ea typeface="Arial" pitchFamily="34" charset="-122"/>
                <a:cs typeface="Arial" pitchFamily="34" charset="-120"/>
              </a:rPr>
              <a:t>Right now, most hospitals</a:t>
            </a:r>
            <a:endParaRPr lang="en-US" sz="2800" dirty="0"/>
          </a:p>
          <a:p>
            <a:pPr indent="0" marL="0">
              <a:lnSpc>
                <a:spcPct val="110000"/>
              </a:lnSpc>
              <a:buNone/>
            </a:pPr>
            <a:r>
              <a:rPr lang="en-US" sz="2800" b="1" dirty="0">
                <a:solidFill>
                  <a:srgbClr val="FFFFFF"/>
                </a:solidFill>
                <a:latin typeface="Arial" pitchFamily="34" charset="0"/>
                <a:ea typeface="Arial" pitchFamily="34" charset="-122"/>
                <a:cs typeface="Arial" pitchFamily="34" charset="-120"/>
              </a:rPr>
              <a:t>are losing this.</a:t>
            </a:r>
            <a:endParaRPr lang="en-US" sz="2800" dirty="0"/>
          </a:p>
        </p:txBody>
      </p:sp>
      <p:sp>
        <p:nvSpPr>
          <p:cNvPr id="4" name="Shape 2"/>
          <p:cNvSpPr/>
          <p:nvPr/>
        </p:nvSpPr>
        <p:spPr>
          <a:xfrm>
            <a:off x="548640" y="2468880"/>
            <a:ext cx="2286000" cy="2286000"/>
          </a:xfrm>
          <a:prstGeom prst="ellipse">
            <a:avLst/>
          </a:prstGeom>
          <a:solidFill>
            <a:srgbClr val="2C5744"/>
          </a:solidFill>
          <a:ln w="25400">
            <a:solidFill>
              <a:srgbClr val="8FA687"/>
            </a:solidFill>
            <a:prstDash val="solid"/>
          </a:ln>
        </p:spPr>
      </p:sp>
      <p:sp>
        <p:nvSpPr>
          <p:cNvPr id="5" name="Text 3"/>
          <p:cNvSpPr/>
          <p:nvPr/>
        </p:nvSpPr>
        <p:spPr>
          <a:xfrm>
            <a:off x="548640" y="2880360"/>
            <a:ext cx="228600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66%</a:t>
            </a:r>
            <a:endParaRPr lang="en-US" sz="3800" dirty="0"/>
          </a:p>
        </p:txBody>
      </p:sp>
      <p:sp>
        <p:nvSpPr>
          <p:cNvPr id="6" name="Text 4"/>
          <p:cNvSpPr/>
          <p:nvPr/>
        </p:nvSpPr>
        <p:spPr>
          <a:xfrm>
            <a:off x="685800" y="3611880"/>
            <a:ext cx="2011680" cy="548640"/>
          </a:xfrm>
          <a:prstGeom prst="rect">
            <a:avLst/>
          </a:prstGeom>
          <a:noFill/>
          <a:ln/>
        </p:spPr>
        <p:txBody>
          <a:bodyPr wrap="square" lIns="0" tIns="0" rIns="0" bIns="0" rtlCol="0" anchor="ctr"/>
          <a:lstStyle/>
          <a:p>
            <a:pPr algn="ctr" indent="0" marL="0">
              <a:lnSpc>
                <a:spcPct val="115000"/>
              </a:lnSpc>
              <a:buNone/>
            </a:pPr>
            <a:r>
              <a:rPr lang="en-US" sz="1050" dirty="0">
                <a:solidFill>
                  <a:srgbClr val="D3DED0"/>
                </a:solidFill>
                <a:latin typeface="Arial" pitchFamily="34" charset="0"/>
                <a:ea typeface="Arial" pitchFamily="34" charset="-122"/>
                <a:cs typeface="Arial" pitchFamily="34" charset="-120"/>
              </a:rPr>
              <a:t>projected net payers</a:t>
            </a:r>
            <a:endParaRPr lang="en-US" sz="1050" dirty="0"/>
          </a:p>
        </p:txBody>
      </p:sp>
      <p:sp>
        <p:nvSpPr>
          <p:cNvPr id="7" name="Text 5"/>
          <p:cNvSpPr/>
          <p:nvPr/>
        </p:nvSpPr>
        <p:spPr>
          <a:xfrm>
            <a:off x="3200400" y="2514600"/>
            <a:ext cx="8412480" cy="1051560"/>
          </a:xfrm>
          <a:prstGeom prst="rect">
            <a:avLst/>
          </a:prstGeom>
          <a:noFill/>
          <a:ln/>
        </p:spPr>
        <p:txBody>
          <a:bodyPr wrap="square" lIns="0" tIns="0" rIns="0" bIns="0" rtlCol="0" anchor="ctr"/>
          <a:lstStyle/>
          <a:p>
            <a:pPr indent="0" marL="0">
              <a:lnSpc>
                <a:spcPct val="135000"/>
              </a:lnSpc>
              <a:buNone/>
            </a:pPr>
            <a:r>
              <a:rPr lang="en-US" sz="1500" dirty="0">
                <a:solidFill>
                  <a:srgbClr val="FFFFFF"/>
                </a:solidFill>
                <a:latin typeface="Arial" pitchFamily="34" charset="0"/>
                <a:ea typeface="Arial" pitchFamily="34" charset="-122"/>
                <a:cs typeface="Arial" pitchFamily="34" charset="-120"/>
              </a:rPr>
              <a:t>Two out of three hospitals in the model are on pace to write CMS a check, not collect one -- an average of roughly $1,350 back per episode for net-payer hospitals under current spending.</a:t>
            </a:r>
            <a:endParaRPr lang="en-US" sz="1500" dirty="0"/>
          </a:p>
        </p:txBody>
      </p:sp>
      <p:sp>
        <p:nvSpPr>
          <p:cNvPr id="8" name="Text 6"/>
          <p:cNvSpPr/>
          <p:nvPr/>
        </p:nvSpPr>
        <p:spPr>
          <a:xfrm>
            <a:off x="3200400" y="3703320"/>
            <a:ext cx="8412480" cy="1554480"/>
          </a:xfrm>
          <a:prstGeom prst="rect">
            <a:avLst/>
          </a:prstGeom>
          <a:noFill/>
          <a:ln/>
        </p:spPr>
        <p:txBody>
          <a:bodyPr wrap="square" lIns="0" tIns="0" rIns="0" bIns="0" rtlCol="0" anchor="ctr"/>
          <a:lstStyle/>
          <a:p>
            <a:pPr indent="0" marL="0">
              <a:lnSpc>
                <a:spcPct val="140000"/>
              </a:lnSpc>
              <a:buNone/>
            </a:pPr>
            <a:r>
              <a:rPr lang="en-US" sz="1400" dirty="0">
                <a:solidFill>
                  <a:srgbClr val="D3DED0"/>
                </a:solidFill>
                <a:latin typeface="Arial" pitchFamily="34" charset="0"/>
                <a:ea typeface="Arial" pitchFamily="34" charset="-122"/>
                <a:cs typeface="Arial" pitchFamily="34" charset="-120"/>
              </a:rPr>
              <a:t>Here's the part people miss: this year is the easy year. Performance Year 1 caps your downside -- PY2 removes the training wheels. The hospitals ahead of this are building the operating model now, on the year that doesn't hurt yet. Everyone else is about to find out what full risk feels like.</a:t>
            </a:r>
            <a:endParaRPr lang="en-US" sz="1400" dirty="0"/>
          </a:p>
        </p:txBody>
      </p:sp>
      <p:sp>
        <p:nvSpPr>
          <p:cNvPr id="9" name="Text 7"/>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a:t>
            </a:r>
            <a:endParaRPr lang="en-US" sz="1500" dirty="0"/>
          </a:p>
        </p:txBody>
      </p:sp>
      <p:sp>
        <p:nvSpPr>
          <p:cNvPr id="10" name="Text 8"/>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DB29A"/>
                </a:solidFill>
                <a:latin typeface="Arial" pitchFamily="34" charset="0"/>
                <a:ea typeface="Arial" pitchFamily="34" charset="-122"/>
                <a:cs typeface="Arial" pitchFamily="34" charset="-120"/>
              </a:rPr>
              <a:t>Confidential  |  Prepared for TEAM hospital leadership</a:t>
            </a:r>
            <a:endParaRPr lang="en-US" sz="800" dirty="0"/>
          </a:p>
        </p:txBody>
      </p:sp>
      <p:sp>
        <p:nvSpPr>
          <p:cNvPr id="11" name="Text 9"/>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DB29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WHY IT'S HARD</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This isn't a billing</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problem.</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It's a 30-day problem you don't fully control -- and most of it happens after your patient goes home.</a:t>
            </a:r>
            <a:endParaRPr lang="en-US" sz="1300" dirty="0"/>
          </a:p>
        </p:txBody>
      </p:sp>
      <p:sp>
        <p:nvSpPr>
          <p:cNvPr id="6" name="Shape 4"/>
          <p:cNvSpPr/>
          <p:nvPr/>
        </p:nvSpPr>
        <p:spPr>
          <a:xfrm>
            <a:off x="4206240" y="777240"/>
            <a:ext cx="420624" cy="420624"/>
          </a:xfrm>
          <a:prstGeom prst="ellipse">
            <a:avLst/>
          </a:prstGeom>
          <a:solidFill>
            <a:srgbClr val="8FA687"/>
          </a:solidFill>
          <a:ln/>
        </p:spPr>
      </p:sp>
      <p:sp>
        <p:nvSpPr>
          <p:cNvPr id="7" name="Text 5"/>
          <p:cNvSpPr/>
          <p:nvPr/>
        </p:nvSpPr>
        <p:spPr>
          <a:xfrm>
            <a:off x="4206240" y="777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4800600" y="68580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A window bigger than your walls</a:t>
            </a:r>
            <a:endParaRPr lang="en-US" sz="1500" dirty="0"/>
          </a:p>
        </p:txBody>
      </p:sp>
      <p:sp>
        <p:nvSpPr>
          <p:cNvPr id="9" name="Text 7"/>
          <p:cNvSpPr/>
          <p:nvPr/>
        </p:nvSpPr>
        <p:spPr>
          <a:xfrm>
            <a:off x="4800600" y="105156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Accountability runs from admission to 30 days post-discharge. Most of the spend -- and the risk -- shows up after your patient leaves the building.</a:t>
            </a:r>
            <a:endParaRPr lang="en-US" sz="1200" dirty="0"/>
          </a:p>
        </p:txBody>
      </p:sp>
      <p:sp>
        <p:nvSpPr>
          <p:cNvPr id="10" name="Shape 8"/>
          <p:cNvSpPr/>
          <p:nvPr/>
        </p:nvSpPr>
        <p:spPr>
          <a:xfrm>
            <a:off x="4206240" y="1965960"/>
            <a:ext cx="420624" cy="420624"/>
          </a:xfrm>
          <a:prstGeom prst="ellipse">
            <a:avLst/>
          </a:prstGeom>
          <a:solidFill>
            <a:srgbClr val="8FA687"/>
          </a:solidFill>
          <a:ln/>
        </p:spPr>
      </p:sp>
      <p:sp>
        <p:nvSpPr>
          <p:cNvPr id="11" name="Text 9"/>
          <p:cNvSpPr/>
          <p:nvPr/>
        </p:nvSpPr>
        <p:spPr>
          <a:xfrm>
            <a:off x="4206240" y="1965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800600" y="187452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The money lives downstream</a:t>
            </a:r>
            <a:endParaRPr lang="en-US" sz="1500" dirty="0"/>
          </a:p>
        </p:txBody>
      </p:sp>
      <p:sp>
        <p:nvSpPr>
          <p:cNvPr id="13" name="Text 11"/>
          <p:cNvSpPr/>
          <p:nvPr/>
        </p:nvSpPr>
        <p:spPr>
          <a:xfrm>
            <a:off x="4800600" y="224028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Skilled nursing stays, readmissions, home health, and implant costs decide the outcome more than anything in the index stay.</a:t>
            </a:r>
            <a:endParaRPr lang="en-US" sz="1200" dirty="0"/>
          </a:p>
        </p:txBody>
      </p:sp>
      <p:sp>
        <p:nvSpPr>
          <p:cNvPr id="14" name="Shape 12"/>
          <p:cNvSpPr/>
          <p:nvPr/>
        </p:nvSpPr>
        <p:spPr>
          <a:xfrm>
            <a:off x="4206240" y="3154680"/>
            <a:ext cx="420624" cy="420624"/>
          </a:xfrm>
          <a:prstGeom prst="ellipse">
            <a:avLst/>
          </a:prstGeom>
          <a:solidFill>
            <a:srgbClr val="8FA687"/>
          </a:solidFill>
          <a:ln/>
        </p:spPr>
      </p:sp>
      <p:sp>
        <p:nvSpPr>
          <p:cNvPr id="15" name="Text 13"/>
          <p:cNvSpPr/>
          <p:nvPr/>
        </p:nvSpPr>
        <p:spPr>
          <a:xfrm>
            <a:off x="4206240" y="3154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4800600" y="306324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Quality can flip your number</a:t>
            </a:r>
            <a:endParaRPr lang="en-US" sz="1500" dirty="0"/>
          </a:p>
        </p:txBody>
      </p:sp>
      <p:sp>
        <p:nvSpPr>
          <p:cNvPr id="17" name="Text 15"/>
          <p:cNvSpPr/>
          <p:nvPr/>
        </p:nvSpPr>
        <p:spPr>
          <a:xfrm>
            <a:off x="4800600" y="342900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The Composite Quality Score moves your reconciliation up or down. Great clinical care that isn't measured well still costs you money.</a:t>
            </a:r>
            <a:endParaRPr lang="en-US" sz="1200" dirty="0"/>
          </a:p>
        </p:txBody>
      </p:sp>
      <p:sp>
        <p:nvSpPr>
          <p:cNvPr id="18" name="Shape 16"/>
          <p:cNvSpPr/>
          <p:nvPr/>
        </p:nvSpPr>
        <p:spPr>
          <a:xfrm>
            <a:off x="4206240" y="4343400"/>
            <a:ext cx="420624" cy="420624"/>
          </a:xfrm>
          <a:prstGeom prst="ellipse">
            <a:avLst/>
          </a:prstGeom>
          <a:solidFill>
            <a:srgbClr val="8FA687"/>
          </a:solidFill>
          <a:ln/>
        </p:spPr>
      </p:sp>
      <p:sp>
        <p:nvSpPr>
          <p:cNvPr id="19" name="Text 17"/>
          <p:cNvSpPr/>
          <p:nvPr/>
        </p:nvSpPr>
        <p:spPr>
          <a:xfrm>
            <a:off x="4206240" y="4343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4800600" y="425196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Will, but not the bandwidth</a:t>
            </a:r>
            <a:endParaRPr lang="en-US" sz="1500" dirty="0"/>
          </a:p>
        </p:txBody>
      </p:sp>
      <p:sp>
        <p:nvSpPr>
          <p:cNvPr id="21" name="Text 19"/>
          <p:cNvSpPr/>
          <p:nvPr/>
        </p:nvSpPr>
        <p:spPr>
          <a:xfrm>
            <a:off x="4800600" y="461772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Case management and service line leaders want to own this. Few have the analytics or the playbook to do it on top of everything else.</a:t>
            </a:r>
            <a:endParaRPr lang="en-US" sz="1200" dirty="0"/>
          </a:p>
        </p:txBody>
      </p:sp>
      <p:sp>
        <p:nvSpPr>
          <p:cNvPr id="22" name="Text 20"/>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23" name="Text 21"/>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4" name="Text 22"/>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THE GAP</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You've probably already</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been pitched half of this.</a:t>
            </a:r>
            <a:endParaRPr lang="en-US" sz="3000" dirty="0"/>
          </a:p>
        </p:txBody>
      </p:sp>
      <p:sp>
        <p:nvSpPr>
          <p:cNvPr id="5" name="Shape 3"/>
          <p:cNvSpPr/>
          <p:nvPr/>
        </p:nvSpPr>
        <p:spPr>
          <a:xfrm>
            <a:off x="4206240" y="731520"/>
            <a:ext cx="3535528" cy="2651760"/>
          </a:xfrm>
          <a:prstGeom prst="rect">
            <a:avLst/>
          </a:prstGeom>
          <a:solidFill>
            <a:srgbClr val="F2F2F2"/>
          </a:solidFill>
          <a:ln/>
        </p:spPr>
      </p:sp>
      <p:sp>
        <p:nvSpPr>
          <p:cNvPr id="6" name="Shape 4"/>
          <p:cNvSpPr/>
          <p:nvPr/>
        </p:nvSpPr>
        <p:spPr>
          <a:xfrm>
            <a:off x="4526280" y="1051560"/>
            <a:ext cx="420624" cy="420624"/>
          </a:xfrm>
          <a:prstGeom prst="ellipse">
            <a:avLst/>
          </a:prstGeom>
          <a:solidFill>
            <a:srgbClr val="8FA687"/>
          </a:solidFill>
          <a:ln/>
        </p:spPr>
      </p:sp>
      <p:sp>
        <p:nvSpPr>
          <p:cNvPr id="7" name="Text 5"/>
          <p:cNvSpPr/>
          <p:nvPr/>
        </p:nvSpPr>
        <p:spPr>
          <a:xfrm>
            <a:off x="4526280" y="1051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8" name="Text 6"/>
          <p:cNvSpPr/>
          <p:nvPr/>
        </p:nvSpPr>
        <p:spPr>
          <a:xfrm>
            <a:off x="4526280" y="1600200"/>
            <a:ext cx="2895448" cy="54864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The dashboard vendors</a:t>
            </a:r>
            <a:endParaRPr lang="en-US" sz="1600" dirty="0"/>
          </a:p>
        </p:txBody>
      </p:sp>
      <p:sp>
        <p:nvSpPr>
          <p:cNvPr id="9" name="Text 7"/>
          <p:cNvSpPr/>
          <p:nvPr/>
        </p:nvSpPr>
        <p:spPr>
          <a:xfrm>
            <a:off x="4526280" y="2148840"/>
            <a:ext cx="2895448" cy="1097280"/>
          </a:xfrm>
          <a:prstGeom prst="rect">
            <a:avLst/>
          </a:prstGeom>
          <a:noFill/>
          <a:ln/>
        </p:spPr>
        <p:txBody>
          <a:bodyPr wrap="square" lIns="0" tIns="0" rIns="0" bIns="0" rtlCol="0" anchor="ctr"/>
          <a:lstStyle/>
          <a:p>
            <a:pPr indent="0" marL="0">
              <a:lnSpc>
                <a:spcPct val="130000"/>
              </a:lnSpc>
              <a:buNone/>
            </a:pPr>
            <a:r>
              <a:rPr lang="en-US" sz="1200" dirty="0">
                <a:solidFill>
                  <a:srgbClr val="545759"/>
                </a:solidFill>
                <a:latin typeface="Arial" pitchFamily="34" charset="0"/>
                <a:ea typeface="Arial" pitchFamily="34" charset="-122"/>
                <a:cs typeface="Arial" pitchFamily="34" charset="-120"/>
              </a:rPr>
              <a:t>You get a login and a report. Nobody's picking up the phone when a patient lands in a SNF for 18 extra days -- the tool tells you what went wrong after it's too late to fix it.</a:t>
            </a:r>
            <a:endParaRPr lang="en-US" sz="1200" dirty="0"/>
          </a:p>
        </p:txBody>
      </p:sp>
      <p:sp>
        <p:nvSpPr>
          <p:cNvPr id="10" name="Shape 8"/>
          <p:cNvSpPr/>
          <p:nvPr/>
        </p:nvSpPr>
        <p:spPr>
          <a:xfrm>
            <a:off x="8107528" y="731520"/>
            <a:ext cx="3535528" cy="2651760"/>
          </a:xfrm>
          <a:prstGeom prst="rect">
            <a:avLst/>
          </a:prstGeom>
          <a:solidFill>
            <a:srgbClr val="F2F2F2"/>
          </a:solidFill>
          <a:ln/>
        </p:spPr>
      </p:sp>
      <p:sp>
        <p:nvSpPr>
          <p:cNvPr id="11" name="Shape 9"/>
          <p:cNvSpPr/>
          <p:nvPr/>
        </p:nvSpPr>
        <p:spPr>
          <a:xfrm>
            <a:off x="8427568" y="1051560"/>
            <a:ext cx="420624" cy="420624"/>
          </a:xfrm>
          <a:prstGeom prst="ellipse">
            <a:avLst/>
          </a:prstGeom>
          <a:solidFill>
            <a:srgbClr val="8FA687"/>
          </a:solidFill>
          <a:ln/>
        </p:spPr>
      </p:sp>
      <p:sp>
        <p:nvSpPr>
          <p:cNvPr id="12" name="Text 10"/>
          <p:cNvSpPr/>
          <p:nvPr/>
        </p:nvSpPr>
        <p:spPr>
          <a:xfrm>
            <a:off x="8427568" y="1051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B</a:t>
            </a:r>
            <a:endParaRPr lang="en-US" sz="1500" dirty="0"/>
          </a:p>
        </p:txBody>
      </p:sp>
      <p:sp>
        <p:nvSpPr>
          <p:cNvPr id="13" name="Text 11"/>
          <p:cNvSpPr/>
          <p:nvPr/>
        </p:nvSpPr>
        <p:spPr>
          <a:xfrm>
            <a:off x="8427568" y="1600200"/>
            <a:ext cx="2895448" cy="54864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The slide-deck consultants</a:t>
            </a:r>
            <a:endParaRPr lang="en-US" sz="1600" dirty="0"/>
          </a:p>
        </p:txBody>
      </p:sp>
      <p:sp>
        <p:nvSpPr>
          <p:cNvPr id="14" name="Text 12"/>
          <p:cNvSpPr/>
          <p:nvPr/>
        </p:nvSpPr>
        <p:spPr>
          <a:xfrm>
            <a:off x="8427568" y="2148840"/>
            <a:ext cx="2895448" cy="1097280"/>
          </a:xfrm>
          <a:prstGeom prst="rect">
            <a:avLst/>
          </a:prstGeom>
          <a:noFill/>
          <a:ln/>
        </p:spPr>
        <p:txBody>
          <a:bodyPr wrap="square" lIns="0" tIns="0" rIns="0" bIns="0" rtlCol="0" anchor="ctr"/>
          <a:lstStyle/>
          <a:p>
            <a:pPr indent="0" marL="0">
              <a:lnSpc>
                <a:spcPct val="130000"/>
              </a:lnSpc>
              <a:buNone/>
            </a:pPr>
            <a:r>
              <a:rPr lang="en-US" sz="1200" dirty="0">
                <a:solidFill>
                  <a:srgbClr val="545759"/>
                </a:solidFill>
                <a:latin typeface="Arial" pitchFamily="34" charset="0"/>
                <a:ea typeface="Arial" pitchFamily="34" charset="-122"/>
                <a:cs typeface="Arial" pitchFamily="34" charset="-120"/>
              </a:rPr>
              <a:t>Smart people, real frameworks, and a strategy built on numbers they can't actually verify -- because they've never touched the claims data or run the reconciliation math themselves.</a:t>
            </a:r>
            <a:endParaRPr lang="en-US" sz="1200" dirty="0"/>
          </a:p>
        </p:txBody>
      </p:sp>
      <p:sp>
        <p:nvSpPr>
          <p:cNvPr id="15" name="Shape 13"/>
          <p:cNvSpPr/>
          <p:nvPr/>
        </p:nvSpPr>
        <p:spPr>
          <a:xfrm>
            <a:off x="4206240" y="3703320"/>
            <a:ext cx="7436815" cy="914400"/>
          </a:xfrm>
          <a:prstGeom prst="rect">
            <a:avLst/>
          </a:prstGeom>
          <a:solidFill>
            <a:srgbClr val="1E4B3A"/>
          </a:solidFill>
          <a:ln/>
        </p:spPr>
      </p:sp>
      <p:sp>
        <p:nvSpPr>
          <p:cNvPr id="16" name="Text 14"/>
          <p:cNvSpPr/>
          <p:nvPr/>
        </p:nvSpPr>
        <p:spPr>
          <a:xfrm>
            <a:off x="4526280" y="3703320"/>
            <a:ext cx="6796735" cy="914400"/>
          </a:xfrm>
          <a:prstGeom prst="rect">
            <a:avLst/>
          </a:prstGeom>
          <a:noFill/>
          <a:ln/>
        </p:spPr>
        <p:txBody>
          <a:bodyPr wrap="square" lIns="0" tIns="0" rIns="0" bIns="0" rtlCol="0" anchor="ctr"/>
          <a:lstStyle/>
          <a:p>
            <a:pPr indent="0" marL="0">
              <a:lnSpc>
                <a:spcPct val="130000"/>
              </a:lnSpc>
              <a:buNone/>
            </a:pPr>
            <a:r>
              <a:rPr lang="en-US" sz="1350" b="1" dirty="0">
                <a:solidFill>
                  <a:srgbClr val="FFFFFF"/>
                </a:solidFill>
                <a:latin typeface="Arial" pitchFamily="34" charset="0"/>
                <a:ea typeface="Arial" pitchFamily="34" charset="-122"/>
                <a:cs typeface="Arial" pitchFamily="34" charset="-120"/>
              </a:rPr>
              <a:t>What's missing is simple: </a:t>
            </a:r>
            <a:pPr indent="0" marL="0">
              <a:lnSpc>
                <a:spcPct val="130000"/>
              </a:lnSpc>
              <a:buNone/>
            </a:pPr>
            <a:r>
              <a:rPr lang="en-US" sz="1350" dirty="0">
                <a:solidFill>
                  <a:srgbClr val="DCE6D9"/>
                </a:solidFill>
                <a:latin typeface="Arial" pitchFamily="34" charset="0"/>
                <a:ea typeface="Arial" pitchFamily="34" charset="-122"/>
                <a:cs typeface="Arial" pitchFamily="34" charset="-120"/>
              </a:rPr>
              <a:t>analytics good enough to trust, connected to people who actually manage the patient -- under one roof.</a:t>
            </a:r>
            <a:endParaRPr lang="en-US" sz="1350" dirty="0"/>
          </a:p>
        </p:txBody>
      </p:sp>
      <p:sp>
        <p:nvSpPr>
          <p:cNvPr id="17" name="Text 15"/>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18" name="Text 16"/>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19" name="Text 17"/>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YIELD HEALTH</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We built this for TEAM.</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Literally.</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The program purpose-built to run CMS's episode model, patient by patient.</a:t>
            </a:r>
            <a:endParaRPr lang="en-US" sz="1300" dirty="0"/>
          </a:p>
        </p:txBody>
      </p:sp>
      <p:sp>
        <p:nvSpPr>
          <p:cNvPr id="6" name="Text 4"/>
          <p:cNvSpPr/>
          <p:nvPr/>
        </p:nvSpPr>
        <p:spPr>
          <a:xfrm>
            <a:off x="4206240" y="685800"/>
            <a:ext cx="7436815" cy="1143000"/>
          </a:xfrm>
          <a:prstGeom prst="rect">
            <a:avLst/>
          </a:prstGeom>
          <a:noFill/>
          <a:ln/>
        </p:spPr>
        <p:txBody>
          <a:bodyPr wrap="square" lIns="0" tIns="0" rIns="0" bIns="0" rtlCol="0" anchor="ctr"/>
          <a:lstStyle/>
          <a:p>
            <a:pPr indent="0" marL="0">
              <a:lnSpc>
                <a:spcPct val="135000"/>
              </a:lnSpc>
              <a:buNone/>
            </a:pPr>
            <a:r>
              <a:rPr lang="en-US" sz="1450" dirty="0">
                <a:solidFill>
                  <a:srgbClr val="1E4B3A"/>
                </a:solidFill>
                <a:latin typeface="Arial" pitchFamily="34" charset="0"/>
                <a:ea typeface="Arial" pitchFamily="34" charset="-122"/>
                <a:cs typeface="Arial" pitchFamily="34" charset="-120"/>
              </a:rPr>
              <a:t>Yield Health pairs advanced episode analytics with dedicated Care Coordinators who manage your patients through the full 30-day window -- the same model we've run inside BPCI and BPCI Advanced across 25 states, now purpose-built for CMS TEAM.</a:t>
            </a:r>
            <a:endParaRPr lang="en-US" sz="1450" dirty="0"/>
          </a:p>
        </p:txBody>
      </p:sp>
      <p:sp>
        <p:nvSpPr>
          <p:cNvPr id="7" name="Shape 5"/>
          <p:cNvSpPr/>
          <p:nvPr/>
        </p:nvSpPr>
        <p:spPr>
          <a:xfrm>
            <a:off x="4206240" y="2103120"/>
            <a:ext cx="420624" cy="420624"/>
          </a:xfrm>
          <a:prstGeom prst="ellipse">
            <a:avLst/>
          </a:prstGeom>
          <a:solidFill>
            <a:srgbClr val="8FA687"/>
          </a:solidFill>
          <a:ln/>
        </p:spPr>
      </p:sp>
      <p:sp>
        <p:nvSpPr>
          <p:cNvPr id="8" name="Text 6"/>
          <p:cNvSpPr/>
          <p:nvPr/>
        </p:nvSpPr>
        <p:spPr>
          <a:xfrm>
            <a:off x="4206240" y="21031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p:nvPr/>
        </p:nvSpPr>
        <p:spPr>
          <a:xfrm>
            <a:off x="4800600" y="201168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Real-time episode intelligence</a:t>
            </a:r>
            <a:endParaRPr lang="en-US" sz="1500" dirty="0"/>
          </a:p>
        </p:txBody>
      </p:sp>
      <p:sp>
        <p:nvSpPr>
          <p:cNvPr id="10" name="Text 8"/>
          <p:cNvSpPr/>
          <p:nvPr/>
        </p:nvSpPr>
        <p:spPr>
          <a:xfrm>
            <a:off x="4800600" y="237744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We ingest your CMS claims feeds and flag exposure by patient and by episode while there's still time to act -- not after reconciliation closes the book.</a:t>
            </a:r>
            <a:endParaRPr lang="en-US" sz="1200" dirty="0"/>
          </a:p>
        </p:txBody>
      </p:sp>
      <p:sp>
        <p:nvSpPr>
          <p:cNvPr id="11" name="Shape 9"/>
          <p:cNvSpPr/>
          <p:nvPr/>
        </p:nvSpPr>
        <p:spPr>
          <a:xfrm>
            <a:off x="4206240" y="3291840"/>
            <a:ext cx="420624" cy="420624"/>
          </a:xfrm>
          <a:prstGeom prst="ellipse">
            <a:avLst/>
          </a:prstGeom>
          <a:solidFill>
            <a:srgbClr val="8FA687"/>
          </a:solidFill>
          <a:ln/>
        </p:spPr>
      </p:sp>
      <p:sp>
        <p:nvSpPr>
          <p:cNvPr id="12" name="Text 10"/>
          <p:cNvSpPr/>
          <p:nvPr/>
        </p:nvSpPr>
        <p:spPr>
          <a:xfrm>
            <a:off x="4206240" y="32918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p:nvPr/>
        </p:nvSpPr>
        <p:spPr>
          <a:xfrm>
            <a:off x="4800600" y="320040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Care Coordinators on the ground</a:t>
            </a:r>
            <a:endParaRPr lang="en-US" sz="1500" dirty="0"/>
          </a:p>
        </p:txBody>
      </p:sp>
      <p:sp>
        <p:nvSpPr>
          <p:cNvPr id="14" name="Text 12"/>
          <p:cNvSpPr/>
          <p:nvPr/>
        </p:nvSpPr>
        <p:spPr>
          <a:xfrm>
            <a:off x="4800600" y="356616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Navigators manage discharge planning, post-acute placement, and follow-up for every TEAM patient, so the 30 days after discharge get managed, not just measured.</a:t>
            </a:r>
            <a:endParaRPr lang="en-US" sz="1200" dirty="0"/>
          </a:p>
        </p:txBody>
      </p:sp>
      <p:sp>
        <p:nvSpPr>
          <p:cNvPr id="15" name="Shape 13"/>
          <p:cNvSpPr/>
          <p:nvPr/>
        </p:nvSpPr>
        <p:spPr>
          <a:xfrm>
            <a:off x="4206240" y="4480560"/>
            <a:ext cx="420624" cy="420624"/>
          </a:xfrm>
          <a:prstGeom prst="ellipse">
            <a:avLst/>
          </a:prstGeom>
          <a:solidFill>
            <a:srgbClr val="8FA687"/>
          </a:solidFill>
          <a:ln/>
        </p:spPr>
      </p:sp>
      <p:sp>
        <p:nvSpPr>
          <p:cNvPr id="16" name="Text 14"/>
          <p:cNvSpPr/>
          <p:nvPr/>
        </p:nvSpPr>
        <p:spPr>
          <a:xfrm>
            <a:off x="4206240" y="4480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4800600" y="4389120"/>
            <a:ext cx="684245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Built by operators, not observers</a:t>
            </a:r>
            <a:endParaRPr lang="en-US" sz="1500" dirty="0"/>
          </a:p>
        </p:txBody>
      </p:sp>
      <p:sp>
        <p:nvSpPr>
          <p:cNvPr id="18" name="Text 16"/>
          <p:cNvSpPr/>
          <p:nvPr/>
        </p:nvSpPr>
        <p:spPr>
          <a:xfrm>
            <a:off x="4800600" y="4754880"/>
            <a:ext cx="6842455" cy="68580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Our team ran these mechanics from the inside -- target prices, reconciliation math, gainsharing -- before we ever sold an engagement.</a:t>
            </a:r>
            <a:endParaRPr lang="en-US" sz="1200" dirty="0"/>
          </a:p>
        </p:txBody>
      </p:sp>
      <p:sp>
        <p:nvSpPr>
          <p:cNvPr id="19" name="Text 17"/>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20" name="Text 18"/>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1" name="Text 19"/>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THE TRACK RECORD</a:t>
            </a:r>
            <a:endParaRPr lang="en-US" sz="1200" dirty="0"/>
          </a:p>
        </p:txBody>
      </p:sp>
      <p:sp>
        <p:nvSpPr>
          <p:cNvPr id="3" name="Text 1"/>
          <p:cNvSpPr/>
          <p:nvPr/>
        </p:nvSpPr>
        <p:spPr>
          <a:xfrm>
            <a:off x="548640" y="868680"/>
            <a:ext cx="9144000" cy="7315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track record, not the pitch.</a:t>
            </a:r>
            <a:endParaRPr lang="en-US" sz="2800" dirty="0"/>
          </a:p>
        </p:txBody>
      </p:sp>
      <p:sp>
        <p:nvSpPr>
          <p:cNvPr id="4" name="Shape 2"/>
          <p:cNvSpPr/>
          <p:nvPr/>
        </p:nvSpPr>
        <p:spPr>
          <a:xfrm>
            <a:off x="548640" y="1965960"/>
            <a:ext cx="2533574" cy="1828800"/>
          </a:xfrm>
          <a:prstGeom prst="rect">
            <a:avLst/>
          </a:prstGeom>
          <a:solidFill>
            <a:srgbClr val="2C5744"/>
          </a:solidFill>
          <a:ln/>
        </p:spPr>
      </p:sp>
      <p:sp>
        <p:nvSpPr>
          <p:cNvPr id="5" name="Text 3"/>
          <p:cNvSpPr/>
          <p:nvPr/>
        </p:nvSpPr>
        <p:spPr>
          <a:xfrm>
            <a:off x="548640"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$120M+</a:t>
            </a:r>
            <a:endParaRPr lang="en-US" sz="3000" dirty="0"/>
          </a:p>
        </p:txBody>
      </p:sp>
      <p:sp>
        <p:nvSpPr>
          <p:cNvPr id="6" name="Text 4"/>
          <p:cNvSpPr/>
          <p:nvPr/>
        </p:nvSpPr>
        <p:spPr>
          <a:xfrm>
            <a:off x="685800"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in value-based savings generated</a:t>
            </a:r>
            <a:endParaRPr lang="en-US" sz="1100" dirty="0"/>
          </a:p>
        </p:txBody>
      </p:sp>
      <p:sp>
        <p:nvSpPr>
          <p:cNvPr id="7" name="Shape 5"/>
          <p:cNvSpPr/>
          <p:nvPr/>
        </p:nvSpPr>
        <p:spPr>
          <a:xfrm>
            <a:off x="3402254" y="1965960"/>
            <a:ext cx="2533574" cy="1828800"/>
          </a:xfrm>
          <a:prstGeom prst="rect">
            <a:avLst/>
          </a:prstGeom>
          <a:solidFill>
            <a:srgbClr val="2C5744"/>
          </a:solidFill>
          <a:ln/>
        </p:spPr>
      </p:sp>
      <p:sp>
        <p:nvSpPr>
          <p:cNvPr id="8" name="Text 6"/>
          <p:cNvSpPr/>
          <p:nvPr/>
        </p:nvSpPr>
        <p:spPr>
          <a:xfrm>
            <a:off x="3402254"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13.5%+</a:t>
            </a:r>
            <a:endParaRPr lang="en-US" sz="3000" dirty="0"/>
          </a:p>
        </p:txBody>
      </p:sp>
      <p:sp>
        <p:nvSpPr>
          <p:cNvPr id="9" name="Text 7"/>
          <p:cNvSpPr/>
          <p:nvPr/>
        </p:nvSpPr>
        <p:spPr>
          <a:xfrm>
            <a:off x="3539414"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average MLR savings on managed episodes</a:t>
            </a:r>
            <a:endParaRPr lang="en-US" sz="1100" dirty="0"/>
          </a:p>
        </p:txBody>
      </p:sp>
      <p:sp>
        <p:nvSpPr>
          <p:cNvPr id="10" name="Shape 8"/>
          <p:cNvSpPr/>
          <p:nvPr/>
        </p:nvSpPr>
        <p:spPr>
          <a:xfrm>
            <a:off x="6255868" y="1965960"/>
            <a:ext cx="2533574" cy="1828800"/>
          </a:xfrm>
          <a:prstGeom prst="rect">
            <a:avLst/>
          </a:prstGeom>
          <a:solidFill>
            <a:srgbClr val="2C5744"/>
          </a:solidFill>
          <a:ln/>
        </p:spPr>
      </p:sp>
      <p:sp>
        <p:nvSpPr>
          <p:cNvPr id="11" name="Text 9"/>
          <p:cNvSpPr/>
          <p:nvPr/>
        </p:nvSpPr>
        <p:spPr>
          <a:xfrm>
            <a:off x="6255868"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96%+</a:t>
            </a:r>
            <a:endParaRPr lang="en-US" sz="3000" dirty="0"/>
          </a:p>
        </p:txBody>
      </p:sp>
      <p:sp>
        <p:nvSpPr>
          <p:cNvPr id="12" name="Text 10"/>
          <p:cNvSpPr/>
          <p:nvPr/>
        </p:nvSpPr>
        <p:spPr>
          <a:xfrm>
            <a:off x="6393028"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patient engagement rate</a:t>
            </a:r>
            <a:endParaRPr lang="en-US" sz="1100" dirty="0"/>
          </a:p>
        </p:txBody>
      </p:sp>
      <p:sp>
        <p:nvSpPr>
          <p:cNvPr id="13" name="Shape 11"/>
          <p:cNvSpPr/>
          <p:nvPr/>
        </p:nvSpPr>
        <p:spPr>
          <a:xfrm>
            <a:off x="9109481" y="1965960"/>
            <a:ext cx="2533574" cy="1828800"/>
          </a:xfrm>
          <a:prstGeom prst="rect">
            <a:avLst/>
          </a:prstGeom>
          <a:solidFill>
            <a:srgbClr val="2C5744"/>
          </a:solidFill>
          <a:ln/>
        </p:spPr>
      </p:sp>
      <p:sp>
        <p:nvSpPr>
          <p:cNvPr id="14" name="Text 12"/>
          <p:cNvSpPr/>
          <p:nvPr/>
        </p:nvSpPr>
        <p:spPr>
          <a:xfrm>
            <a:off x="9109481" y="2148840"/>
            <a:ext cx="2533574" cy="822960"/>
          </a:xfrm>
          <a:prstGeom prst="rect">
            <a:avLst/>
          </a:prstGeom>
          <a:noFill/>
          <a:ln/>
        </p:spPr>
        <p:txBody>
          <a:bodyPr wrap="square" lIns="0" tIns="0" rIns="0" bIns="0" rtlCol="0" anchor="ctr"/>
          <a:lstStyle/>
          <a:p>
            <a:pPr algn="ctr" indent="0" marL="0">
              <a:buNone/>
            </a:pPr>
            <a:r>
              <a:rPr lang="en-US" sz="3000" b="1" dirty="0">
                <a:solidFill>
                  <a:srgbClr val="8FA687"/>
                </a:solidFill>
                <a:latin typeface="Arial" pitchFamily="34" charset="0"/>
                <a:ea typeface="Arial" pitchFamily="34" charset="-122"/>
                <a:cs typeface="Arial" pitchFamily="34" charset="-120"/>
              </a:rPr>
              <a:t>93%+</a:t>
            </a:r>
            <a:endParaRPr lang="en-US" sz="3000" dirty="0"/>
          </a:p>
        </p:txBody>
      </p:sp>
      <p:sp>
        <p:nvSpPr>
          <p:cNvPr id="15" name="Text 13"/>
          <p:cNvSpPr/>
          <p:nvPr/>
        </p:nvSpPr>
        <p:spPr>
          <a:xfrm>
            <a:off x="9246641" y="2971800"/>
            <a:ext cx="2259254" cy="731520"/>
          </a:xfrm>
          <a:prstGeom prst="rect">
            <a:avLst/>
          </a:prstGeom>
          <a:noFill/>
          <a:ln/>
        </p:spPr>
        <p:txBody>
          <a:bodyPr wrap="square" lIns="0" tIns="0" rIns="0" bIns="0" rtlCol="0" anchor="ctr"/>
          <a:lstStyle/>
          <a:p>
            <a:pPr algn="ctr" indent="0" marL="0">
              <a:lnSpc>
                <a:spcPct val="120000"/>
              </a:lnSpc>
              <a:buNone/>
            </a:pPr>
            <a:r>
              <a:rPr lang="en-US" sz="1100" dirty="0">
                <a:solidFill>
                  <a:srgbClr val="DCE6D9"/>
                </a:solidFill>
                <a:latin typeface="Arial" pitchFamily="34" charset="0"/>
                <a:ea typeface="Arial" pitchFamily="34" charset="-122"/>
                <a:cs typeface="Arial" pitchFamily="34" charset="-120"/>
              </a:rPr>
              <a:t>patient satisfaction</a:t>
            </a:r>
            <a:endParaRPr lang="en-US" sz="1100" dirty="0"/>
          </a:p>
        </p:txBody>
      </p:sp>
      <p:sp>
        <p:nvSpPr>
          <p:cNvPr id="16" name="Text 14"/>
          <p:cNvSpPr/>
          <p:nvPr/>
        </p:nvSpPr>
        <p:spPr>
          <a:xfrm>
            <a:off x="548640" y="4160520"/>
            <a:ext cx="11094415" cy="640080"/>
          </a:xfrm>
          <a:prstGeom prst="rect">
            <a:avLst/>
          </a:prstGeom>
          <a:noFill/>
          <a:ln/>
        </p:spPr>
        <p:txBody>
          <a:bodyPr wrap="square" lIns="0" tIns="0" rIns="0" bIns="0" rtlCol="0" anchor="ctr"/>
          <a:lstStyle/>
          <a:p>
            <a:pPr indent="0" marL="0">
              <a:lnSpc>
                <a:spcPct val="130000"/>
              </a:lnSpc>
              <a:buNone/>
            </a:pPr>
            <a:r>
              <a:rPr lang="en-US" sz="1350" i="1" dirty="0">
                <a:solidFill>
                  <a:srgbClr val="D3DED0"/>
                </a:solidFill>
                <a:latin typeface="Arial" pitchFamily="34" charset="0"/>
                <a:ea typeface="Arial" pitchFamily="34" charset="-122"/>
                <a:cs typeface="Arial" pitchFamily="34" charset="-120"/>
              </a:rPr>
              <a:t>Site-of-care optimization that lowers cost without shifting it -- reduced use of high-cost post-acute settings, with no increase in readmissions.</a:t>
            </a:r>
            <a:endParaRPr lang="en-US" sz="1350" dirty="0"/>
          </a:p>
        </p:txBody>
      </p:sp>
      <p:sp>
        <p:nvSpPr>
          <p:cNvPr id="17" name="Text 15"/>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a:t>
            </a:r>
            <a:endParaRPr lang="en-US" sz="1500" dirty="0"/>
          </a:p>
        </p:txBody>
      </p:sp>
      <p:sp>
        <p:nvSpPr>
          <p:cNvPr id="18" name="Text 16"/>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DB29A"/>
                </a:solidFill>
                <a:latin typeface="Arial" pitchFamily="34" charset="0"/>
                <a:ea typeface="Arial" pitchFamily="34" charset="-122"/>
                <a:cs typeface="Arial" pitchFamily="34" charset="-120"/>
              </a:rPr>
              <a:t>Confidential  |  Prepared for TEAM hospital leadership</a:t>
            </a:r>
            <a:endParaRPr lang="en-US" sz="800" dirty="0"/>
          </a:p>
        </p:txBody>
      </p:sp>
      <p:sp>
        <p:nvSpPr>
          <p:cNvPr id="19" name="Text 17"/>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DB29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HOW WE ENGAGE</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 don't have to buy</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the whole thing on</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day one.</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We start small, prove it on your own data, then scale into the full program.</a:t>
            </a:r>
            <a:endParaRPr lang="en-US" sz="1300" dirty="0"/>
          </a:p>
        </p:txBody>
      </p:sp>
      <p:sp>
        <p:nvSpPr>
          <p:cNvPr id="6" name="Shape 4"/>
          <p:cNvSpPr/>
          <p:nvPr/>
        </p:nvSpPr>
        <p:spPr>
          <a:xfrm>
            <a:off x="4023360" y="777240"/>
            <a:ext cx="7619695" cy="1325880"/>
          </a:xfrm>
          <a:prstGeom prst="rect">
            <a:avLst/>
          </a:prstGeom>
          <a:solidFill>
            <a:srgbClr val="F2F2F2"/>
          </a:solidFill>
          <a:ln/>
        </p:spPr>
      </p:sp>
      <p:sp>
        <p:nvSpPr>
          <p:cNvPr id="7" name="Shape 5"/>
          <p:cNvSpPr/>
          <p:nvPr/>
        </p:nvSpPr>
        <p:spPr>
          <a:xfrm>
            <a:off x="4206240" y="914400"/>
            <a:ext cx="502920" cy="502920"/>
          </a:xfrm>
          <a:prstGeom prst="ellipse">
            <a:avLst/>
          </a:prstGeom>
          <a:solidFill>
            <a:srgbClr val="D4A84C"/>
          </a:solidFill>
          <a:ln/>
        </p:spPr>
      </p:sp>
      <p:sp>
        <p:nvSpPr>
          <p:cNvPr id="8" name="Text 6"/>
          <p:cNvSpPr/>
          <p:nvPr/>
        </p:nvSpPr>
        <p:spPr>
          <a:xfrm>
            <a:off x="4206240" y="914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a:t>
            </a:r>
            <a:endParaRPr lang="en-US" sz="1300" dirty="0"/>
          </a:p>
        </p:txBody>
      </p:sp>
      <p:sp>
        <p:nvSpPr>
          <p:cNvPr id="9" name="Text 7"/>
          <p:cNvSpPr/>
          <p:nvPr/>
        </p:nvSpPr>
        <p:spPr>
          <a:xfrm>
            <a:off x="4892040" y="841248"/>
            <a:ext cx="675101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Position Report</a:t>
            </a:r>
            <a:endParaRPr lang="en-US" sz="1500" dirty="0"/>
          </a:p>
        </p:txBody>
      </p:sp>
      <p:sp>
        <p:nvSpPr>
          <p:cNvPr id="10" name="Text 8"/>
          <p:cNvSpPr/>
          <p:nvPr/>
        </p:nvSpPr>
        <p:spPr>
          <a:xfrm>
            <a:off x="4892040" y="1188720"/>
            <a:ext cx="6751015" cy="82296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Fixed fee. Quantify your net payer/saver position, episode by episode, with a prioritized action list.</a:t>
            </a:r>
            <a:endParaRPr lang="en-US" sz="1200" dirty="0"/>
          </a:p>
        </p:txBody>
      </p:sp>
      <p:sp>
        <p:nvSpPr>
          <p:cNvPr id="11" name="Shape 9"/>
          <p:cNvSpPr/>
          <p:nvPr/>
        </p:nvSpPr>
        <p:spPr>
          <a:xfrm>
            <a:off x="4206240" y="2331720"/>
            <a:ext cx="502920" cy="502920"/>
          </a:xfrm>
          <a:prstGeom prst="ellipse">
            <a:avLst/>
          </a:prstGeom>
          <a:solidFill>
            <a:srgbClr val="8FA687"/>
          </a:solidFill>
          <a:ln/>
        </p:spPr>
      </p:sp>
      <p:sp>
        <p:nvSpPr>
          <p:cNvPr id="12" name="Text 10"/>
          <p:cNvSpPr/>
          <p:nvPr/>
        </p:nvSpPr>
        <p:spPr>
          <a:xfrm>
            <a:off x="4206240" y="23317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1-2</a:t>
            </a:r>
            <a:endParaRPr lang="en-US" sz="1300" dirty="0"/>
          </a:p>
        </p:txBody>
      </p:sp>
      <p:sp>
        <p:nvSpPr>
          <p:cNvPr id="13" name="Text 11"/>
          <p:cNvSpPr/>
          <p:nvPr/>
        </p:nvSpPr>
        <p:spPr>
          <a:xfrm>
            <a:off x="4892040" y="2258568"/>
            <a:ext cx="675101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Strategy &amp; Care Redesign</a:t>
            </a:r>
            <a:endParaRPr lang="en-US" sz="1500" dirty="0"/>
          </a:p>
        </p:txBody>
      </p:sp>
      <p:sp>
        <p:nvSpPr>
          <p:cNvPr id="14" name="Text 12"/>
          <p:cNvSpPr/>
          <p:nvPr/>
        </p:nvSpPr>
        <p:spPr>
          <a:xfrm>
            <a:off x="4892040" y="2606040"/>
            <a:ext cx="6751015" cy="82296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Prioritize episodes, align incentives, redesign post-acute network and discharge pathways. First 90-120 days.</a:t>
            </a:r>
            <a:endParaRPr lang="en-US" sz="1200" dirty="0"/>
          </a:p>
        </p:txBody>
      </p:sp>
      <p:sp>
        <p:nvSpPr>
          <p:cNvPr id="15" name="Shape 13"/>
          <p:cNvSpPr/>
          <p:nvPr/>
        </p:nvSpPr>
        <p:spPr>
          <a:xfrm>
            <a:off x="4206240" y="3749040"/>
            <a:ext cx="502920" cy="502920"/>
          </a:xfrm>
          <a:prstGeom prst="ellipse">
            <a:avLst/>
          </a:prstGeom>
          <a:solidFill>
            <a:srgbClr val="8FA687"/>
          </a:solidFill>
          <a:ln/>
        </p:spPr>
      </p:sp>
      <p:sp>
        <p:nvSpPr>
          <p:cNvPr id="16" name="Text 14"/>
          <p:cNvSpPr/>
          <p:nvPr/>
        </p:nvSpPr>
        <p:spPr>
          <a:xfrm>
            <a:off x="4206240" y="37490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3-4</a:t>
            </a:r>
            <a:endParaRPr lang="en-US" sz="1300" dirty="0"/>
          </a:p>
        </p:txBody>
      </p:sp>
      <p:sp>
        <p:nvSpPr>
          <p:cNvPr id="17" name="Text 15"/>
          <p:cNvSpPr/>
          <p:nvPr/>
        </p:nvSpPr>
        <p:spPr>
          <a:xfrm>
            <a:off x="4892040" y="3675888"/>
            <a:ext cx="6751015" cy="365760"/>
          </a:xfrm>
          <a:prstGeom prst="rect">
            <a:avLst/>
          </a:prstGeom>
          <a:noFill/>
          <a:ln/>
        </p:spPr>
        <p:txBody>
          <a:bodyPr wrap="square" lIns="0" tIns="0" rIns="0" bIns="0" rtlCol="0" anchor="ctr"/>
          <a:lstStyle/>
          <a:p>
            <a:pPr indent="0" marL="0">
              <a:buNone/>
            </a:pPr>
            <a:r>
              <a:rPr lang="en-US" sz="1500" b="1" dirty="0">
                <a:solidFill>
                  <a:srgbClr val="1E4B3A"/>
                </a:solidFill>
                <a:latin typeface="Arial" pitchFamily="34" charset="0"/>
                <a:ea typeface="Arial" pitchFamily="34" charset="-122"/>
                <a:cs typeface="Arial" pitchFamily="34" charset="-120"/>
              </a:rPr>
              <a:t>Yield Health Platform</a:t>
            </a:r>
            <a:endParaRPr lang="en-US" sz="1500" dirty="0"/>
          </a:p>
        </p:txBody>
      </p:sp>
      <p:sp>
        <p:nvSpPr>
          <p:cNvPr id="18" name="Text 16"/>
          <p:cNvSpPr/>
          <p:nvPr/>
        </p:nvSpPr>
        <p:spPr>
          <a:xfrm>
            <a:off x="4892040" y="4023360"/>
            <a:ext cx="6751015" cy="822960"/>
          </a:xfrm>
          <a:prstGeom prst="rect">
            <a:avLst/>
          </a:prstGeom>
          <a:noFill/>
          <a:ln/>
        </p:spPr>
        <p:txBody>
          <a:bodyPr wrap="square" lIns="0" tIns="0" rIns="0" bIns="0" rtlCol="0" anchor="ctr"/>
          <a:lstStyle/>
          <a:p>
            <a:pPr indent="0" marL="0">
              <a:lnSpc>
                <a:spcPct val="125000"/>
              </a:lnSpc>
              <a:buNone/>
            </a:pPr>
            <a:r>
              <a:rPr lang="en-US" sz="1200" dirty="0">
                <a:solidFill>
                  <a:srgbClr val="545759"/>
                </a:solidFill>
                <a:latin typeface="Arial" pitchFamily="34" charset="0"/>
                <a:ea typeface="Arial" pitchFamily="34" charset="-122"/>
                <a:cs typeface="Arial" pitchFamily="34" charset="-120"/>
              </a:rPr>
              <a:t>Care Coordinators and analytics run the model monthly -- track to target price, manage the 30-day window, reconcile, distribute gains. Ongoing, priced against the savings we help you keep.</a:t>
            </a:r>
            <a:endParaRPr lang="en-US" sz="1200" dirty="0"/>
          </a:p>
        </p:txBody>
      </p:sp>
      <p:sp>
        <p:nvSpPr>
          <p:cNvPr id="19" name="Text 17"/>
          <p:cNvSpPr/>
          <p:nvPr/>
        </p:nvSpPr>
        <p:spPr>
          <a:xfrm>
            <a:off x="4206240" y="5989320"/>
            <a:ext cx="7436815" cy="365760"/>
          </a:xfrm>
          <a:prstGeom prst="rect">
            <a:avLst/>
          </a:prstGeom>
          <a:noFill/>
          <a:ln/>
        </p:spPr>
        <p:txBody>
          <a:bodyPr wrap="square" lIns="0" tIns="0" rIns="0" bIns="0" rtlCol="0" anchor="ctr"/>
          <a:lstStyle/>
          <a:p>
            <a:pPr indent="0" marL="0">
              <a:buNone/>
            </a:pPr>
            <a:r>
              <a:rPr lang="en-US" sz="1200" b="1" i="1" dirty="0">
                <a:solidFill>
                  <a:srgbClr val="1E4B3A"/>
                </a:solidFill>
                <a:latin typeface="Arial" pitchFamily="34" charset="0"/>
                <a:ea typeface="Arial" pitchFamily="34" charset="-122"/>
                <a:cs typeface="Arial" pitchFamily="34" charset="-120"/>
              </a:rPr>
              <a:t>One phone call to start. No platform purchase required to find out where you stand.</a:t>
            </a:r>
            <a:endParaRPr lang="en-US" sz="1200" dirty="0"/>
          </a:p>
        </p:txBody>
      </p:sp>
      <p:sp>
        <p:nvSpPr>
          <p:cNvPr id="20" name="Text 18"/>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21" name="Text 19"/>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2" name="Text 20"/>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WHERE IT STARTS</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In four to six weeks,</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you'll know exactly</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where you stand.</a:t>
            </a:r>
            <a:endParaRPr lang="en-US" sz="3000" dirty="0"/>
          </a:p>
        </p:txBody>
      </p:sp>
      <p:sp>
        <p:nvSpPr>
          <p:cNvPr id="5" name="Text 3"/>
          <p:cNvSpPr/>
          <p:nvPr/>
        </p:nvSpPr>
        <p:spPr>
          <a:xfrm>
            <a:off x="4206240" y="685800"/>
            <a:ext cx="7436815" cy="868680"/>
          </a:xfrm>
          <a:prstGeom prst="rect">
            <a:avLst/>
          </a:prstGeom>
          <a:noFill/>
          <a:ln/>
        </p:spPr>
        <p:txBody>
          <a:bodyPr wrap="square" lIns="0" tIns="0" rIns="0" bIns="0" rtlCol="0" anchor="ctr"/>
          <a:lstStyle/>
          <a:p>
            <a:pPr indent="0" marL="0">
              <a:lnSpc>
                <a:spcPct val="130000"/>
              </a:lnSpc>
              <a:buNone/>
            </a:pPr>
            <a:r>
              <a:rPr lang="en-US" sz="1450" dirty="0">
                <a:solidFill>
                  <a:srgbClr val="1E4B3A"/>
                </a:solidFill>
                <a:latin typeface="Arial" pitchFamily="34" charset="0"/>
                <a:ea typeface="Arial" pitchFamily="34" charset="-122"/>
                <a:cs typeface="Arial" pitchFamily="34" charset="-120"/>
              </a:rPr>
              <a:t>The engagement opens with the Position Report -- a fixed fee, fixed timeline diagnostic. No multi-year commitment required to get a straight answer.</a:t>
            </a:r>
            <a:endParaRPr lang="en-US" sz="1450" dirty="0"/>
          </a:p>
        </p:txBody>
      </p:sp>
      <p:sp>
        <p:nvSpPr>
          <p:cNvPr id="6" name="Text 4"/>
          <p:cNvSpPr/>
          <p:nvPr/>
        </p:nvSpPr>
        <p:spPr>
          <a:xfrm>
            <a:off x="4206240" y="1691640"/>
            <a:ext cx="3867144" cy="2011680"/>
          </a:xfrm>
          <a:prstGeom prst="rect">
            <a:avLst/>
          </a:prstGeom>
          <a:noFill/>
          <a:ln/>
        </p:spPr>
        <p:txBody>
          <a:bodyPr wrap="square" lIns="0" tIns="0" rIns="0" bIns="0" rtlCol="0" anchor="ctr"/>
          <a:lstStyle/>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Your projected net payer / saver status</a:t>
            </a:r>
            <a:endParaRPr lang="en-US" sz="1300" dirty="0"/>
          </a:p>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Exposure broken down by episode type</a:t>
            </a:r>
            <a:endParaRPr lang="en-US" sz="1300" dirty="0"/>
          </a:p>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The specific cost drivers behind the gap</a:t>
            </a:r>
            <a:endParaRPr lang="en-US" sz="1300" dirty="0"/>
          </a:p>
          <a:p>
            <a:pPr marL="342900" indent="-342900">
              <a:lnSpc>
                <a:spcPct val="135000"/>
              </a:lnSpc>
              <a:spcAft>
                <a:spcPts val="1000"/>
              </a:spcAft>
              <a:buSzPct val="100000"/>
              <a:buChar char="✦"/>
            </a:pPr>
            <a:r>
              <a:rPr lang="en-US" sz="1300" dirty="0">
                <a:solidFill>
                  <a:srgbClr val="1E4B3A"/>
                </a:solidFill>
                <a:latin typeface="Arial" pitchFamily="34" charset="0"/>
                <a:ea typeface="Arial" pitchFamily="34" charset="-122"/>
                <a:cs typeface="Arial" pitchFamily="34" charset="-120"/>
              </a:rPr>
              <a:t>A prioritized, dollar-sized action list your service lines can start on immediately</a:t>
            </a:r>
            <a:endParaRPr lang="en-US" sz="1300" dirty="0"/>
          </a:p>
        </p:txBody>
      </p:sp>
      <p:sp>
        <p:nvSpPr>
          <p:cNvPr id="7" name="Shape 5"/>
          <p:cNvSpPr/>
          <p:nvPr/>
        </p:nvSpPr>
        <p:spPr>
          <a:xfrm>
            <a:off x="8370857" y="1691640"/>
            <a:ext cx="3272199" cy="2743200"/>
          </a:xfrm>
          <a:prstGeom prst="rect">
            <a:avLst/>
          </a:prstGeom>
          <a:solidFill>
            <a:srgbClr val="F2F2F2"/>
          </a:solidFill>
          <a:ln/>
        </p:spPr>
      </p:sp>
      <p:sp>
        <p:nvSpPr>
          <p:cNvPr id="8" name="Text 6"/>
          <p:cNvSpPr/>
          <p:nvPr/>
        </p:nvSpPr>
        <p:spPr>
          <a:xfrm>
            <a:off x="8599457" y="1828800"/>
            <a:ext cx="2814999" cy="274320"/>
          </a:xfrm>
          <a:prstGeom prst="rect">
            <a:avLst/>
          </a:prstGeom>
          <a:noFill/>
          <a:ln/>
        </p:spPr>
        <p:txBody>
          <a:bodyPr wrap="square" lIns="0" tIns="0" rIns="0" bIns="0" rtlCol="0" anchor="ctr"/>
          <a:lstStyle/>
          <a:p>
            <a:pPr indent="0" marL="0">
              <a:buNone/>
            </a:pPr>
            <a:r>
              <a:rPr lang="en-US" sz="950" b="1" spc="50" kern="0" dirty="0">
                <a:solidFill>
                  <a:srgbClr val="545759"/>
                </a:solidFill>
                <a:latin typeface="Arial" pitchFamily="34" charset="0"/>
                <a:ea typeface="Arial" pitchFamily="34" charset="-122"/>
                <a:cs typeface="Arial" pitchFamily="34" charset="-120"/>
              </a:rPr>
              <a:t>SAMPLE -- EXPOSURE BY EPISODE ($K)</a:t>
            </a:r>
            <a:endParaRPr lang="en-US" sz="950" dirty="0"/>
          </a:p>
        </p:txBody>
      </p:sp>
      <p:sp>
        <p:nvSpPr>
          <p:cNvPr id="9" name="Text 7"/>
          <p:cNvSpPr/>
          <p:nvPr/>
        </p:nvSpPr>
        <p:spPr>
          <a:xfrm>
            <a:off x="8599457" y="2240280"/>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Joint repl.</a:t>
            </a:r>
            <a:endParaRPr lang="en-US" sz="900" dirty="0"/>
          </a:p>
        </p:txBody>
      </p:sp>
      <p:sp>
        <p:nvSpPr>
          <p:cNvPr id="10" name="Shape 8"/>
          <p:cNvSpPr/>
          <p:nvPr/>
        </p:nvSpPr>
        <p:spPr>
          <a:xfrm>
            <a:off x="9833897" y="2267712"/>
            <a:ext cx="894453" cy="237744"/>
          </a:xfrm>
          <a:prstGeom prst="rect">
            <a:avLst/>
          </a:prstGeom>
          <a:solidFill>
            <a:srgbClr val="D4A84C"/>
          </a:solidFill>
          <a:ln/>
        </p:spPr>
      </p:sp>
      <p:sp>
        <p:nvSpPr>
          <p:cNvPr id="11" name="Text 9"/>
          <p:cNvSpPr/>
          <p:nvPr/>
        </p:nvSpPr>
        <p:spPr>
          <a:xfrm>
            <a:off x="8599457" y="2660904"/>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Hip/femur</a:t>
            </a:r>
            <a:endParaRPr lang="en-US" sz="900" dirty="0"/>
          </a:p>
        </p:txBody>
      </p:sp>
      <p:sp>
        <p:nvSpPr>
          <p:cNvPr id="12" name="Shape 10"/>
          <p:cNvSpPr/>
          <p:nvPr/>
        </p:nvSpPr>
        <p:spPr>
          <a:xfrm>
            <a:off x="9833897" y="2688336"/>
            <a:ext cx="569198" cy="237744"/>
          </a:xfrm>
          <a:prstGeom prst="rect">
            <a:avLst/>
          </a:prstGeom>
          <a:solidFill>
            <a:srgbClr val="D4A84C"/>
          </a:solidFill>
          <a:ln/>
        </p:spPr>
      </p:sp>
      <p:sp>
        <p:nvSpPr>
          <p:cNvPr id="13" name="Text 11"/>
          <p:cNvSpPr/>
          <p:nvPr/>
        </p:nvSpPr>
        <p:spPr>
          <a:xfrm>
            <a:off x="8599457" y="3081528"/>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Spinal fusion</a:t>
            </a:r>
            <a:endParaRPr lang="en-US" sz="900" dirty="0"/>
          </a:p>
        </p:txBody>
      </p:sp>
      <p:sp>
        <p:nvSpPr>
          <p:cNvPr id="14" name="Shape 12"/>
          <p:cNvSpPr/>
          <p:nvPr/>
        </p:nvSpPr>
        <p:spPr>
          <a:xfrm>
            <a:off x="9833897" y="3108960"/>
            <a:ext cx="325256" cy="237744"/>
          </a:xfrm>
          <a:prstGeom prst="rect">
            <a:avLst/>
          </a:prstGeom>
          <a:solidFill>
            <a:srgbClr val="8FA687"/>
          </a:solidFill>
          <a:ln/>
        </p:spPr>
      </p:sp>
      <p:sp>
        <p:nvSpPr>
          <p:cNvPr id="15" name="Text 13"/>
          <p:cNvSpPr/>
          <p:nvPr/>
        </p:nvSpPr>
        <p:spPr>
          <a:xfrm>
            <a:off x="8599457" y="3502152"/>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CABG</a:t>
            </a:r>
            <a:endParaRPr lang="en-US" sz="900" dirty="0"/>
          </a:p>
        </p:txBody>
      </p:sp>
      <p:sp>
        <p:nvSpPr>
          <p:cNvPr id="16" name="Shape 14"/>
          <p:cNvSpPr/>
          <p:nvPr/>
        </p:nvSpPr>
        <p:spPr>
          <a:xfrm>
            <a:off x="9589955" y="3529584"/>
            <a:ext cx="243942" cy="237744"/>
          </a:xfrm>
          <a:prstGeom prst="rect">
            <a:avLst/>
          </a:prstGeom>
          <a:solidFill>
            <a:srgbClr val="8FA687"/>
          </a:solidFill>
          <a:ln/>
        </p:spPr>
      </p:sp>
      <p:sp>
        <p:nvSpPr>
          <p:cNvPr id="17" name="Text 15"/>
          <p:cNvSpPr/>
          <p:nvPr/>
        </p:nvSpPr>
        <p:spPr>
          <a:xfrm>
            <a:off x="8599457" y="3922776"/>
            <a:ext cx="1234440" cy="292608"/>
          </a:xfrm>
          <a:prstGeom prst="rect">
            <a:avLst/>
          </a:prstGeom>
          <a:noFill/>
          <a:ln/>
        </p:spPr>
        <p:txBody>
          <a:bodyPr wrap="square" lIns="0" tIns="0" rIns="0" bIns="0" rtlCol="0" anchor="ctr"/>
          <a:lstStyle/>
          <a:p>
            <a:pPr indent="0" marL="0">
              <a:buNone/>
            </a:pPr>
            <a:r>
              <a:rPr lang="en-US" sz="900" dirty="0">
                <a:solidFill>
                  <a:srgbClr val="1E4B3A"/>
                </a:solidFill>
                <a:latin typeface="Arial" pitchFamily="34" charset="0"/>
                <a:ea typeface="Arial" pitchFamily="34" charset="-122"/>
                <a:cs typeface="Arial" pitchFamily="34" charset="-120"/>
              </a:rPr>
              <a:t>Major bowel</a:t>
            </a:r>
            <a:endParaRPr lang="en-US" sz="900" dirty="0"/>
          </a:p>
        </p:txBody>
      </p:sp>
      <p:sp>
        <p:nvSpPr>
          <p:cNvPr id="18" name="Shape 16"/>
          <p:cNvSpPr/>
          <p:nvPr/>
        </p:nvSpPr>
        <p:spPr>
          <a:xfrm>
            <a:off x="9346013" y="3950208"/>
            <a:ext cx="487884" cy="237744"/>
          </a:xfrm>
          <a:prstGeom prst="rect">
            <a:avLst/>
          </a:prstGeom>
          <a:solidFill>
            <a:srgbClr val="8FA687"/>
          </a:solidFill>
          <a:ln/>
        </p:spPr>
      </p:sp>
      <p:sp>
        <p:nvSpPr>
          <p:cNvPr id="19" name="Text 17"/>
          <p:cNvSpPr/>
          <p:nvPr/>
        </p:nvSpPr>
        <p:spPr>
          <a:xfrm>
            <a:off x="8599457" y="4160520"/>
            <a:ext cx="2814999" cy="457200"/>
          </a:xfrm>
          <a:prstGeom prst="rect">
            <a:avLst/>
          </a:prstGeom>
          <a:noFill/>
          <a:ln/>
        </p:spPr>
        <p:txBody>
          <a:bodyPr wrap="square" lIns="0" tIns="0" rIns="0" bIns="0" rtlCol="0" anchor="ctr"/>
          <a:lstStyle/>
          <a:p>
            <a:pPr indent="0" marL="0">
              <a:lnSpc>
                <a:spcPct val="120000"/>
              </a:lnSpc>
              <a:buNone/>
            </a:pPr>
            <a:r>
              <a:rPr lang="en-US" sz="1050" b="1" dirty="0">
                <a:solidFill>
                  <a:srgbClr val="1E4B3A"/>
                </a:solidFill>
                <a:latin typeface="Arial" pitchFamily="34" charset="0"/>
                <a:ea typeface="Arial" pitchFamily="34" charset="-122"/>
                <a:cs typeface="Arial" pitchFamily="34" charset="-120"/>
              </a:rPr>
              <a:t>Net position: -$420K exposure  -&gt;  +$720K swing identified</a:t>
            </a:r>
            <a:endParaRPr lang="en-US" sz="1050" dirty="0"/>
          </a:p>
        </p:txBody>
      </p:sp>
      <p:sp>
        <p:nvSpPr>
          <p:cNvPr id="20" name="Text 18"/>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21" name="Text 19"/>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22" name="Text 20"/>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WHAT WE MOVE</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Seven levers decide</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your number.</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We manage all seven -- not just the ones a dashboard can flag.</a:t>
            </a:r>
            <a:endParaRPr lang="en-US" sz="1300" dirty="0"/>
          </a:p>
        </p:txBody>
      </p:sp>
      <p:sp>
        <p:nvSpPr>
          <p:cNvPr id="6" name="Shape 4"/>
          <p:cNvSpPr/>
          <p:nvPr/>
        </p:nvSpPr>
        <p:spPr>
          <a:xfrm>
            <a:off x="4206240" y="777240"/>
            <a:ext cx="365760" cy="365760"/>
          </a:xfrm>
          <a:prstGeom prst="ellipse">
            <a:avLst/>
          </a:prstGeom>
          <a:solidFill>
            <a:srgbClr val="8FA687"/>
          </a:solidFill>
          <a:ln/>
        </p:spPr>
      </p:sp>
      <p:sp>
        <p:nvSpPr>
          <p:cNvPr id="7" name="Text 5"/>
          <p:cNvSpPr/>
          <p:nvPr/>
        </p:nvSpPr>
        <p:spPr>
          <a:xfrm>
            <a:off x="4206240" y="7772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4709160" y="70408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Post-acute (SNF) use</a:t>
            </a:r>
            <a:endParaRPr lang="en-US" sz="1350" dirty="0"/>
          </a:p>
        </p:txBody>
      </p:sp>
      <p:sp>
        <p:nvSpPr>
          <p:cNvPr id="9" name="Text 7"/>
          <p:cNvSpPr/>
          <p:nvPr/>
        </p:nvSpPr>
        <p:spPr>
          <a:xfrm>
            <a:off x="4709160" y="100584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The largest discretionary swing</a:t>
            </a:r>
            <a:endParaRPr lang="en-US" sz="1100" dirty="0"/>
          </a:p>
        </p:txBody>
      </p:sp>
      <p:sp>
        <p:nvSpPr>
          <p:cNvPr id="10" name="Shape 8"/>
          <p:cNvSpPr/>
          <p:nvPr/>
        </p:nvSpPr>
        <p:spPr>
          <a:xfrm>
            <a:off x="8084668" y="777240"/>
            <a:ext cx="365760" cy="365760"/>
          </a:xfrm>
          <a:prstGeom prst="ellipse">
            <a:avLst/>
          </a:prstGeom>
          <a:solidFill>
            <a:srgbClr val="8FA687"/>
          </a:solidFill>
          <a:ln/>
        </p:spPr>
      </p:sp>
      <p:sp>
        <p:nvSpPr>
          <p:cNvPr id="11" name="Text 9"/>
          <p:cNvSpPr/>
          <p:nvPr/>
        </p:nvSpPr>
        <p:spPr>
          <a:xfrm>
            <a:off x="8084668" y="7772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8587588" y="70408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30-day readmissions</a:t>
            </a:r>
            <a:endParaRPr lang="en-US" sz="1350" dirty="0"/>
          </a:p>
        </p:txBody>
      </p:sp>
      <p:sp>
        <p:nvSpPr>
          <p:cNvPr id="13" name="Text 11"/>
          <p:cNvSpPr/>
          <p:nvPr/>
        </p:nvSpPr>
        <p:spPr>
          <a:xfrm>
            <a:off x="8587588" y="100584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Hits spend and quality at once</a:t>
            </a:r>
            <a:endParaRPr lang="en-US" sz="1100" dirty="0"/>
          </a:p>
        </p:txBody>
      </p:sp>
      <p:sp>
        <p:nvSpPr>
          <p:cNvPr id="14" name="Shape 12"/>
          <p:cNvSpPr/>
          <p:nvPr/>
        </p:nvSpPr>
        <p:spPr>
          <a:xfrm>
            <a:off x="4206240" y="1965960"/>
            <a:ext cx="365760" cy="365760"/>
          </a:xfrm>
          <a:prstGeom prst="ellipse">
            <a:avLst/>
          </a:prstGeom>
          <a:solidFill>
            <a:srgbClr val="8FA687"/>
          </a:solidFill>
          <a:ln/>
        </p:spPr>
      </p:sp>
      <p:sp>
        <p:nvSpPr>
          <p:cNvPr id="15" name="Text 13"/>
          <p:cNvSpPr/>
          <p:nvPr/>
        </p:nvSpPr>
        <p:spPr>
          <a:xfrm>
            <a:off x="4206240"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4709160" y="189280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Index length of stay</a:t>
            </a:r>
            <a:endParaRPr lang="en-US" sz="1350" dirty="0"/>
          </a:p>
        </p:txBody>
      </p:sp>
      <p:sp>
        <p:nvSpPr>
          <p:cNvPr id="17" name="Text 15"/>
          <p:cNvSpPr/>
          <p:nvPr/>
        </p:nvSpPr>
        <p:spPr>
          <a:xfrm>
            <a:off x="4709160" y="219456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Cost and pathway discipline</a:t>
            </a:r>
            <a:endParaRPr lang="en-US" sz="1100" dirty="0"/>
          </a:p>
        </p:txBody>
      </p:sp>
      <p:sp>
        <p:nvSpPr>
          <p:cNvPr id="18" name="Shape 16"/>
          <p:cNvSpPr/>
          <p:nvPr/>
        </p:nvSpPr>
        <p:spPr>
          <a:xfrm>
            <a:off x="8084668" y="1965960"/>
            <a:ext cx="365760" cy="365760"/>
          </a:xfrm>
          <a:prstGeom prst="ellipse">
            <a:avLst/>
          </a:prstGeom>
          <a:solidFill>
            <a:srgbClr val="8FA687"/>
          </a:solidFill>
          <a:ln/>
        </p:spPr>
      </p:sp>
      <p:sp>
        <p:nvSpPr>
          <p:cNvPr id="19" name="Text 17"/>
          <p:cNvSpPr/>
          <p:nvPr/>
        </p:nvSpPr>
        <p:spPr>
          <a:xfrm>
            <a:off x="8084668" y="19659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8587588" y="189280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Implant &amp; device cost</a:t>
            </a:r>
            <a:endParaRPr lang="en-US" sz="1350" dirty="0"/>
          </a:p>
        </p:txBody>
      </p:sp>
      <p:sp>
        <p:nvSpPr>
          <p:cNvPr id="21" name="Text 19"/>
          <p:cNvSpPr/>
          <p:nvPr/>
        </p:nvSpPr>
        <p:spPr>
          <a:xfrm>
            <a:off x="8587588" y="219456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Negotiable, physician-led</a:t>
            </a:r>
            <a:endParaRPr lang="en-US" sz="1100" dirty="0"/>
          </a:p>
        </p:txBody>
      </p:sp>
      <p:sp>
        <p:nvSpPr>
          <p:cNvPr id="22" name="Shape 20"/>
          <p:cNvSpPr/>
          <p:nvPr/>
        </p:nvSpPr>
        <p:spPr>
          <a:xfrm>
            <a:off x="4206240" y="3154680"/>
            <a:ext cx="365760" cy="365760"/>
          </a:xfrm>
          <a:prstGeom prst="ellipse">
            <a:avLst/>
          </a:prstGeom>
          <a:solidFill>
            <a:srgbClr val="8FA687"/>
          </a:solidFill>
          <a:ln/>
        </p:spPr>
      </p:sp>
      <p:sp>
        <p:nvSpPr>
          <p:cNvPr id="23" name="Text 21"/>
          <p:cNvSpPr/>
          <p:nvPr/>
        </p:nvSpPr>
        <p:spPr>
          <a:xfrm>
            <a:off x="4206240" y="3154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4709160" y="308152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Care transitions</a:t>
            </a:r>
            <a:endParaRPr lang="en-US" sz="1350" dirty="0"/>
          </a:p>
        </p:txBody>
      </p:sp>
      <p:sp>
        <p:nvSpPr>
          <p:cNvPr id="25" name="Text 23"/>
          <p:cNvSpPr/>
          <p:nvPr/>
        </p:nvSpPr>
        <p:spPr>
          <a:xfrm>
            <a:off x="4709160" y="338328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Home-first vs. institutional</a:t>
            </a:r>
            <a:endParaRPr lang="en-US" sz="1100" dirty="0"/>
          </a:p>
        </p:txBody>
      </p:sp>
      <p:sp>
        <p:nvSpPr>
          <p:cNvPr id="26" name="Shape 24"/>
          <p:cNvSpPr/>
          <p:nvPr/>
        </p:nvSpPr>
        <p:spPr>
          <a:xfrm>
            <a:off x="8084668" y="3154680"/>
            <a:ext cx="365760" cy="365760"/>
          </a:xfrm>
          <a:prstGeom prst="ellipse">
            <a:avLst/>
          </a:prstGeom>
          <a:solidFill>
            <a:srgbClr val="8FA687"/>
          </a:solidFill>
          <a:ln/>
        </p:spPr>
      </p:sp>
      <p:sp>
        <p:nvSpPr>
          <p:cNvPr id="27" name="Text 25"/>
          <p:cNvSpPr/>
          <p:nvPr/>
        </p:nvSpPr>
        <p:spPr>
          <a:xfrm>
            <a:off x="8084668" y="31546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8" name="Text 26"/>
          <p:cNvSpPr/>
          <p:nvPr/>
        </p:nvSpPr>
        <p:spPr>
          <a:xfrm>
            <a:off x="8587588" y="308152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Composite Quality Score</a:t>
            </a:r>
            <a:endParaRPr lang="en-US" sz="1350" dirty="0"/>
          </a:p>
        </p:txBody>
      </p:sp>
      <p:sp>
        <p:nvSpPr>
          <p:cNvPr id="29" name="Text 27"/>
          <p:cNvSpPr/>
          <p:nvPr/>
        </p:nvSpPr>
        <p:spPr>
          <a:xfrm>
            <a:off x="8587588" y="338328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Adjusts the dollars up or down</a:t>
            </a:r>
            <a:endParaRPr lang="en-US" sz="1100" dirty="0"/>
          </a:p>
        </p:txBody>
      </p:sp>
      <p:sp>
        <p:nvSpPr>
          <p:cNvPr id="30" name="Shape 28"/>
          <p:cNvSpPr/>
          <p:nvPr/>
        </p:nvSpPr>
        <p:spPr>
          <a:xfrm>
            <a:off x="4206240" y="4343400"/>
            <a:ext cx="365760" cy="365760"/>
          </a:xfrm>
          <a:prstGeom prst="ellipse">
            <a:avLst/>
          </a:prstGeom>
          <a:solidFill>
            <a:srgbClr val="8FA687"/>
          </a:solidFill>
          <a:ln/>
        </p:spPr>
      </p:sp>
      <p:sp>
        <p:nvSpPr>
          <p:cNvPr id="31" name="Text 29"/>
          <p:cNvSpPr/>
          <p:nvPr/>
        </p:nvSpPr>
        <p:spPr>
          <a:xfrm>
            <a:off x="4206240" y="43434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32" name="Text 30"/>
          <p:cNvSpPr/>
          <p:nvPr/>
        </p:nvSpPr>
        <p:spPr>
          <a:xfrm>
            <a:off x="4709160" y="4270248"/>
            <a:ext cx="3055468" cy="320040"/>
          </a:xfrm>
          <a:prstGeom prst="rect">
            <a:avLst/>
          </a:prstGeom>
          <a:noFill/>
          <a:ln/>
        </p:spPr>
        <p:txBody>
          <a:bodyPr wrap="square" lIns="0" tIns="0" rIns="0" bIns="0" rtlCol="0" anchor="ctr"/>
          <a:lstStyle/>
          <a:p>
            <a:pPr indent="0" marL="0">
              <a:buNone/>
            </a:pPr>
            <a:r>
              <a:rPr lang="en-US" sz="1350" b="1" dirty="0">
                <a:solidFill>
                  <a:srgbClr val="1E4B3A"/>
                </a:solidFill>
                <a:latin typeface="Arial" pitchFamily="34" charset="0"/>
                <a:ea typeface="Arial" pitchFamily="34" charset="-122"/>
                <a:cs typeface="Arial" pitchFamily="34" charset="-120"/>
              </a:rPr>
              <a:t>Gainsharing alignment</a:t>
            </a:r>
            <a:endParaRPr lang="en-US" sz="1350" dirty="0"/>
          </a:p>
        </p:txBody>
      </p:sp>
      <p:sp>
        <p:nvSpPr>
          <p:cNvPr id="33" name="Text 31"/>
          <p:cNvSpPr/>
          <p:nvPr/>
        </p:nvSpPr>
        <p:spPr>
          <a:xfrm>
            <a:off x="4709160" y="4572000"/>
            <a:ext cx="3055468" cy="320040"/>
          </a:xfrm>
          <a:prstGeom prst="rect">
            <a:avLst/>
          </a:prstGeom>
          <a:noFill/>
          <a:ln/>
        </p:spPr>
        <p:txBody>
          <a:bodyPr wrap="square" lIns="0" tIns="0" rIns="0" bIns="0" rtlCol="0" anchor="ctr"/>
          <a:lstStyle/>
          <a:p>
            <a:pPr indent="0" marL="0">
              <a:buNone/>
            </a:pPr>
            <a:r>
              <a:rPr lang="en-US" sz="1100" dirty="0">
                <a:solidFill>
                  <a:srgbClr val="545759"/>
                </a:solidFill>
                <a:latin typeface="Arial" pitchFamily="34" charset="0"/>
                <a:ea typeface="Arial" pitchFamily="34" charset="-122"/>
                <a:cs typeface="Arial" pitchFamily="34" charset="-120"/>
              </a:rPr>
              <a:t>What actually changes behavior</a:t>
            </a:r>
            <a:endParaRPr lang="en-US" sz="1100" dirty="0"/>
          </a:p>
        </p:txBody>
      </p:sp>
      <p:sp>
        <p:nvSpPr>
          <p:cNvPr id="34" name="Text 32"/>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35" name="Text 33"/>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36" name="Text 34"/>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WHY US</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Why hospitals pick</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us over the</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alternatives.</a:t>
            </a:r>
            <a:endParaRPr lang="en-US" sz="3000" dirty="0"/>
          </a:p>
        </p:txBody>
      </p:sp>
      <p:sp>
        <p:nvSpPr>
          <p:cNvPr id="5" name="Shape 3"/>
          <p:cNvSpPr/>
          <p:nvPr/>
        </p:nvSpPr>
        <p:spPr>
          <a:xfrm>
            <a:off x="4206240" y="822960"/>
            <a:ext cx="420624" cy="420624"/>
          </a:xfrm>
          <a:prstGeom prst="ellipse">
            <a:avLst/>
          </a:prstGeom>
          <a:solidFill>
            <a:srgbClr val="8FA687"/>
          </a:solidFill>
          <a:ln/>
        </p:spPr>
      </p:sp>
      <p:sp>
        <p:nvSpPr>
          <p:cNvPr id="6" name="Text 4"/>
          <p:cNvSpPr/>
          <p:nvPr/>
        </p:nvSpPr>
        <p:spPr>
          <a:xfrm>
            <a:off x="4206240" y="822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4800600" y="731520"/>
            <a:ext cx="6842455" cy="36576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Operator's depth</a:t>
            </a:r>
            <a:endParaRPr lang="en-US" sz="1600" dirty="0"/>
          </a:p>
        </p:txBody>
      </p:sp>
      <p:sp>
        <p:nvSpPr>
          <p:cNvPr id="8" name="Text 6"/>
          <p:cNvSpPr/>
          <p:nvPr/>
        </p:nvSpPr>
        <p:spPr>
          <a:xfrm>
            <a:off x="4800600" y="1124712"/>
            <a:ext cx="6842455" cy="914400"/>
          </a:xfrm>
          <a:prstGeom prst="rect">
            <a:avLst/>
          </a:prstGeom>
          <a:noFill/>
          <a:ln/>
        </p:spPr>
        <p:txBody>
          <a:bodyPr wrap="square" lIns="0" tIns="0" rIns="0" bIns="0" rtlCol="0" anchor="ctr"/>
          <a:lstStyle/>
          <a:p>
            <a:pPr indent="0" marL="0">
              <a:lnSpc>
                <a:spcPct val="130000"/>
              </a:lnSpc>
              <a:buNone/>
            </a:pPr>
            <a:r>
              <a:rPr lang="en-US" sz="1250" dirty="0">
                <a:solidFill>
                  <a:srgbClr val="545759"/>
                </a:solidFill>
                <a:latin typeface="Arial" pitchFamily="34" charset="0"/>
                <a:ea typeface="Arial" pitchFamily="34" charset="-122"/>
                <a:cs typeface="Arial" pitchFamily="34" charset="-120"/>
              </a:rPr>
              <a:t>We ran BPCI Classic and BPCI Advanced episodes across 25 states before TEAM existed. We know target-price and reconciliation mechanics because we've lived inside them -- not studied them on your clock.</a:t>
            </a:r>
            <a:endParaRPr lang="en-US" sz="1250" dirty="0"/>
          </a:p>
        </p:txBody>
      </p:sp>
      <p:sp>
        <p:nvSpPr>
          <p:cNvPr id="9" name="Shape 7"/>
          <p:cNvSpPr/>
          <p:nvPr/>
        </p:nvSpPr>
        <p:spPr>
          <a:xfrm>
            <a:off x="4206240" y="2286000"/>
            <a:ext cx="420624" cy="420624"/>
          </a:xfrm>
          <a:prstGeom prst="ellipse">
            <a:avLst/>
          </a:prstGeom>
          <a:solidFill>
            <a:srgbClr val="8FA687"/>
          </a:solidFill>
          <a:ln/>
        </p:spPr>
      </p:sp>
      <p:sp>
        <p:nvSpPr>
          <p:cNvPr id="10" name="Text 8"/>
          <p:cNvSpPr/>
          <p:nvPr/>
        </p:nvSpPr>
        <p:spPr>
          <a:xfrm>
            <a:off x="4206240" y="2286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4800600" y="2194560"/>
            <a:ext cx="6842455" cy="36576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We stay after the strategy slide</a:t>
            </a:r>
            <a:endParaRPr lang="en-US" sz="1600" dirty="0"/>
          </a:p>
        </p:txBody>
      </p:sp>
      <p:sp>
        <p:nvSpPr>
          <p:cNvPr id="12" name="Text 10"/>
          <p:cNvSpPr/>
          <p:nvPr/>
        </p:nvSpPr>
        <p:spPr>
          <a:xfrm>
            <a:off x="4800600" y="2587752"/>
            <a:ext cx="6842455" cy="914400"/>
          </a:xfrm>
          <a:prstGeom prst="rect">
            <a:avLst/>
          </a:prstGeom>
          <a:noFill/>
          <a:ln/>
        </p:spPr>
        <p:txBody>
          <a:bodyPr wrap="square" lIns="0" tIns="0" rIns="0" bIns="0" rtlCol="0" anchor="ctr"/>
          <a:lstStyle/>
          <a:p>
            <a:pPr indent="0" marL="0">
              <a:lnSpc>
                <a:spcPct val="130000"/>
              </a:lnSpc>
              <a:buNone/>
            </a:pPr>
            <a:r>
              <a:rPr lang="en-US" sz="1250" dirty="0">
                <a:solidFill>
                  <a:srgbClr val="545759"/>
                </a:solidFill>
                <a:latin typeface="Arial" pitchFamily="34" charset="0"/>
                <a:ea typeface="Arial" pitchFamily="34" charset="-122"/>
                <a:cs typeface="Arial" pitchFamily="34" charset="-120"/>
              </a:rPr>
              <a:t>Monthly performance tracking, in-year course correction, and reconciliation support -- not a report that sits in a drawer after 90 days.</a:t>
            </a:r>
            <a:endParaRPr lang="en-US" sz="1250" dirty="0"/>
          </a:p>
        </p:txBody>
      </p:sp>
      <p:sp>
        <p:nvSpPr>
          <p:cNvPr id="13" name="Shape 11"/>
          <p:cNvSpPr/>
          <p:nvPr/>
        </p:nvSpPr>
        <p:spPr>
          <a:xfrm>
            <a:off x="4206240" y="3749040"/>
            <a:ext cx="420624" cy="420624"/>
          </a:xfrm>
          <a:prstGeom prst="ellipse">
            <a:avLst/>
          </a:prstGeom>
          <a:solidFill>
            <a:srgbClr val="8FA687"/>
          </a:solidFill>
          <a:ln/>
        </p:spPr>
      </p:sp>
      <p:sp>
        <p:nvSpPr>
          <p:cNvPr id="14" name="Text 12"/>
          <p:cNvSpPr/>
          <p:nvPr/>
        </p:nvSpPr>
        <p:spPr>
          <a:xfrm>
            <a:off x="4206240" y="37490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4800600" y="3657600"/>
            <a:ext cx="6842455" cy="365760"/>
          </a:xfrm>
          <a:prstGeom prst="rect">
            <a:avLst/>
          </a:prstGeom>
          <a:noFill/>
          <a:ln/>
        </p:spPr>
        <p:txBody>
          <a:bodyPr wrap="square" lIns="0" tIns="0" rIns="0" bIns="0" rtlCol="0" anchor="ctr"/>
          <a:lstStyle/>
          <a:p>
            <a:pPr indent="0" marL="0">
              <a:buNone/>
            </a:pPr>
            <a:r>
              <a:rPr lang="en-US" sz="1600" b="1" dirty="0">
                <a:solidFill>
                  <a:srgbClr val="1E4B3A"/>
                </a:solidFill>
                <a:latin typeface="Arial" pitchFamily="34" charset="0"/>
                <a:ea typeface="Arial" pitchFamily="34" charset="-122"/>
                <a:cs typeface="Arial" pitchFamily="34" charset="-120"/>
              </a:rPr>
              <a:t>Skin in the game</a:t>
            </a:r>
            <a:endParaRPr lang="en-US" sz="1600" dirty="0"/>
          </a:p>
        </p:txBody>
      </p:sp>
      <p:sp>
        <p:nvSpPr>
          <p:cNvPr id="16" name="Text 14"/>
          <p:cNvSpPr/>
          <p:nvPr/>
        </p:nvSpPr>
        <p:spPr>
          <a:xfrm>
            <a:off x="4800600" y="4050792"/>
            <a:ext cx="6842455" cy="914400"/>
          </a:xfrm>
          <a:prstGeom prst="rect">
            <a:avLst/>
          </a:prstGeom>
          <a:noFill/>
          <a:ln/>
        </p:spPr>
        <p:txBody>
          <a:bodyPr wrap="square" lIns="0" tIns="0" rIns="0" bIns="0" rtlCol="0" anchor="ctr"/>
          <a:lstStyle/>
          <a:p>
            <a:pPr indent="0" marL="0">
              <a:lnSpc>
                <a:spcPct val="130000"/>
              </a:lnSpc>
              <a:buNone/>
            </a:pPr>
            <a:r>
              <a:rPr lang="en-US" sz="1250" dirty="0">
                <a:solidFill>
                  <a:srgbClr val="545759"/>
                </a:solidFill>
                <a:latin typeface="Arial" pitchFamily="34" charset="0"/>
                <a:ea typeface="Arial" pitchFamily="34" charset="-122"/>
                <a:cs typeface="Arial" pitchFamily="34" charset="-120"/>
              </a:rPr>
              <a:t>We're priced against the savings we help you generate. When your episodes perform, so do we.</a:t>
            </a:r>
            <a:endParaRPr lang="en-US" sz="1250" dirty="0"/>
          </a:p>
        </p:txBody>
      </p:sp>
      <p:sp>
        <p:nvSpPr>
          <p:cNvPr id="17" name="Text 15"/>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18" name="Text 16"/>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19" name="Text 17"/>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2F2F2"/>
          </a:solidFill>
          <a:ln/>
        </p:spPr>
      </p:sp>
      <p:sp>
        <p:nvSpPr>
          <p:cNvPr id="3" name="Text 1"/>
          <p:cNvSpPr/>
          <p:nvPr/>
        </p:nvSpPr>
        <p:spPr>
          <a:xfrm>
            <a:off x="548640" y="548640"/>
            <a:ext cx="2743200" cy="320040"/>
          </a:xfrm>
          <a:prstGeom prst="rect">
            <a:avLst/>
          </a:prstGeom>
          <a:noFill/>
          <a:ln/>
        </p:spPr>
        <p:txBody>
          <a:bodyPr wrap="square" lIns="0" tIns="0" rIns="0" bIns="0" rtlCol="0" anchor="ctr"/>
          <a:lstStyle/>
          <a:p>
            <a:pPr indent="0" marL="0">
              <a:buNone/>
            </a:pPr>
            <a:r>
              <a:rPr lang="en-US" sz="1200" b="1" spc="100" kern="0" dirty="0">
                <a:solidFill>
                  <a:srgbClr val="8FA687"/>
                </a:solidFill>
                <a:latin typeface="Arial" pitchFamily="34" charset="0"/>
                <a:ea typeface="Arial" pitchFamily="34" charset="-122"/>
                <a:cs typeface="Arial" pitchFamily="34" charset="-120"/>
              </a:rPr>
              <a:t>WHAT WE NEED FROM YOU</a:t>
            </a:r>
            <a:endParaRPr lang="en-US" sz="1200" dirty="0"/>
          </a:p>
        </p:txBody>
      </p:sp>
      <p:sp>
        <p:nvSpPr>
          <p:cNvPr id="4" name="Text 2"/>
          <p:cNvSpPr/>
          <p:nvPr/>
        </p:nvSpPr>
        <p:spPr>
          <a:xfrm>
            <a:off x="548640" y="914400"/>
            <a:ext cx="2743200" cy="2377440"/>
          </a:xfrm>
          <a:prstGeom prst="rect">
            <a:avLst/>
          </a:prstGeom>
          <a:noFill/>
          <a:ln/>
        </p:spPr>
        <p:txBody>
          <a:bodyPr wrap="square" lIns="0" tIns="0" rIns="0" bIns="0" rtlCol="0" anchor="t"/>
          <a:lstStyle/>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We bring the engine.</a:t>
            </a:r>
            <a:endParaRPr lang="en-US" sz="3000" dirty="0"/>
          </a:p>
          <a:p>
            <a:pPr algn="l" indent="0" marL="0">
              <a:lnSpc>
                <a:spcPct val="108000"/>
              </a:lnSpc>
              <a:buNone/>
            </a:pPr>
            <a:r>
              <a:rPr lang="en-US" sz="3000" b="1" dirty="0">
                <a:solidFill>
                  <a:srgbClr val="1E4B3A"/>
                </a:solidFill>
                <a:latin typeface="Arial" pitchFamily="34" charset="0"/>
                <a:ea typeface="Arial" pitchFamily="34" charset="-122"/>
                <a:cs typeface="Arial" pitchFamily="34" charset="-120"/>
              </a:rPr>
              <a:t>You bring six things.</a:t>
            </a:r>
            <a:endParaRPr lang="en-US" sz="3000" dirty="0"/>
          </a:p>
        </p:txBody>
      </p:sp>
      <p:sp>
        <p:nvSpPr>
          <p:cNvPr id="5" name="Text 3"/>
          <p:cNvSpPr/>
          <p:nvPr/>
        </p:nvSpPr>
        <p:spPr>
          <a:xfrm>
            <a:off x="548640" y="4206240"/>
            <a:ext cx="2743200" cy="1463040"/>
          </a:xfrm>
          <a:prstGeom prst="rect">
            <a:avLst/>
          </a:prstGeom>
          <a:noFill/>
          <a:ln/>
        </p:spPr>
        <p:txBody>
          <a:bodyPr wrap="square" lIns="0" tIns="0" rIns="0" bIns="0" rtlCol="0" anchor="t"/>
          <a:lstStyle/>
          <a:p>
            <a:pPr algn="l" indent="0" marL="0">
              <a:lnSpc>
                <a:spcPct val="120000"/>
              </a:lnSpc>
              <a:buNone/>
            </a:pPr>
            <a:r>
              <a:rPr lang="en-US" sz="1300" i="1" dirty="0">
                <a:solidFill>
                  <a:srgbClr val="545759"/>
                </a:solidFill>
                <a:latin typeface="Arial" pitchFamily="34" charset="0"/>
                <a:ea typeface="Arial" pitchFamily="34" charset="-122"/>
                <a:cs typeface="Arial" pitchFamily="34" charset="-120"/>
              </a:rPr>
              <a:t>This only works as a real partnership. We name these upfront because they decide the outcome as much as anything we do.</a:t>
            </a:r>
            <a:endParaRPr lang="en-US" sz="1300" dirty="0"/>
          </a:p>
        </p:txBody>
      </p:sp>
      <p:sp>
        <p:nvSpPr>
          <p:cNvPr id="6" name="Shape 4"/>
          <p:cNvSpPr/>
          <p:nvPr/>
        </p:nvSpPr>
        <p:spPr>
          <a:xfrm>
            <a:off x="4206240" y="685800"/>
            <a:ext cx="365760" cy="365760"/>
          </a:xfrm>
          <a:prstGeom prst="ellipse">
            <a:avLst/>
          </a:prstGeom>
          <a:solidFill>
            <a:srgbClr val="8FA687"/>
          </a:solidFill>
          <a:ln/>
        </p:spPr>
      </p:sp>
      <p:sp>
        <p:nvSpPr>
          <p:cNvPr id="7" name="Text 5"/>
          <p:cNvSpPr/>
          <p:nvPr/>
        </p:nvSpPr>
        <p:spPr>
          <a:xfrm>
            <a:off x="4206240" y="685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4709160" y="612648"/>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Executive sponsorship</a:t>
            </a:r>
            <a:endParaRPr lang="en-US" sz="1300" dirty="0"/>
          </a:p>
        </p:txBody>
      </p:sp>
      <p:sp>
        <p:nvSpPr>
          <p:cNvPr id="9" name="Text 7"/>
          <p:cNvSpPr/>
          <p:nvPr/>
        </p:nvSpPr>
        <p:spPr>
          <a:xfrm>
            <a:off x="4709160" y="960120"/>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An empowered CFO or VBC leader who can align finance, service lines, and care management</a:t>
            </a:r>
            <a:endParaRPr lang="en-US" sz="1050" dirty="0"/>
          </a:p>
        </p:txBody>
      </p:sp>
      <p:sp>
        <p:nvSpPr>
          <p:cNvPr id="10" name="Shape 8"/>
          <p:cNvSpPr/>
          <p:nvPr/>
        </p:nvSpPr>
        <p:spPr>
          <a:xfrm>
            <a:off x="8084668" y="685800"/>
            <a:ext cx="365760" cy="365760"/>
          </a:xfrm>
          <a:prstGeom prst="ellipse">
            <a:avLst/>
          </a:prstGeom>
          <a:solidFill>
            <a:srgbClr val="8FA687"/>
          </a:solidFill>
          <a:ln/>
        </p:spPr>
      </p:sp>
      <p:sp>
        <p:nvSpPr>
          <p:cNvPr id="11" name="Text 9"/>
          <p:cNvSpPr/>
          <p:nvPr/>
        </p:nvSpPr>
        <p:spPr>
          <a:xfrm>
            <a:off x="8084668" y="685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8587588" y="612648"/>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Timely data access</a:t>
            </a:r>
            <a:endParaRPr lang="en-US" sz="1300" dirty="0"/>
          </a:p>
        </p:txBody>
      </p:sp>
      <p:sp>
        <p:nvSpPr>
          <p:cNvPr id="13" name="Text 11"/>
          <p:cNvSpPr/>
          <p:nvPr/>
        </p:nvSpPr>
        <p:spPr>
          <a:xfrm>
            <a:off x="8587588" y="960120"/>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Prompt access to CMS feeds and internal cost/discharge data, under a BAA</a:t>
            </a:r>
            <a:endParaRPr lang="en-US" sz="1050" dirty="0"/>
          </a:p>
        </p:txBody>
      </p:sp>
      <p:sp>
        <p:nvSpPr>
          <p:cNvPr id="14" name="Shape 12"/>
          <p:cNvSpPr/>
          <p:nvPr/>
        </p:nvSpPr>
        <p:spPr>
          <a:xfrm>
            <a:off x="4206240" y="2121408"/>
            <a:ext cx="365760" cy="365760"/>
          </a:xfrm>
          <a:prstGeom prst="ellipse">
            <a:avLst/>
          </a:prstGeom>
          <a:solidFill>
            <a:srgbClr val="8FA687"/>
          </a:solidFill>
          <a:ln/>
        </p:spPr>
      </p:sp>
      <p:sp>
        <p:nvSpPr>
          <p:cNvPr id="15" name="Text 13"/>
          <p:cNvSpPr/>
          <p:nvPr/>
        </p:nvSpPr>
        <p:spPr>
          <a:xfrm>
            <a:off x="4206240" y="21214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4709160" y="2048256"/>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A named cross-functional team</a:t>
            </a:r>
            <a:endParaRPr lang="en-US" sz="1300" dirty="0"/>
          </a:p>
        </p:txBody>
      </p:sp>
      <p:sp>
        <p:nvSpPr>
          <p:cNvPr id="17" name="Text 15"/>
          <p:cNvSpPr/>
          <p:nvPr/>
        </p:nvSpPr>
        <p:spPr>
          <a:xfrm>
            <a:off x="4709160" y="2395728"/>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People from finance, surgical service lines, care management, and quality</a:t>
            </a:r>
            <a:endParaRPr lang="en-US" sz="1050" dirty="0"/>
          </a:p>
        </p:txBody>
      </p:sp>
      <p:sp>
        <p:nvSpPr>
          <p:cNvPr id="18" name="Shape 16"/>
          <p:cNvSpPr/>
          <p:nvPr/>
        </p:nvSpPr>
        <p:spPr>
          <a:xfrm>
            <a:off x="8084668" y="2121408"/>
            <a:ext cx="365760" cy="365760"/>
          </a:xfrm>
          <a:prstGeom prst="ellipse">
            <a:avLst/>
          </a:prstGeom>
          <a:solidFill>
            <a:srgbClr val="8FA687"/>
          </a:solidFill>
          <a:ln/>
        </p:spPr>
      </p:sp>
      <p:sp>
        <p:nvSpPr>
          <p:cNvPr id="19" name="Text 17"/>
          <p:cNvSpPr/>
          <p:nvPr/>
        </p:nvSpPr>
        <p:spPr>
          <a:xfrm>
            <a:off x="8084668" y="212140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8587588" y="2048256"/>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Physician engagement</a:t>
            </a:r>
            <a:endParaRPr lang="en-US" sz="1300" dirty="0"/>
          </a:p>
        </p:txBody>
      </p:sp>
      <p:sp>
        <p:nvSpPr>
          <p:cNvPr id="21" name="Text 19"/>
          <p:cNvSpPr/>
          <p:nvPr/>
        </p:nvSpPr>
        <p:spPr>
          <a:xfrm>
            <a:off x="8587588" y="2395728"/>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Clinical champions willing to face the data and lead on the big cost levers</a:t>
            </a:r>
            <a:endParaRPr lang="en-US" sz="1050" dirty="0"/>
          </a:p>
        </p:txBody>
      </p:sp>
      <p:sp>
        <p:nvSpPr>
          <p:cNvPr id="22" name="Shape 20"/>
          <p:cNvSpPr/>
          <p:nvPr/>
        </p:nvSpPr>
        <p:spPr>
          <a:xfrm>
            <a:off x="4206240" y="3557016"/>
            <a:ext cx="365760" cy="365760"/>
          </a:xfrm>
          <a:prstGeom prst="ellipse">
            <a:avLst/>
          </a:prstGeom>
          <a:solidFill>
            <a:srgbClr val="8FA687"/>
          </a:solidFill>
          <a:ln/>
        </p:spPr>
      </p:sp>
      <p:sp>
        <p:nvSpPr>
          <p:cNvPr id="23" name="Text 21"/>
          <p:cNvSpPr/>
          <p:nvPr/>
        </p:nvSpPr>
        <p:spPr>
          <a:xfrm>
            <a:off x="4206240" y="355701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4709160" y="3483864"/>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Authority to act</a:t>
            </a:r>
            <a:endParaRPr lang="en-US" sz="1300" dirty="0"/>
          </a:p>
        </p:txBody>
      </p:sp>
      <p:sp>
        <p:nvSpPr>
          <p:cNvPr id="25" name="Text 23"/>
          <p:cNvSpPr/>
          <p:nvPr/>
        </p:nvSpPr>
        <p:spPr>
          <a:xfrm>
            <a:off x="4709160" y="3831336"/>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A governance forum that meets regularly and can decide, not just discuss</a:t>
            </a:r>
            <a:endParaRPr lang="en-US" sz="1050" dirty="0"/>
          </a:p>
        </p:txBody>
      </p:sp>
      <p:sp>
        <p:nvSpPr>
          <p:cNvPr id="26" name="Shape 24"/>
          <p:cNvSpPr/>
          <p:nvPr/>
        </p:nvSpPr>
        <p:spPr>
          <a:xfrm>
            <a:off x="8084668" y="3557016"/>
            <a:ext cx="365760" cy="365760"/>
          </a:xfrm>
          <a:prstGeom prst="ellipse">
            <a:avLst/>
          </a:prstGeom>
          <a:solidFill>
            <a:srgbClr val="8FA687"/>
          </a:solidFill>
          <a:ln/>
        </p:spPr>
      </p:sp>
      <p:sp>
        <p:nvSpPr>
          <p:cNvPr id="27" name="Text 25"/>
          <p:cNvSpPr/>
          <p:nvPr/>
        </p:nvSpPr>
        <p:spPr>
          <a:xfrm>
            <a:off x="8084668" y="355701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8" name="Text 26"/>
          <p:cNvSpPr/>
          <p:nvPr/>
        </p:nvSpPr>
        <p:spPr>
          <a:xfrm>
            <a:off x="8587588" y="3483864"/>
            <a:ext cx="3055468" cy="365760"/>
          </a:xfrm>
          <a:prstGeom prst="rect">
            <a:avLst/>
          </a:prstGeom>
          <a:noFill/>
          <a:ln/>
        </p:spPr>
        <p:txBody>
          <a:bodyPr wrap="square" lIns="0" tIns="0" rIns="0" bIns="0" rtlCol="0" anchor="ctr"/>
          <a:lstStyle/>
          <a:p>
            <a:pPr indent="0" marL="0">
              <a:buNone/>
            </a:pPr>
            <a:r>
              <a:rPr lang="en-US" sz="1300" b="1" dirty="0">
                <a:solidFill>
                  <a:srgbClr val="1E4B3A"/>
                </a:solidFill>
                <a:latin typeface="Arial" pitchFamily="34" charset="0"/>
                <a:ea typeface="Arial" pitchFamily="34" charset="-122"/>
                <a:cs typeface="Arial" pitchFamily="34" charset="-120"/>
              </a:rPr>
              <a:t>Willingness to change</a:t>
            </a:r>
            <a:endParaRPr lang="en-US" sz="1300" dirty="0"/>
          </a:p>
        </p:txBody>
      </p:sp>
      <p:sp>
        <p:nvSpPr>
          <p:cNvPr id="29" name="Text 27"/>
          <p:cNvSpPr/>
          <p:nvPr/>
        </p:nvSpPr>
        <p:spPr>
          <a:xfrm>
            <a:off x="8587588" y="3831336"/>
            <a:ext cx="3055468" cy="777240"/>
          </a:xfrm>
          <a:prstGeom prst="rect">
            <a:avLst/>
          </a:prstGeom>
          <a:noFill/>
          <a:ln/>
        </p:spPr>
        <p:txBody>
          <a:bodyPr wrap="square" lIns="0" tIns="0" rIns="0" bIns="0" rtlCol="0" anchor="ctr"/>
          <a:lstStyle/>
          <a:p>
            <a:pPr indent="0" marL="0">
              <a:lnSpc>
                <a:spcPct val="120000"/>
              </a:lnSpc>
              <a:buNone/>
            </a:pPr>
            <a:r>
              <a:rPr lang="en-US" sz="1050" dirty="0">
                <a:solidFill>
                  <a:srgbClr val="545759"/>
                </a:solidFill>
                <a:latin typeface="Arial" pitchFamily="34" charset="0"/>
                <a:ea typeface="Arial" pitchFamily="34" charset="-122"/>
                <a:cs typeface="Arial" pitchFamily="34" charset="-120"/>
              </a:rPr>
              <a:t>Transparency with hard findings, and follow-through on what the data shows</a:t>
            </a:r>
            <a:endParaRPr lang="en-US" sz="1050" dirty="0"/>
          </a:p>
        </p:txBody>
      </p:sp>
      <p:sp>
        <p:nvSpPr>
          <p:cNvPr id="30" name="Text 28"/>
          <p:cNvSpPr/>
          <p:nvPr/>
        </p:nvSpPr>
        <p:spPr>
          <a:xfrm>
            <a:off x="548640" y="6300216"/>
            <a:ext cx="1828800" cy="310896"/>
          </a:xfrm>
          <a:prstGeom prst="rect">
            <a:avLst/>
          </a:prstGeom>
          <a:noFill/>
          <a:ln/>
        </p:spPr>
        <p:txBody>
          <a:bodyPr wrap="square" lIns="0" tIns="0" rIns="0" bIns="0" rtlCol="0" anchor="ctr"/>
          <a:lstStyle/>
          <a:p>
            <a:pPr algn="l" indent="0" marL="0">
              <a:buNone/>
            </a:pPr>
            <a:r>
              <a:rPr lang="en-US" sz="1500" b="1" dirty="0">
                <a:solidFill>
                  <a:srgbClr val="1E4B3A"/>
                </a:solidFill>
                <a:latin typeface="Arial" pitchFamily="34" charset="0"/>
                <a:ea typeface="Arial" pitchFamily="34" charset="-122"/>
                <a:cs typeface="Arial" pitchFamily="34" charset="-120"/>
              </a:rPr>
              <a:t>Yield Health</a:t>
            </a:r>
            <a:endParaRPr lang="en-US" sz="1500" dirty="0"/>
          </a:p>
        </p:txBody>
      </p:sp>
      <p:sp>
        <p:nvSpPr>
          <p:cNvPr id="31" name="Text 29"/>
          <p:cNvSpPr/>
          <p:nvPr/>
        </p:nvSpPr>
        <p:spPr>
          <a:xfrm>
            <a:off x="1965960" y="6373368"/>
            <a:ext cx="6400800" cy="274320"/>
          </a:xfrm>
          <a:prstGeom prst="rect">
            <a:avLst/>
          </a:prstGeom>
          <a:noFill/>
          <a:ln/>
        </p:spPr>
        <p:txBody>
          <a:bodyPr wrap="square" lIns="0" tIns="0" rIns="0" bIns="0" rtlCol="0" anchor="ctr"/>
          <a:lstStyle/>
          <a:p>
            <a:pPr algn="l" indent="0" marL="0">
              <a:buNone/>
            </a:pPr>
            <a:r>
              <a:rPr lang="en-US" sz="800" dirty="0">
                <a:solidFill>
                  <a:srgbClr val="9AA1A6"/>
                </a:solidFill>
                <a:latin typeface="Arial" pitchFamily="34" charset="0"/>
                <a:ea typeface="Arial" pitchFamily="34" charset="-122"/>
                <a:cs typeface="Arial" pitchFamily="34" charset="-120"/>
              </a:rPr>
              <a:t>Confidential  |  Prepared for TEAM hospital leadership</a:t>
            </a:r>
            <a:endParaRPr lang="en-US" sz="800" dirty="0"/>
          </a:p>
        </p:txBody>
      </p:sp>
      <p:sp>
        <p:nvSpPr>
          <p:cNvPr id="32" name="Text 30"/>
          <p:cNvSpPr/>
          <p:nvPr/>
        </p:nvSpPr>
        <p:spPr>
          <a:xfrm>
            <a:off x="11185855" y="6373368"/>
            <a:ext cx="548640" cy="274320"/>
          </a:xfrm>
          <a:prstGeom prst="rect">
            <a:avLst/>
          </a:prstGeom>
          <a:noFill/>
          <a:ln/>
        </p:spPr>
        <p:txBody>
          <a:bodyPr wrap="square" lIns="0" tIns="0" rIns="0" bIns="0" rtlCol="0" anchor="ctr"/>
          <a:lstStyle/>
          <a:p>
            <a:pPr algn="r" indent="0" marL="0">
              <a:buNone/>
            </a:pPr>
            <a:r>
              <a:rPr lang="en-US" sz="900" dirty="0">
                <a:solidFill>
                  <a:srgbClr val="9AA1A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640080" y="1371600"/>
            <a:ext cx="9144000" cy="320040"/>
          </a:xfrm>
          <a:prstGeom prst="rect">
            <a:avLst/>
          </a:prstGeom>
          <a:noFill/>
          <a:ln/>
        </p:spPr>
        <p:txBody>
          <a:bodyPr wrap="square" lIns="0" tIns="0" rIns="0" bIns="0" rtlCol="0" anchor="ctr"/>
          <a:lstStyle/>
          <a:p>
            <a:pPr indent="0" marL="0">
              <a:buNone/>
            </a:pPr>
            <a:r>
              <a:rPr lang="en-US" sz="1200" b="1" spc="150" kern="0" dirty="0">
                <a:solidFill>
                  <a:srgbClr val="8FA687"/>
                </a:solidFill>
                <a:latin typeface="Arial" pitchFamily="34" charset="0"/>
                <a:ea typeface="Arial" pitchFamily="34" charset="-122"/>
                <a:cs typeface="Arial" pitchFamily="34" charset="-120"/>
              </a:rPr>
              <a:t>THE NEXT STEP</a:t>
            </a:r>
            <a:endParaRPr lang="en-US" sz="1200" dirty="0"/>
          </a:p>
        </p:txBody>
      </p:sp>
      <p:sp>
        <p:nvSpPr>
          <p:cNvPr id="3" name="Text 1"/>
          <p:cNvSpPr/>
          <p:nvPr/>
        </p:nvSpPr>
        <p:spPr>
          <a:xfrm>
            <a:off x="640080" y="1737360"/>
            <a:ext cx="9601200" cy="155448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Arial" pitchFamily="34" charset="0"/>
                <a:ea typeface="Arial" pitchFamily="34" charset="-122"/>
                <a:cs typeface="Arial" pitchFamily="34" charset="-120"/>
              </a:rPr>
              <a:t>Let's find out whether</a:t>
            </a:r>
            <a:endParaRPr lang="en-US" sz="3200" dirty="0"/>
          </a:p>
          <a:p>
            <a:pPr indent="0" marL="0">
              <a:lnSpc>
                <a:spcPct val="110000"/>
              </a:lnSpc>
              <a:buNone/>
            </a:pPr>
            <a:r>
              <a:rPr lang="en-US" sz="3200" b="1" dirty="0">
                <a:solidFill>
                  <a:srgbClr val="FFFFFF"/>
                </a:solidFill>
                <a:latin typeface="Arial" pitchFamily="34" charset="0"/>
                <a:ea typeface="Arial" pitchFamily="34" charset="-122"/>
                <a:cs typeface="Arial" pitchFamily="34" charset="-120"/>
              </a:rPr>
              <a:t>you're a payer or a saver.</a:t>
            </a:r>
            <a:endParaRPr lang="en-US" sz="3200" dirty="0"/>
          </a:p>
        </p:txBody>
      </p:sp>
      <p:sp>
        <p:nvSpPr>
          <p:cNvPr id="4" name="Text 2"/>
          <p:cNvSpPr/>
          <p:nvPr/>
        </p:nvSpPr>
        <p:spPr>
          <a:xfrm>
            <a:off x="640080" y="3246120"/>
            <a:ext cx="8686800" cy="914400"/>
          </a:xfrm>
          <a:prstGeom prst="rect">
            <a:avLst/>
          </a:prstGeom>
          <a:noFill/>
          <a:ln/>
        </p:spPr>
        <p:txBody>
          <a:bodyPr wrap="square" lIns="0" tIns="0" rIns="0" bIns="0" rtlCol="0" anchor="ctr"/>
          <a:lstStyle/>
          <a:p>
            <a:pPr indent="0" marL="0">
              <a:lnSpc>
                <a:spcPct val="135000"/>
              </a:lnSpc>
              <a:buNone/>
            </a:pPr>
            <a:r>
              <a:rPr lang="en-US" sz="1500" dirty="0">
                <a:solidFill>
                  <a:srgbClr val="DCE6D9"/>
                </a:solidFill>
                <a:latin typeface="Arial" pitchFamily="34" charset="0"/>
                <a:ea typeface="Arial" pitchFamily="34" charset="-122"/>
                <a:cs typeface="Arial" pitchFamily="34" charset="-120"/>
              </a:rPr>
              <a:t>Start with the Position Report -- fixed fee, four to six weeks, no long-term commitment. PY1 is the window to build this before PY2 risk lands. Let's use it.</a:t>
            </a:r>
            <a:endParaRPr lang="en-US" sz="1500" dirty="0"/>
          </a:p>
        </p:txBody>
      </p:sp>
      <p:sp>
        <p:nvSpPr>
          <p:cNvPr id="5" name="Shape 3"/>
          <p:cNvSpPr/>
          <p:nvPr/>
        </p:nvSpPr>
        <p:spPr>
          <a:xfrm>
            <a:off x="640080" y="4343400"/>
            <a:ext cx="3108960" cy="685800"/>
          </a:xfrm>
          <a:prstGeom prst="rect">
            <a:avLst/>
          </a:prstGeom>
          <a:solidFill>
            <a:srgbClr val="D4A84C"/>
          </a:solidFill>
          <a:ln/>
        </p:spPr>
      </p:sp>
      <p:sp>
        <p:nvSpPr>
          <p:cNvPr id="6" name="Text 4"/>
          <p:cNvSpPr/>
          <p:nvPr/>
        </p:nvSpPr>
        <p:spPr>
          <a:xfrm>
            <a:off x="640080" y="4343400"/>
            <a:ext cx="310896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Book the Position Report</a:t>
            </a:r>
            <a:endParaRPr lang="en-US" sz="1400" dirty="0"/>
          </a:p>
        </p:txBody>
      </p:sp>
      <p:sp>
        <p:nvSpPr>
          <p:cNvPr id="7" name="Text 5"/>
          <p:cNvSpPr/>
          <p:nvPr/>
        </p:nvSpPr>
        <p:spPr>
          <a:xfrm>
            <a:off x="640080" y="5257800"/>
            <a:ext cx="5486400" cy="365760"/>
          </a:xfrm>
          <a:prstGeom prst="rect">
            <a:avLst/>
          </a:prstGeom>
          <a:noFill/>
          <a:ln/>
        </p:spPr>
        <p:txBody>
          <a:bodyPr wrap="square" lIns="0" tIns="0" rIns="0" bIns="0" rtlCol="0" anchor="ctr"/>
          <a:lstStyle/>
          <a:p>
            <a:pPr indent="0" marL="0">
              <a:buNone/>
            </a:pPr>
            <a:r>
              <a:rPr lang="en-US" sz="1100" i="1" dirty="0">
                <a:solidFill>
                  <a:srgbClr val="9DB29A"/>
                </a:solidFill>
                <a:latin typeface="Arial" pitchFamily="34" charset="0"/>
                <a:ea typeface="Arial" pitchFamily="34" charset="-122"/>
                <a:cs typeface="Arial" pitchFamily="34" charset="-120"/>
              </a:rPr>
              <a:t>[ Your contact - direct line - email ]</a:t>
            </a:r>
            <a:endParaRPr lang="en-US" sz="1100" dirty="0"/>
          </a:p>
        </p:txBody>
      </p:sp>
      <p:sp>
        <p:nvSpPr>
          <p:cNvPr id="8" name="Text 6"/>
          <p:cNvSpPr/>
          <p:nvPr/>
        </p:nvSpPr>
        <p:spPr>
          <a:xfrm>
            <a:off x="640080" y="5934456"/>
            <a:ext cx="1828800" cy="310896"/>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Yield Health</a:t>
            </a:r>
            <a:endParaRPr lang="en-US" sz="1500" dirty="0"/>
          </a:p>
        </p:txBody>
      </p:sp>
      <p:sp>
        <p:nvSpPr>
          <p:cNvPr id="9" name="Text 7"/>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9DB29A"/>
                </a:solidFill>
                <a:latin typeface="Arial" pitchFamily="34" charset="0"/>
                <a:ea typeface="Arial" pitchFamily="34" charset="-122"/>
                <a:cs typeface="Arial" pitchFamily="34" charset="-120"/>
              </a:rPr>
              <a:t>Confidential - Prepared for discussion purposes - July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Yield Health for TEAM Hospitals</dc:title>
  <dc:subject>Yield Health for TEAM Hospitals</dc:subject>
  <dc:creator>PptxGenJS</dc:creator>
  <cp:lastModifiedBy>PptxGenJS</cp:lastModifiedBy>
  <cp:revision>1</cp:revision>
  <dcterms:created xsi:type="dcterms:W3CDTF">2026-07-29T16:12:05Z</dcterms:created>
  <dcterms:modified xsi:type="dcterms:W3CDTF">2026-07-29T16:12:05Z</dcterms:modified>
</cp:coreProperties>
</file>