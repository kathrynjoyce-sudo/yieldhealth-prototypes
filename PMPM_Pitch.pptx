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ind-affectionate-ptolemy/mnt/outputs/pmpm/../build/assets/hero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B3A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1E4B3A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280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RISK-BEARING PROVIDER GROUP LEADERSHIP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risk contract just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became a population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actually manage.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Post-acute. Peri-operative. Complex chronic. One navigator team, one contract.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42519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CE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 built its operating discipline managing hospitals through CMS's mandatory TEAM episode model. This program extends that same discipline into a PMPM population care management partnership -- priced so we only grow when your risk performance does.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59344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- Prepared for discussion purposes - July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Risk-bearing care is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longer the exception.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206240" y="640080"/>
            <a:ext cx="7436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ACO participation grew again in 2026, and both major programs are pushing further into two-sided risk. Commercial books are following the same path. The organizations bearing that risk are looking for a partner who can actually move the number, not just report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06240" y="1965960"/>
            <a:ext cx="1653464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2103120"/>
            <a:ext cx="1653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15968" y="2788920"/>
            <a:ext cx="1434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beneficiaries attributed to an ACO in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34024" y="1965960"/>
            <a:ext cx="1653464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134024" y="2103120"/>
            <a:ext cx="1653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43752" y="2788920"/>
            <a:ext cx="1434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MSSP + ACO REACH organizations nationally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61808" y="1965960"/>
            <a:ext cx="1653464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8061808" y="2103120"/>
            <a:ext cx="1653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+4.4%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171536" y="2788920"/>
            <a:ext cx="1434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ACO-attributed lives, 2025 to 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989591" y="1965960"/>
            <a:ext cx="1653464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9989591" y="2103120"/>
            <a:ext cx="1653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0099319" y="2788920"/>
            <a:ext cx="1434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commercial value-based lives already carry downside risk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0" y="3886200"/>
            <a:ext cx="7436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511 MSSP ACOs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covering 12.6M lives, plus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 ACO REACH ACOs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covering 1.7M lives -- both cohorts growing faster than the infrastructure to manage them.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4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STAKES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share of your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decides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whole number.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2286000" cy="2286000"/>
          </a:xfrm>
          <a:prstGeom prst="ellipse">
            <a:avLst/>
          </a:prstGeom>
          <a:solidFill>
            <a:srgbClr val="2C5744"/>
          </a:solidFill>
          <a:ln w="25400">
            <a:solidFill>
              <a:srgbClr val="8FA6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749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3D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members drive the majority of total cost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2651760"/>
            <a:ext cx="8412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5% isn't static. It's the member three weeks post-discharge with no one checking in, the member six weeks from a major surgery with unmanaged comorbidities, and the member with three chronic conditions whose care plan hasn't been touched since the last hospitalization.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388620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3D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care panels are built for visit-based care, not for finding that member before the cost shows up. Every month without a dedicated layer watching for these moments is a month of avoidable spend that only shows up in the reconciliation you can't undo.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HARD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a data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staffing and workflow problem that shows up in three different moments in a member's year.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0" y="77724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777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00600" y="68580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moments, one blind spot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1051560"/>
            <a:ext cx="6842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30-90 days after a hospitalization, the weeks around a scheduled surgery, and the month-to-month drift of a chronic condition -- three different windows where cost is decided, and most organizations watch none of them closely.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196596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187452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Billable work that goes unbilled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2240280"/>
            <a:ext cx="6842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CCM, PCM, TCM, and RPM codes exist specifically to pay for this work -- but only if someone is actually doing the qualifying outreach and documenting it. Most groups leave this revenue on the table entirely.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06240" y="315468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306324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Panels sized for visits, not risk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3429000"/>
            <a:ext cx="6842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primary care panel built around scheduled visits has no natural mechanism to notice a member's SNF stay is running long, or that a surgery date just got booked.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06240" y="434340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425196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desire, no dedicated capacity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00600" y="4617720"/>
            <a:ext cx="6842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managers and quality leads want to own this. Almost none have a dedicated, claims-triggered workflow and the staffing ratio to run it consistently across the full population.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probably already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been pitched half of this.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206240" y="731520"/>
            <a:ext cx="3535528" cy="2651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4526280" y="105156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7" name="Text 5"/>
          <p:cNvSpPr/>
          <p:nvPr/>
        </p:nvSpPr>
        <p:spPr>
          <a:xfrm>
            <a:off x="4526280" y="1051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26280" y="1600200"/>
            <a:ext cx="289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ACO enablement platforms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6280" y="2148840"/>
            <a:ext cx="2895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on attribution, quality reporting, and shared-savings analytics -- but rarely staffed to actually run hands-on transitional or chronic care management themselves. That work quietly falls back on your already-stretched primary care team.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7528" y="731520"/>
            <a:ext cx="3535528" cy="2651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8427568" y="105156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2" name="Text 10"/>
          <p:cNvSpPr/>
          <p:nvPr/>
        </p:nvSpPr>
        <p:spPr>
          <a:xfrm>
            <a:off x="8427568" y="1051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27568" y="1600200"/>
            <a:ext cx="289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chronic-care billing vendors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27568" y="2148840"/>
            <a:ext cx="2895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at running the CCM/PCM billing motion, but narrowly scoped to that one workflow -- not the post-acute or peri-operative windows, and rarely built by anyone with real experience inside a CMS risk model.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3703320"/>
            <a:ext cx="7436815" cy="914400"/>
          </a:xfrm>
          <a:prstGeom prst="rect">
            <a:avLst/>
          </a:prstGeom>
          <a:solidFill>
            <a:srgbClr val="1E4B3A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3703320"/>
            <a:ext cx="6796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 is simple: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CE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navigator team that covers post-acute, peri-operative, and chronic -- with real bundled-payment operating experience behind it.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segments.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navigator team.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an operator with real, current CMS bundled-payment experience -- not a platform reaching into services for the first time.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685800"/>
            <a:ext cx="7436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 enrolls your attributed population into whichever of three segments applies -- often more than one over a member's year -- and manages each with the same discharge-to-outcome discipline we built running CMS TEAM episodes for hospitals.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206240" y="201168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192024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Post-Acute Transitions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00600" y="2286000"/>
            <a:ext cx="6842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60-90 days of intensive management after any inpatient or surgical stay -- discharge planning, post-acute site selection, medication reconciliation, structured follow-up.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320040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310896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Peri-Operative Optimization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3474720"/>
            <a:ext cx="6842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Pre-op risk optimization and prehab coordination ahead of a scheduled major surgery, flowing directly into the same post-acute discipline once surgery occurs.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438912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429768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Chronic Care Management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4663440"/>
            <a:ext cx="6842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monthly management for multi-condition, high-HCC members -- care planning, medication reconciliation, and outreach calibrated to acuity.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4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TRACK RECORD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track record, not the pitch.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33574" cy="1828800"/>
          </a:xfrm>
          <a:prstGeom prst="rect">
            <a:avLst/>
          </a:prstGeom>
          <a:solidFill>
            <a:srgbClr val="2C57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2533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$120M+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2259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value-based savings generated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02254" y="1965960"/>
            <a:ext cx="2533574" cy="1828800"/>
          </a:xfrm>
          <a:prstGeom prst="rect">
            <a:avLst/>
          </a:prstGeom>
          <a:solidFill>
            <a:srgbClr val="2C5744"/>
          </a:solidFill>
          <a:ln/>
        </p:spPr>
      </p:sp>
      <p:sp>
        <p:nvSpPr>
          <p:cNvPr id="8" name="Text 6"/>
          <p:cNvSpPr/>
          <p:nvPr/>
        </p:nvSpPr>
        <p:spPr>
          <a:xfrm>
            <a:off x="3402254" y="2148840"/>
            <a:ext cx="2533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39414" y="2971800"/>
            <a:ext cx="2259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MLR savings on managed episodes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55868" y="1965960"/>
            <a:ext cx="2533574" cy="1828800"/>
          </a:xfrm>
          <a:prstGeom prst="rect">
            <a:avLst/>
          </a:prstGeom>
          <a:solidFill>
            <a:srgbClr val="2C5744"/>
          </a:solidFill>
          <a:ln/>
        </p:spPr>
      </p:sp>
      <p:sp>
        <p:nvSpPr>
          <p:cNvPr id="11" name="Text 9"/>
          <p:cNvSpPr/>
          <p:nvPr/>
        </p:nvSpPr>
        <p:spPr>
          <a:xfrm>
            <a:off x="6255868" y="2148840"/>
            <a:ext cx="2533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93028" y="2971800"/>
            <a:ext cx="2259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engagement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09481" y="1965960"/>
            <a:ext cx="2533574" cy="1828800"/>
          </a:xfrm>
          <a:prstGeom prst="rect">
            <a:avLst/>
          </a:prstGeom>
          <a:solidFill>
            <a:srgbClr val="2C5744"/>
          </a:solidFill>
          <a:ln/>
        </p:spPr>
      </p:sp>
      <p:sp>
        <p:nvSpPr>
          <p:cNvPr id="14" name="Text 12"/>
          <p:cNvSpPr/>
          <p:nvPr/>
        </p:nvSpPr>
        <p:spPr>
          <a:xfrm>
            <a:off x="9109481" y="2148840"/>
            <a:ext cx="2533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46641" y="2971800"/>
            <a:ext cx="2259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satisfaction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D3D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navigator model, the same claims discipline -- proven managing hospitals through a live CMS risk model, now extended to run your attributed population directly.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ENGAGE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with your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contract,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against 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PMPM fee per enrolled member, plus a share of the CMS billing revenue proactive management makes newly collectible.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0" y="914400"/>
            <a:ext cx="502920" cy="50292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84124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Post-Acute Transitions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188720"/>
            <a:ext cx="6751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 PMPM per enrolled member, plus a contracted share of TCM billing revenue at episode close.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2331720"/>
            <a:ext cx="502920" cy="50292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25856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Peri-Operative Optimization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2606040"/>
            <a:ext cx="6751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$195 PMPM per enrolled member, plus a contracted share of TCM and PIN billing revenue.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23360" y="3611880"/>
            <a:ext cx="7619695" cy="13258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3749040"/>
            <a:ext cx="502920" cy="502920"/>
          </a:xfrm>
          <a:prstGeom prst="ellipse">
            <a:avLst/>
          </a:prstGeom>
          <a:solidFill>
            <a:srgbClr val="D4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367588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Chronic CM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4023360"/>
            <a:ext cx="6751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 PMPM per enrolled member, plus a contracted share of recurring CCM, PCM, and RPM billing revenue -- the largest segment at scale.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0" y="5989320"/>
            <a:ext cx="7436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enrollment, no fee. We only bill for members actively engaged in a segment.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STARTS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four to six weeks,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know exactly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enrollable.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206240" y="685800"/>
            <a:ext cx="7436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open by running our identification logic against your own claims and attribution roster -- a fixed-scope population scan, not a multi-year commitment to get a straight answer.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206240" y="1691640"/>
            <a:ext cx="3867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attributed members are enrollable today, by segment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PMPM revenue opportunity across your full population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billing revenue currently going uncaptured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staffing plan sized to your actual panel, not a generic ratio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370857" y="1691640"/>
            <a:ext cx="3272199" cy="2743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599457" y="1828800"/>
            <a:ext cx="2814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" kern="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-- ENROLLED MEMBERS BY SEGMENT (41K-LIFE ORG)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99457" y="23774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Chronic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833897" y="2404872"/>
            <a:ext cx="1626279" cy="274320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11" name="Text 9"/>
          <p:cNvSpPr/>
          <p:nvPr/>
        </p:nvSpPr>
        <p:spPr>
          <a:xfrm>
            <a:off x="11533327" y="23774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599457" y="29077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Post-Acute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833897" y="2935224"/>
            <a:ext cx="325256" cy="274320"/>
          </a:xfrm>
          <a:prstGeom prst="rect">
            <a:avLst/>
          </a:prstGeom>
          <a:solidFill>
            <a:srgbClr val="8FA687"/>
          </a:solidFill>
          <a:ln/>
        </p:spPr>
      </p:sp>
      <p:sp>
        <p:nvSpPr>
          <p:cNvPr id="14" name="Text 12"/>
          <p:cNvSpPr/>
          <p:nvPr/>
        </p:nvSpPr>
        <p:spPr>
          <a:xfrm>
            <a:off x="10232304" y="29077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599457" y="343814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Peri-Operative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833897" y="3465576"/>
            <a:ext cx="203038" cy="274320"/>
          </a:xfrm>
          <a:prstGeom prst="rect">
            <a:avLst/>
          </a:prstGeom>
          <a:solidFill>
            <a:srgbClr val="8FA687"/>
          </a:solidFill>
          <a:ln/>
        </p:spPr>
      </p:sp>
      <p:sp>
        <p:nvSpPr>
          <p:cNvPr id="17" name="Text 15"/>
          <p:cNvSpPr/>
          <p:nvPr/>
        </p:nvSpPr>
        <p:spPr>
          <a:xfrm>
            <a:off x="10110087" y="343814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599457" y="3977640"/>
            <a:ext cx="28149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Blended: ~$5.3M annual revenue opportunity per full-run-rate customer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MOVE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levers decide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total cost of care.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manage all seven across the member's year -- not just the ones a dashboard can flag.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0" y="777240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777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704088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Post-acute (SNF) use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discretionary swing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84668" y="777240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1" name="Text 9"/>
          <p:cNvSpPr/>
          <p:nvPr/>
        </p:nvSpPr>
        <p:spPr>
          <a:xfrm>
            <a:off x="8084668" y="777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87588" y="704088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readmissions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587588" y="1005840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Hits cost and quality at once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1965960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09160" y="1892808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 utilization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09160" y="2194560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Avoidable visits for managed conditions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84668" y="1965960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9" name="Text 17"/>
          <p:cNvSpPr/>
          <p:nvPr/>
        </p:nvSpPr>
        <p:spPr>
          <a:xfrm>
            <a:off x="808466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87588" y="1892808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escalation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587588" y="2194560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Catching drift before it's an admission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06240" y="3154680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09160" y="3081528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Medication adherence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09160" y="3383280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common silent cost driver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84668" y="3154680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27" name="Text 25"/>
          <p:cNvSpPr/>
          <p:nvPr/>
        </p:nvSpPr>
        <p:spPr>
          <a:xfrm>
            <a:off x="8084668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87588" y="3081528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billing capture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587588" y="3383280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your own team is already earning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06240" y="4343400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31" name="Text 29"/>
          <p:cNvSpPr/>
          <p:nvPr/>
        </p:nvSpPr>
        <p:spPr>
          <a:xfrm>
            <a:off x="420624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709160" y="4270248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RPM / monitoring enrollment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709160" y="4572000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signal on the highest-risk members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risk-bearing groups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us over the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206240" y="82296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6" name="Text 4"/>
          <p:cNvSpPr/>
          <p:nvPr/>
        </p:nvSpPr>
        <p:spPr>
          <a:xfrm>
            <a:off x="4206240" y="822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00600" y="73152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Operator's depth, not a platform's first services pilot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00600" y="1124712"/>
            <a:ext cx="6842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run this exact discipline inside CMS TEAM today -- target prices, reconciliation math, discharge-to-outcome navigation. We're not a technology platform reaching into services for the first time.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06240" y="228600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219456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team, all three segments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2587752"/>
            <a:ext cx="6842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navigators who manage a post-acute transition also carry your complex chronic panel -- no hand-off between vendors, no gap between programs.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06240" y="374904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365760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 in the game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4050792"/>
            <a:ext cx="6842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economics are tied to enrollment and to the CMS billing revenue we help you capture. When your population is genuinely managed, so is our revenue.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FROM YOU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bring the engine.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bring six things.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only works as a real partnership. We name these upfront because they decide the outcome as much as anything we 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0" y="685800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685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612648"/>
            <a:ext cx="3055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sponsorship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960120"/>
            <a:ext cx="3055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empowered ACO/population health leader who can align primary care, specialty, and finance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84668" y="685800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1" name="Text 9"/>
          <p:cNvSpPr/>
          <p:nvPr/>
        </p:nvSpPr>
        <p:spPr>
          <a:xfrm>
            <a:off x="8084668" y="685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87588" y="612648"/>
            <a:ext cx="3055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Timely data access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87588" y="960120"/>
            <a:ext cx="3055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access to claims, attribution rosters, and care gaps data, under a BAA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06240" y="2121408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09160" y="2048256"/>
            <a:ext cx="3055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cross-functional team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2395728"/>
            <a:ext cx="3055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from primary care, quality, finance, and care management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84668" y="2121408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9" name="Text 17"/>
          <p:cNvSpPr/>
          <p:nvPr/>
        </p:nvSpPr>
        <p:spPr>
          <a:xfrm>
            <a:off x="8084668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87588" y="2048256"/>
            <a:ext cx="3055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Physician engagement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87588" y="2395728"/>
            <a:ext cx="3055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champions willing to act on identification and referral into each segment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06240" y="3557016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09160" y="3483864"/>
            <a:ext cx="3055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to act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09160" y="3831336"/>
            <a:ext cx="3055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governance forum that meets regularly and can decide, not just discuss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84668" y="3557016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27" name="Text 25"/>
          <p:cNvSpPr/>
          <p:nvPr/>
        </p:nvSpPr>
        <p:spPr>
          <a:xfrm>
            <a:off x="8084668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87588" y="3483864"/>
            <a:ext cx="3055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Willingness to change referral habits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87588" y="3831336"/>
            <a:ext cx="3055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Consistent, proactive referral into the program rather than ad hoc use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4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find out what your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is worth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well.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CE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fixed-scope population scan against your own claims and attribution data -- four to six weeks, no long-term commitment. Design-partner slots for this program are limited in year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3108960" cy="685800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343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the Population Scan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contact - direct line - email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59344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- Prepared for discussion purposes - July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Yield Healthcare PMPM Care Management</dc:title>
  <dc:subject>Yield Healthcare PMPM Care Management</dc:subject>
  <dc:creator>PptxGenJS</dc:creator>
  <cp:lastModifiedBy>PptxGenJS</cp:lastModifiedBy>
  <cp:revision>1</cp:revision>
  <dcterms:created xsi:type="dcterms:W3CDTF">2026-08-03T20:44:31Z</dcterms:created>
  <dcterms:modified xsi:type="dcterms:W3CDTF">2026-08-03T20:44:31Z</dcterms:modified>
</cp:coreProperties>
</file>