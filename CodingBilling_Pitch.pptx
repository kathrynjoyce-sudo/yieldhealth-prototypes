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 Coding &amp; Billing line-of-business deck. Present to ACO leadership, ideally an audience already familiar with or currently using our PMPM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STATEMENT — say this plainly and let it sit. Most ACO executives already feel this pain; you're naming it, not introducing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GAPS — coding and billing are separate problems with separate root causes; this slide sets up the next two slides, which offer a distinct solution to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transition into the offering.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 the mechanism slide. This is the answer if anyone asks 'so is this just AI making coding decisions' — no, a person confirms every flag,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CODING SLIDE — emphasize the PMPY pricing choice specifically; it signals to a compliance-minded executive that we're not incentivized to inflate scores. If asked which path is better, say ACO-wide, since the benchmark reflects the whole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BILLING SLIDE — the payments boundary is a trust signal here, not an apology. State it plainly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TABLE — native PowerPoint table; double-click in PowerPoint to adjust once real pilot pricing is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TO SURVIVE AN AUDIT — this is the trust slide. Executives evaluating a coding vendor are thinking about OIG/DOJ exposure whether or not they say so; name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 four phases, left to right. Phase 4 (payments) should be framed as a future option, not a commitment, if asked about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 leave this on screen through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B3A"/>
        </a:solidFill>
      </p:bgPr>
    </p:bg>
    <p:spTree>
      <p:nvGrpSpPr>
        <p:cNvPr id="1" name=""/>
        <p:cNvGrpSpPr/>
        <p:nvPr/>
      </p:nvGrpSpPr>
      <p:grpSpPr>
        <a:xfrm>
          <a:off x="0" y="0"/>
          <a:ext cx="0" cy="0"/>
          <a:chOff x="0" y="0"/>
          <a:chExt cx="0" cy="0"/>
        </a:xfrm>
      </p:grpSpPr>
      <p:sp>
        <p:nvSpPr>
          <p:cNvPr id="2" name="Shape 0"/>
          <p:cNvSpPr/>
          <p:nvPr/>
        </p:nvSpPr>
        <p:spPr>
          <a:xfrm>
            <a:off x="7863840" y="0"/>
            <a:ext cx="4327855" cy="6858000"/>
          </a:xfrm>
          <a:prstGeom prst="rect">
            <a:avLst/>
          </a:prstGeom>
          <a:solidFill>
            <a:srgbClr val="163A2C"/>
          </a:solidFill>
          <a:ln/>
        </p:spPr>
      </p:sp>
      <p:sp>
        <p:nvSpPr>
          <p:cNvPr id="3" name="Text 1"/>
          <p:cNvSpPr/>
          <p:nvPr/>
        </p:nvSpPr>
        <p:spPr>
          <a:xfrm>
            <a:off x="640080" y="548640"/>
            <a:ext cx="2734056" cy="441655"/>
          </a:xfrm>
          <a:prstGeom prst="rect">
            <a:avLst/>
          </a:prstGeom>
          <a:noFill/>
          <a:ln/>
        </p:spPr>
        <p:txBody>
          <a:bodyPr wrap="square" lIns="0" tIns="0" rIns="0" bIns="0" rtlCol="0" anchor="ctr"/>
          <a:lstStyle/>
          <a:p>
            <a:pPr algn="l" indent="0" marL="0">
              <a:buNone/>
            </a:pPr>
            <a:r>
              <a:rPr lang="en-US" sz="2530" b="1" spc="50" kern="0" dirty="0">
                <a:solidFill>
                  <a:srgbClr val="F5F1E8"/>
                </a:solidFill>
                <a:latin typeface="Arial" pitchFamily="34" charset="0"/>
                <a:ea typeface="Arial" pitchFamily="34" charset="-122"/>
                <a:cs typeface="Arial" pitchFamily="34" charset="-120"/>
              </a:rPr>
              <a:t>YIELD</a:t>
            </a:r>
            <a:endParaRPr lang="en-US" sz="2530" dirty="0"/>
          </a:p>
        </p:txBody>
      </p:sp>
      <p:sp>
        <p:nvSpPr>
          <p:cNvPr id="4" name="Shape 2"/>
          <p:cNvSpPr/>
          <p:nvPr/>
        </p:nvSpPr>
        <p:spPr>
          <a:xfrm>
            <a:off x="658368" y="969264"/>
            <a:ext cx="1629918" cy="25603"/>
          </a:xfrm>
          <a:prstGeom prst="rect">
            <a:avLst/>
          </a:prstGeom>
          <a:solidFill>
            <a:srgbClr val="D4A84C"/>
          </a:solidFill>
          <a:ln/>
        </p:spPr>
      </p:sp>
      <p:sp>
        <p:nvSpPr>
          <p:cNvPr id="5" name="Text 3"/>
          <p:cNvSpPr/>
          <p:nvPr/>
        </p:nvSpPr>
        <p:spPr>
          <a:xfrm>
            <a:off x="640080" y="1011326"/>
            <a:ext cx="2734056" cy="273406"/>
          </a:xfrm>
          <a:prstGeom prst="rect">
            <a:avLst/>
          </a:prstGeom>
          <a:noFill/>
          <a:ln/>
        </p:spPr>
        <p:txBody>
          <a:bodyPr wrap="square" lIns="0" tIns="0" rIns="0" bIns="0" rtlCol="0" anchor="ctr"/>
          <a:lstStyle/>
          <a:p>
            <a:pPr algn="l" indent="0" marL="0">
              <a:buNone/>
            </a:pPr>
            <a:r>
              <a:rPr lang="en-US" sz="1093" spc="220" kern="0" dirty="0">
                <a:solidFill>
                  <a:srgbClr val="F5F1E8"/>
                </a:solidFill>
                <a:latin typeface="Arial" pitchFamily="34" charset="0"/>
                <a:ea typeface="Arial" pitchFamily="34" charset="-122"/>
                <a:cs typeface="Arial" pitchFamily="34" charset="-120"/>
              </a:rPr>
              <a:t>HEALTHCARE</a:t>
            </a:r>
            <a:endParaRPr lang="en-US" sz="1093" dirty="0"/>
          </a:p>
        </p:txBody>
      </p:sp>
      <p:sp>
        <p:nvSpPr>
          <p:cNvPr id="6" name="Text 4"/>
          <p:cNvSpPr/>
          <p:nvPr/>
        </p:nvSpPr>
        <p:spPr>
          <a:xfrm>
            <a:off x="640080" y="2286000"/>
            <a:ext cx="6858000" cy="1737360"/>
          </a:xfrm>
          <a:prstGeom prst="rect">
            <a:avLst/>
          </a:prstGeom>
          <a:noFill/>
          <a:ln/>
        </p:spPr>
        <p:txBody>
          <a:bodyPr wrap="square" lIns="0" tIns="0" rIns="0" bIns="0" rtlCol="0" anchor="ctr"/>
          <a:lstStyle/>
          <a:p>
            <a:pPr algn="l" indent="0" marL="0">
              <a:lnSpc>
                <a:spcPct val="110000"/>
              </a:lnSpc>
              <a:buNone/>
            </a:pPr>
            <a:r>
              <a:rPr lang="en-US" sz="3400" b="1" dirty="0">
                <a:solidFill>
                  <a:srgbClr val="FFFFFF"/>
                </a:solidFill>
                <a:latin typeface="Arial" pitchFamily="34" charset="0"/>
                <a:ea typeface="Arial" pitchFamily="34" charset="-122"/>
                <a:cs typeface="Arial" pitchFamily="34" charset="-120"/>
              </a:rPr>
              <a:t>Coding &amp; Billing for Accountable Care Organizations</a:t>
            </a:r>
            <a:endParaRPr lang="en-US" sz="3400" dirty="0"/>
          </a:p>
        </p:txBody>
      </p:sp>
      <p:sp>
        <p:nvSpPr>
          <p:cNvPr id="7" name="Text 5"/>
          <p:cNvSpPr/>
          <p:nvPr/>
        </p:nvSpPr>
        <p:spPr>
          <a:xfrm>
            <a:off x="640080" y="4160520"/>
            <a:ext cx="6766560" cy="457200"/>
          </a:xfrm>
          <a:prstGeom prst="rect">
            <a:avLst/>
          </a:prstGeom>
          <a:noFill/>
          <a:ln/>
        </p:spPr>
        <p:txBody>
          <a:bodyPr wrap="square" lIns="0" tIns="0" rIns="0" bIns="0" rtlCol="0" anchor="ctr"/>
          <a:lstStyle/>
          <a:p>
            <a:pPr algn="l" indent="0" marL="0">
              <a:buNone/>
            </a:pPr>
            <a:r>
              <a:rPr lang="en-US" sz="1500" i="1" dirty="0">
                <a:solidFill>
                  <a:srgbClr val="8FA687"/>
                </a:solidFill>
                <a:latin typeface="Arial" pitchFamily="34" charset="0"/>
                <a:ea typeface="Arial" pitchFamily="34" charset="-122"/>
                <a:cs typeface="Arial" pitchFamily="34" charset="-120"/>
              </a:rPr>
              <a:t>AI-driven, human-verified. Built because our ACO customers asked for it.</a:t>
            </a:r>
            <a:endParaRPr lang="en-US" sz="1500" dirty="0"/>
          </a:p>
        </p:txBody>
      </p:sp>
      <p:sp>
        <p:nvSpPr>
          <p:cNvPr id="8" name="Text 6"/>
          <p:cNvSpPr/>
          <p:nvPr/>
        </p:nvSpPr>
        <p:spPr>
          <a:xfrm>
            <a:off x="640080" y="6035040"/>
            <a:ext cx="5486400" cy="365760"/>
          </a:xfrm>
          <a:prstGeom prst="rect">
            <a:avLst/>
          </a:prstGeom>
          <a:noFill/>
          <a:ln/>
        </p:spPr>
        <p:txBody>
          <a:bodyPr wrap="square" lIns="0" tIns="0" rIns="0" bIns="0" rtlCol="0" anchor="ctr"/>
          <a:lstStyle/>
          <a:p>
            <a:pPr algn="l" indent="0" marL="0">
              <a:buNone/>
            </a:pPr>
            <a:r>
              <a:rPr lang="en-US" sz="1100" dirty="0">
                <a:solidFill>
                  <a:srgbClr val="9FB8AC"/>
                </a:solidFill>
                <a:latin typeface="Arial" pitchFamily="34" charset="0"/>
                <a:ea typeface="Arial" pitchFamily="34" charset="-122"/>
                <a:cs typeface="Arial" pitchFamily="34" charset="-120"/>
              </a:rPr>
              <a:t>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EC"/>
        </a:solidFill>
      </p:bgPr>
    </p:bg>
    <p:spTree>
      <p:nvGrpSpPr>
        <p:cNvPr id="1" name=""/>
        <p:cNvGrpSpPr/>
        <p:nvPr/>
      </p:nvGrpSpPr>
      <p:grpSpPr>
        <a:xfrm>
          <a:off x="0" y="0"/>
          <a:ext cx="0" cy="0"/>
          <a:chOff x="0" y="0"/>
          <a:chExt cx="0" cy="0"/>
        </a:xfrm>
      </p:grpSpPr>
      <p:sp>
        <p:nvSpPr>
          <p:cNvPr id="2" name="Text 0"/>
          <p:cNvSpPr/>
          <p:nvPr/>
        </p:nvSpPr>
        <p:spPr>
          <a:xfrm>
            <a:off x="548640" y="411480"/>
            <a:ext cx="1783080" cy="288036"/>
          </a:xfrm>
          <a:prstGeom prst="rect">
            <a:avLst/>
          </a:prstGeom>
          <a:noFill/>
          <a:ln/>
        </p:spPr>
        <p:txBody>
          <a:bodyPr wrap="square" lIns="0" tIns="0" rIns="0" bIns="0" rtlCol="0" anchor="ctr"/>
          <a:lstStyle/>
          <a:p>
            <a:pPr algn="l" indent="0" marL="0">
              <a:buNone/>
            </a:pPr>
            <a:r>
              <a:rPr lang="en-US" sz="1650" b="1" spc="50" kern="0" dirty="0">
                <a:solidFill>
                  <a:srgbClr val="1E4B3A"/>
                </a:solidFill>
                <a:latin typeface="Arial" pitchFamily="34" charset="0"/>
                <a:ea typeface="Arial" pitchFamily="34" charset="-122"/>
                <a:cs typeface="Arial" pitchFamily="34" charset="-120"/>
              </a:rPr>
              <a:t>YIELD</a:t>
            </a:r>
            <a:endParaRPr lang="en-US" sz="1650" dirty="0"/>
          </a:p>
        </p:txBody>
      </p:sp>
      <p:sp>
        <p:nvSpPr>
          <p:cNvPr id="3" name="Shape 1"/>
          <p:cNvSpPr/>
          <p:nvPr/>
        </p:nvSpPr>
        <p:spPr>
          <a:xfrm>
            <a:off x="566928" y="685800"/>
            <a:ext cx="1062990" cy="25603"/>
          </a:xfrm>
          <a:prstGeom prst="rect">
            <a:avLst/>
          </a:prstGeom>
          <a:solidFill>
            <a:srgbClr val="D4A84C"/>
          </a:solidFill>
          <a:ln/>
        </p:spPr>
      </p:sp>
      <p:sp>
        <p:nvSpPr>
          <p:cNvPr id="4" name="Text 2"/>
          <p:cNvSpPr/>
          <p:nvPr/>
        </p:nvSpPr>
        <p:spPr>
          <a:xfrm>
            <a:off x="548640" y="713232"/>
            <a:ext cx="1783080" cy="178308"/>
          </a:xfrm>
          <a:prstGeom prst="rect">
            <a:avLst/>
          </a:prstGeom>
          <a:noFill/>
          <a:ln/>
        </p:spPr>
        <p:txBody>
          <a:bodyPr wrap="square" lIns="0" tIns="0" rIns="0" bIns="0" rtlCol="0" anchor="ctr"/>
          <a:lstStyle/>
          <a:p>
            <a:pPr algn="l" indent="0" marL="0">
              <a:buNone/>
            </a:pPr>
            <a:r>
              <a:rPr lang="en-US" sz="713" spc="220" kern="0" dirty="0">
                <a:solidFill>
                  <a:srgbClr val="1E4B3A"/>
                </a:solidFill>
                <a:latin typeface="Arial" pitchFamily="34" charset="0"/>
                <a:ea typeface="Arial" pitchFamily="34" charset="-122"/>
                <a:cs typeface="Arial" pitchFamily="34" charset="-120"/>
              </a:rPr>
              <a:t>HEALTHCARE</a:t>
            </a:r>
            <a:endParaRPr lang="en-US" sz="713" dirty="0"/>
          </a:p>
        </p:txBody>
      </p:sp>
      <p:sp>
        <p:nvSpPr>
          <p:cNvPr id="5" name="Shape 3"/>
          <p:cNvSpPr/>
          <p:nvPr/>
        </p:nvSpPr>
        <p:spPr>
          <a:xfrm>
            <a:off x="640080" y="2286000"/>
            <a:ext cx="54864" cy="1920240"/>
          </a:xfrm>
          <a:prstGeom prst="rect">
            <a:avLst/>
          </a:prstGeom>
          <a:solidFill>
            <a:srgbClr val="D4A84C"/>
          </a:solidFill>
          <a:ln/>
        </p:spPr>
      </p:sp>
      <p:sp>
        <p:nvSpPr>
          <p:cNvPr id="6" name="Text 4"/>
          <p:cNvSpPr/>
          <p:nvPr/>
        </p:nvSpPr>
        <p:spPr>
          <a:xfrm>
            <a:off x="1005840" y="2148840"/>
            <a:ext cx="10241280" cy="1005840"/>
          </a:xfrm>
          <a:prstGeom prst="rect">
            <a:avLst/>
          </a:prstGeom>
          <a:noFill/>
          <a:ln/>
        </p:spPr>
        <p:txBody>
          <a:bodyPr wrap="square" lIns="0" tIns="0" rIns="0" bIns="0" rtlCol="0" anchor="ctr"/>
          <a:lstStyle/>
          <a:p>
            <a:pPr indent="0" marL="0">
              <a:lnSpc>
                <a:spcPct val="115000"/>
              </a:lnSpc>
              <a:buNone/>
            </a:pPr>
            <a:r>
              <a:rPr lang="en-US" sz="3000" b="1" dirty="0">
                <a:solidFill>
                  <a:srgbClr val="1E4B3A"/>
                </a:solidFill>
                <a:latin typeface="Arial" pitchFamily="34" charset="0"/>
                <a:ea typeface="Arial" pitchFamily="34" charset="-122"/>
                <a:cs typeface="Arial" pitchFamily="34" charset="-120"/>
              </a:rPr>
              <a:t>Your benchmark is only as accurate as your coding.</a:t>
            </a:r>
            <a:endParaRPr lang="en-US" sz="3000" dirty="0"/>
          </a:p>
        </p:txBody>
      </p:sp>
      <p:sp>
        <p:nvSpPr>
          <p:cNvPr id="7" name="Text 5"/>
          <p:cNvSpPr/>
          <p:nvPr/>
        </p:nvSpPr>
        <p:spPr>
          <a:xfrm>
            <a:off x="1005840" y="3200400"/>
            <a:ext cx="9418320" cy="1554480"/>
          </a:xfrm>
          <a:prstGeom prst="rect">
            <a:avLst/>
          </a:prstGeom>
          <a:noFill/>
          <a:ln/>
        </p:spPr>
        <p:txBody>
          <a:bodyPr wrap="square" lIns="0" tIns="0" rIns="0" bIns="0" rtlCol="0" anchor="ctr"/>
          <a:lstStyle/>
          <a:p>
            <a:pPr indent="0" marL="0">
              <a:lnSpc>
                <a:spcPct val="135000"/>
              </a:lnSpc>
              <a:buNone/>
            </a:pPr>
            <a:r>
              <a:rPr lang="en-US" sz="1450" dirty="0">
                <a:solidFill>
                  <a:srgbClr val="3F3A33"/>
                </a:solidFill>
                <a:latin typeface="Arial" pitchFamily="34" charset="0"/>
                <a:ea typeface="Arial" pitchFamily="34" charset="-122"/>
                <a:cs typeface="Arial" pitchFamily="34" charset="-120"/>
              </a:rPr>
              <a:t>Most ACOs are leaving shared savings on the table because their own practices never had the staff to code for risk the right way, and a retrospective chart audit six months later is too late to fix it. That is not a quality problem. It is a documentation problem, and it is fixable while the note is still open.</a:t>
            </a:r>
            <a:endParaRPr lang="en-US" sz="1450" dirty="0"/>
          </a:p>
        </p:txBody>
      </p:sp>
      <p:sp>
        <p:nvSpPr>
          <p:cNvPr id="8" name="Text 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459"/>
                </a:solidFill>
                <a:latin typeface="Arial" pitchFamily="34" charset="0"/>
                <a:ea typeface="Arial" pitchFamily="34" charset="-122"/>
                <a:cs typeface="Arial" pitchFamily="34" charset="-120"/>
              </a:rPr>
              <a:t>Opening</a:t>
            </a:r>
            <a:endParaRPr lang="en-US" sz="900" dirty="0"/>
          </a:p>
        </p:txBody>
      </p:sp>
      <p:sp>
        <p:nvSpPr>
          <p:cNvPr id="9" name="Text 7"/>
          <p:cNvSpPr/>
          <p:nvPr/>
        </p:nvSpPr>
        <p:spPr>
          <a:xfrm>
            <a:off x="7162495" y="6473952"/>
            <a:ext cx="4572000" cy="274320"/>
          </a:xfrm>
          <a:prstGeom prst="rect">
            <a:avLst/>
          </a:prstGeom>
          <a:noFill/>
          <a:ln/>
        </p:spPr>
        <p:txBody>
          <a:bodyPr wrap="square" lIns="0" tIns="0" rIns="0" bIns="0" rtlCol="0" anchor="ctr"/>
          <a:lstStyle/>
          <a:p>
            <a:pPr algn="r" indent="0" marL="0">
              <a:buNone/>
            </a:pPr>
            <a:r>
              <a:rPr lang="en-US" sz="900" dirty="0">
                <a:solidFill>
                  <a:srgbClr val="6B6459"/>
                </a:solidFill>
                <a:latin typeface="Arial" pitchFamily="34" charset="0"/>
                <a:ea typeface="Arial" pitchFamily="34" charset="-122"/>
                <a:cs typeface="Arial" pitchFamily="34" charset="-120"/>
              </a:rPr>
              <a:t>Yield Healthcare — Coding &amp; Billing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783080" cy="288036"/>
          </a:xfrm>
          <a:prstGeom prst="rect">
            <a:avLst/>
          </a:prstGeom>
          <a:noFill/>
          <a:ln/>
        </p:spPr>
        <p:txBody>
          <a:bodyPr wrap="square" lIns="0" tIns="0" rIns="0" bIns="0" rtlCol="0" anchor="ctr"/>
          <a:lstStyle/>
          <a:p>
            <a:pPr algn="l" indent="0" marL="0">
              <a:buNone/>
            </a:pPr>
            <a:r>
              <a:rPr lang="en-US" sz="1650" b="1" spc="50" kern="0" dirty="0">
                <a:solidFill>
                  <a:srgbClr val="1E4B3A"/>
                </a:solidFill>
                <a:latin typeface="Arial" pitchFamily="34" charset="0"/>
                <a:ea typeface="Arial" pitchFamily="34" charset="-122"/>
                <a:cs typeface="Arial" pitchFamily="34" charset="-120"/>
              </a:rPr>
              <a:t>YIELD</a:t>
            </a:r>
            <a:endParaRPr lang="en-US" sz="1650" dirty="0"/>
          </a:p>
        </p:txBody>
      </p:sp>
      <p:sp>
        <p:nvSpPr>
          <p:cNvPr id="3" name="Shape 1"/>
          <p:cNvSpPr/>
          <p:nvPr/>
        </p:nvSpPr>
        <p:spPr>
          <a:xfrm>
            <a:off x="566928" y="685800"/>
            <a:ext cx="1062990" cy="25603"/>
          </a:xfrm>
          <a:prstGeom prst="rect">
            <a:avLst/>
          </a:prstGeom>
          <a:solidFill>
            <a:srgbClr val="D4A84C"/>
          </a:solidFill>
          <a:ln/>
        </p:spPr>
      </p:sp>
      <p:sp>
        <p:nvSpPr>
          <p:cNvPr id="4" name="Text 2"/>
          <p:cNvSpPr/>
          <p:nvPr/>
        </p:nvSpPr>
        <p:spPr>
          <a:xfrm>
            <a:off x="548640" y="713232"/>
            <a:ext cx="1783080" cy="178308"/>
          </a:xfrm>
          <a:prstGeom prst="rect">
            <a:avLst/>
          </a:prstGeom>
          <a:noFill/>
          <a:ln/>
        </p:spPr>
        <p:txBody>
          <a:bodyPr wrap="square" lIns="0" tIns="0" rIns="0" bIns="0" rtlCol="0" anchor="ctr"/>
          <a:lstStyle/>
          <a:p>
            <a:pPr algn="l" indent="0" marL="0">
              <a:buNone/>
            </a:pPr>
            <a:r>
              <a:rPr lang="en-US" sz="713" spc="220" kern="0" dirty="0">
                <a:solidFill>
                  <a:srgbClr val="1E4B3A"/>
                </a:solidFill>
                <a:latin typeface="Arial" pitchFamily="34" charset="0"/>
                <a:ea typeface="Arial" pitchFamily="34" charset="-122"/>
                <a:cs typeface="Arial" pitchFamily="34" charset="-120"/>
              </a:rPr>
              <a:t>HEALTHCARE</a:t>
            </a:r>
            <a:endParaRPr lang="en-US" sz="713" dirty="0"/>
          </a:p>
        </p:txBody>
      </p:sp>
      <p:sp>
        <p:nvSpPr>
          <p:cNvPr id="5" name="Text 3"/>
          <p:cNvSpPr/>
          <p:nvPr/>
        </p:nvSpPr>
        <p:spPr>
          <a:xfrm>
            <a:off x="548640" y="1051560"/>
            <a:ext cx="8229600" cy="548640"/>
          </a:xfrm>
          <a:prstGeom prst="rect">
            <a:avLst/>
          </a:prstGeom>
          <a:noFill/>
          <a:ln/>
        </p:spPr>
        <p:txBody>
          <a:bodyPr wrap="square" lIns="0" tIns="0" rIns="0" bIns="0" rtlCol="0" anchor="ctr"/>
          <a:lstStyle/>
          <a:p>
            <a:pPr indent="0" marL="0">
              <a:buNone/>
            </a:pPr>
            <a:r>
              <a:rPr lang="en-US" sz="2800" b="1" dirty="0">
                <a:solidFill>
                  <a:srgbClr val="1E4B3A"/>
                </a:solidFill>
                <a:latin typeface="Arial" pitchFamily="34" charset="0"/>
                <a:ea typeface="Arial" pitchFamily="34" charset="-122"/>
                <a:cs typeface="Arial" pitchFamily="34" charset="-120"/>
              </a:rPr>
              <a:t>Two Gaps, One ACO</a:t>
            </a:r>
            <a:endParaRPr lang="en-US" sz="2800" dirty="0"/>
          </a:p>
        </p:txBody>
      </p:sp>
      <p:sp>
        <p:nvSpPr>
          <p:cNvPr id="6" name="Shape 4"/>
          <p:cNvSpPr/>
          <p:nvPr/>
        </p:nvSpPr>
        <p:spPr>
          <a:xfrm>
            <a:off x="548640" y="1874520"/>
            <a:ext cx="5394960" cy="4114800"/>
          </a:xfrm>
          <a:prstGeom prst="roundRect">
            <a:avLst>
              <a:gd name="adj" fmla="val 1778"/>
            </a:avLst>
          </a:prstGeom>
          <a:solidFill>
            <a:srgbClr val="EEF3EC"/>
          </a:solidFill>
          <a:ln/>
        </p:spPr>
      </p:sp>
      <p:sp>
        <p:nvSpPr>
          <p:cNvPr id="7" name="Text 5"/>
          <p:cNvSpPr/>
          <p:nvPr/>
        </p:nvSpPr>
        <p:spPr>
          <a:xfrm>
            <a:off x="868680" y="2148840"/>
            <a:ext cx="4754880" cy="411480"/>
          </a:xfrm>
          <a:prstGeom prst="rect">
            <a:avLst/>
          </a:prstGeom>
          <a:noFill/>
          <a:ln/>
        </p:spPr>
        <p:txBody>
          <a:bodyPr wrap="square" lIns="0" tIns="0" rIns="0" bIns="0" rtlCol="0" anchor="ctr"/>
          <a:lstStyle/>
          <a:p>
            <a:pPr indent="0" marL="0">
              <a:buNone/>
            </a:pPr>
            <a:r>
              <a:rPr lang="en-US" sz="1700" b="1" dirty="0">
                <a:solidFill>
                  <a:srgbClr val="1E4B3A"/>
                </a:solidFill>
                <a:latin typeface="Arial" pitchFamily="34" charset="0"/>
                <a:ea typeface="Arial" pitchFamily="34" charset="-122"/>
                <a:cs typeface="Arial" pitchFamily="34" charset="-120"/>
              </a:rPr>
              <a:t>The Coding Gap</a:t>
            </a:r>
            <a:endParaRPr lang="en-US" sz="1700" dirty="0"/>
          </a:p>
        </p:txBody>
      </p:sp>
      <p:sp>
        <p:nvSpPr>
          <p:cNvPr id="8" name="Text 6"/>
          <p:cNvSpPr/>
          <p:nvPr/>
        </p:nvSpPr>
        <p:spPr>
          <a:xfrm>
            <a:off x="868680" y="2651760"/>
            <a:ext cx="4754880" cy="3108960"/>
          </a:xfrm>
          <a:prstGeom prst="rect">
            <a:avLst/>
          </a:prstGeom>
          <a:noFill/>
          <a:ln/>
        </p:spPr>
        <p:txBody>
          <a:bodyPr wrap="square" lIns="0" tIns="0" rIns="0" bIns="0" rtlCol="0" anchor="ctr"/>
          <a:lstStyle/>
          <a:p>
            <a:pPr indent="0" marL="0">
              <a:lnSpc>
                <a:spcPct val="135000"/>
              </a:lnSpc>
              <a:buNone/>
            </a:pPr>
            <a:r>
              <a:rPr lang="en-US" sz="1300" dirty="0">
                <a:solidFill>
                  <a:srgbClr val="3F3A33"/>
                </a:solidFill>
                <a:latin typeface="Arial" pitchFamily="34" charset="0"/>
                <a:ea typeface="Arial" pitchFamily="34" charset="-122"/>
                <a:cs typeface="Arial" pitchFamily="34" charset="-120"/>
              </a:rPr>
              <a:t>Primary care physicians are trained to treat patients, not to document for risk adjustment. Chronic conditions go uncoded. Benchmarks come in lower than they should, and shared savings shrink with them, even in years where care was genuinely strong.</a:t>
            </a:r>
            <a:endParaRPr lang="en-US" sz="1300" dirty="0"/>
          </a:p>
        </p:txBody>
      </p:sp>
      <p:sp>
        <p:nvSpPr>
          <p:cNvPr id="9" name="Shape 7"/>
          <p:cNvSpPr/>
          <p:nvPr/>
        </p:nvSpPr>
        <p:spPr>
          <a:xfrm>
            <a:off x="6217920" y="1874520"/>
            <a:ext cx="5422392" cy="4114800"/>
          </a:xfrm>
          <a:prstGeom prst="roundRect">
            <a:avLst>
              <a:gd name="adj" fmla="val 1778"/>
            </a:avLst>
          </a:prstGeom>
          <a:solidFill>
            <a:srgbClr val="EEF3EC"/>
          </a:solidFill>
          <a:ln/>
        </p:spPr>
      </p:sp>
      <p:sp>
        <p:nvSpPr>
          <p:cNvPr id="10" name="Text 8"/>
          <p:cNvSpPr/>
          <p:nvPr/>
        </p:nvSpPr>
        <p:spPr>
          <a:xfrm>
            <a:off x="6537960" y="2148840"/>
            <a:ext cx="4754880" cy="411480"/>
          </a:xfrm>
          <a:prstGeom prst="rect">
            <a:avLst/>
          </a:prstGeom>
          <a:noFill/>
          <a:ln/>
        </p:spPr>
        <p:txBody>
          <a:bodyPr wrap="square" lIns="0" tIns="0" rIns="0" bIns="0" rtlCol="0" anchor="ctr"/>
          <a:lstStyle/>
          <a:p>
            <a:pPr indent="0" marL="0">
              <a:buNone/>
            </a:pPr>
            <a:r>
              <a:rPr lang="en-US" sz="1700" b="1" dirty="0">
                <a:solidFill>
                  <a:srgbClr val="1E4B3A"/>
                </a:solidFill>
                <a:latin typeface="Arial" pitchFamily="34" charset="0"/>
                <a:ea typeface="Arial" pitchFamily="34" charset="-122"/>
                <a:cs typeface="Arial" pitchFamily="34" charset="-120"/>
              </a:rPr>
              <a:t>The Billing Gap</a:t>
            </a:r>
            <a:endParaRPr lang="en-US" sz="1700" dirty="0"/>
          </a:p>
        </p:txBody>
      </p:sp>
      <p:sp>
        <p:nvSpPr>
          <p:cNvPr id="11" name="Text 9"/>
          <p:cNvSpPr/>
          <p:nvPr/>
        </p:nvSpPr>
        <p:spPr>
          <a:xfrm>
            <a:off x="6537960" y="2651760"/>
            <a:ext cx="4754880" cy="3108960"/>
          </a:xfrm>
          <a:prstGeom prst="rect">
            <a:avLst/>
          </a:prstGeom>
          <a:noFill/>
          <a:ln/>
        </p:spPr>
        <p:txBody>
          <a:bodyPr wrap="square" lIns="0" tIns="0" rIns="0" bIns="0" rtlCol="0" anchor="ctr"/>
          <a:lstStyle/>
          <a:p>
            <a:pPr indent="0" marL="0">
              <a:lnSpc>
                <a:spcPct val="135000"/>
              </a:lnSpc>
              <a:buNone/>
            </a:pPr>
            <a:r>
              <a:rPr lang="en-US" sz="1300" dirty="0">
                <a:solidFill>
                  <a:srgbClr val="3F3A33"/>
                </a:solidFill>
                <a:latin typeface="Arial" pitchFamily="34" charset="0"/>
                <a:ea typeface="Arial" pitchFamily="34" charset="-122"/>
                <a:cs typeface="Arial" pitchFamily="34" charset="-120"/>
              </a:rPr>
              <a:t>Independent practices inside your network run claims through one or two administrative staff with no dedicated billing tools. Claims get denied or never filed. That is lost revenue that has nothing to do with the quality of care being delivered.</a:t>
            </a:r>
            <a:endParaRPr lang="en-US" sz="1300" dirty="0"/>
          </a:p>
        </p:txBody>
      </p:sp>
      <p:sp>
        <p:nvSpPr>
          <p:cNvPr id="12" name="Text 10"/>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459"/>
                </a:solidFill>
                <a:latin typeface="Arial" pitchFamily="34" charset="0"/>
                <a:ea typeface="Arial" pitchFamily="34" charset="-122"/>
                <a:cs typeface="Arial" pitchFamily="34" charset="-120"/>
              </a:rPr>
              <a:t>The Problem</a:t>
            </a:r>
            <a:endParaRPr lang="en-US" sz="900" dirty="0"/>
          </a:p>
        </p:txBody>
      </p:sp>
      <p:sp>
        <p:nvSpPr>
          <p:cNvPr id="13" name="Text 11"/>
          <p:cNvSpPr/>
          <p:nvPr/>
        </p:nvSpPr>
        <p:spPr>
          <a:xfrm>
            <a:off x="7162495" y="6473952"/>
            <a:ext cx="4572000" cy="274320"/>
          </a:xfrm>
          <a:prstGeom prst="rect">
            <a:avLst/>
          </a:prstGeom>
          <a:noFill/>
          <a:ln/>
        </p:spPr>
        <p:txBody>
          <a:bodyPr wrap="square" lIns="0" tIns="0" rIns="0" bIns="0" rtlCol="0" anchor="ctr"/>
          <a:lstStyle/>
          <a:p>
            <a:pPr algn="r" indent="0" marL="0">
              <a:buNone/>
            </a:pPr>
            <a:r>
              <a:rPr lang="en-US" sz="900" dirty="0">
                <a:solidFill>
                  <a:srgbClr val="6B6459"/>
                </a:solidFill>
                <a:latin typeface="Arial" pitchFamily="34" charset="0"/>
                <a:ea typeface="Arial" pitchFamily="34" charset="-122"/>
                <a:cs typeface="Arial" pitchFamily="34" charset="-120"/>
              </a:rPr>
              <a:t>Yield Healthcare — Coding &amp; Billing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4B3A"/>
        </a:solidFill>
      </p:bgPr>
    </p:bg>
    <p:spTree>
      <p:nvGrpSpPr>
        <p:cNvPr id="1" name=""/>
        <p:cNvGrpSpPr/>
        <p:nvPr/>
      </p:nvGrpSpPr>
      <p:grpSpPr>
        <a:xfrm>
          <a:off x="0" y="0"/>
          <a:ext cx="0" cy="0"/>
          <a:chOff x="0" y="0"/>
          <a:chExt cx="0" cy="0"/>
        </a:xfrm>
      </p:grpSpPr>
      <p:sp>
        <p:nvSpPr>
          <p:cNvPr id="2" name="Text 0"/>
          <p:cNvSpPr/>
          <p:nvPr/>
        </p:nvSpPr>
        <p:spPr>
          <a:xfrm>
            <a:off x="640080" y="457200"/>
            <a:ext cx="2020824" cy="326441"/>
          </a:xfrm>
          <a:prstGeom prst="rect">
            <a:avLst/>
          </a:prstGeom>
          <a:noFill/>
          <a:ln/>
        </p:spPr>
        <p:txBody>
          <a:bodyPr wrap="square" lIns="0" tIns="0" rIns="0" bIns="0" rtlCol="0" anchor="ctr"/>
          <a:lstStyle/>
          <a:p>
            <a:pPr algn="l" indent="0" marL="0">
              <a:buNone/>
            </a:pPr>
            <a:r>
              <a:rPr lang="en-US" sz="1870" b="1" spc="50" kern="0" dirty="0">
                <a:solidFill>
                  <a:srgbClr val="F5F1E8"/>
                </a:solidFill>
                <a:latin typeface="Arial" pitchFamily="34" charset="0"/>
                <a:ea typeface="Arial" pitchFamily="34" charset="-122"/>
                <a:cs typeface="Arial" pitchFamily="34" charset="-120"/>
              </a:rPr>
              <a:t>YIELD</a:t>
            </a:r>
            <a:endParaRPr lang="en-US" sz="1870" dirty="0"/>
          </a:p>
        </p:txBody>
      </p:sp>
      <p:sp>
        <p:nvSpPr>
          <p:cNvPr id="3" name="Shape 1"/>
          <p:cNvSpPr/>
          <p:nvPr/>
        </p:nvSpPr>
        <p:spPr>
          <a:xfrm>
            <a:off x="658368" y="768096"/>
            <a:ext cx="1204722" cy="25603"/>
          </a:xfrm>
          <a:prstGeom prst="rect">
            <a:avLst/>
          </a:prstGeom>
          <a:solidFill>
            <a:srgbClr val="D4A84C"/>
          </a:solidFill>
          <a:ln/>
        </p:spPr>
      </p:sp>
      <p:sp>
        <p:nvSpPr>
          <p:cNvPr id="4" name="Text 2"/>
          <p:cNvSpPr/>
          <p:nvPr/>
        </p:nvSpPr>
        <p:spPr>
          <a:xfrm>
            <a:off x="640080" y="799186"/>
            <a:ext cx="2020824" cy="202082"/>
          </a:xfrm>
          <a:prstGeom prst="rect">
            <a:avLst/>
          </a:prstGeom>
          <a:noFill/>
          <a:ln/>
        </p:spPr>
        <p:txBody>
          <a:bodyPr wrap="square" lIns="0" tIns="0" rIns="0" bIns="0" rtlCol="0" anchor="ctr"/>
          <a:lstStyle/>
          <a:p>
            <a:pPr algn="l" indent="0" marL="0">
              <a:buNone/>
            </a:pPr>
            <a:r>
              <a:rPr lang="en-US" sz="807" spc="220" kern="0" dirty="0">
                <a:solidFill>
                  <a:srgbClr val="F5F1E8"/>
                </a:solidFill>
                <a:latin typeface="Arial" pitchFamily="34" charset="0"/>
                <a:ea typeface="Arial" pitchFamily="34" charset="-122"/>
                <a:cs typeface="Arial" pitchFamily="34" charset="-120"/>
              </a:rPr>
              <a:t>HEALTHCARE</a:t>
            </a:r>
            <a:endParaRPr lang="en-US" sz="807" dirty="0"/>
          </a:p>
        </p:txBody>
      </p:sp>
      <p:sp>
        <p:nvSpPr>
          <p:cNvPr id="5" name="Text 3"/>
          <p:cNvSpPr/>
          <p:nvPr/>
        </p:nvSpPr>
        <p:spPr>
          <a:xfrm>
            <a:off x="640080" y="2926080"/>
            <a:ext cx="822960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What We Do</a:t>
            </a:r>
            <a:endParaRPr lang="en-US" sz="4000" dirty="0"/>
          </a:p>
        </p:txBody>
      </p:sp>
      <p:sp>
        <p:nvSpPr>
          <p:cNvPr id="6" name="Text 4"/>
          <p:cNvSpPr/>
          <p:nvPr/>
        </p:nvSpPr>
        <p:spPr>
          <a:xfrm>
            <a:off x="640080" y="3794760"/>
            <a:ext cx="9601200" cy="640080"/>
          </a:xfrm>
          <a:prstGeom prst="rect">
            <a:avLst/>
          </a:prstGeom>
          <a:noFill/>
          <a:ln/>
        </p:spPr>
        <p:txBody>
          <a:bodyPr wrap="square" lIns="0" tIns="0" rIns="0" bIns="0" rtlCol="0" anchor="ctr"/>
          <a:lstStyle/>
          <a:p>
            <a:pPr indent="0" marL="0">
              <a:lnSpc>
                <a:spcPct val="120000"/>
              </a:lnSpc>
              <a:buNone/>
            </a:pPr>
            <a:r>
              <a:rPr lang="en-US" sz="1500" i="1" dirty="0">
                <a:solidFill>
                  <a:srgbClr val="8FA687"/>
                </a:solidFill>
                <a:latin typeface="Arial" pitchFamily="34" charset="0"/>
                <a:ea typeface="Arial" pitchFamily="34" charset="-122"/>
                <a:cs typeface="Arial" pitchFamily="34" charset="-120"/>
              </a:rPr>
              <a:t>Two AI-driven services, human-verified at every step. Sold separately or together, ACO-wide or practice by practice.</a:t>
            </a:r>
            <a:endParaRPr lang="en-US" sz="1500" dirty="0"/>
          </a:p>
        </p:txBody>
      </p:sp>
      <p:sp>
        <p:nvSpPr>
          <p:cNvPr id="7" name="Text 5"/>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FB8AC"/>
                </a:solidFill>
                <a:latin typeface="Arial" pitchFamily="34" charset="0"/>
                <a:ea typeface="Arial" pitchFamily="34" charset="-122"/>
                <a:cs typeface="Arial" pitchFamily="34" charset="-120"/>
              </a:rPr>
              <a:t>What We Do</a:t>
            </a:r>
            <a:endParaRPr lang="en-US" sz="900" dirty="0"/>
          </a:p>
        </p:txBody>
      </p:sp>
      <p:sp>
        <p:nvSpPr>
          <p:cNvPr id="8" name="Text 6"/>
          <p:cNvSpPr/>
          <p:nvPr/>
        </p:nvSpPr>
        <p:spPr>
          <a:xfrm>
            <a:off x="7162495" y="6473952"/>
            <a:ext cx="4572000" cy="274320"/>
          </a:xfrm>
          <a:prstGeom prst="rect">
            <a:avLst/>
          </a:prstGeom>
          <a:noFill/>
          <a:ln/>
        </p:spPr>
        <p:txBody>
          <a:bodyPr wrap="square" lIns="0" tIns="0" rIns="0" bIns="0" rtlCol="0" anchor="ctr"/>
          <a:lstStyle/>
          <a:p>
            <a:pPr algn="r" indent="0" marL="0">
              <a:buNone/>
            </a:pPr>
            <a:r>
              <a:rPr lang="en-US" sz="900" dirty="0">
                <a:solidFill>
                  <a:srgbClr val="9FB8AC"/>
                </a:solidFill>
                <a:latin typeface="Arial" pitchFamily="34" charset="0"/>
                <a:ea typeface="Arial" pitchFamily="34" charset="-122"/>
                <a:cs typeface="Arial" pitchFamily="34" charset="-120"/>
              </a:rPr>
              <a:t>Yield Healthcare — Coding &amp; Billing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783080" cy="288036"/>
          </a:xfrm>
          <a:prstGeom prst="rect">
            <a:avLst/>
          </a:prstGeom>
          <a:noFill/>
          <a:ln/>
        </p:spPr>
        <p:txBody>
          <a:bodyPr wrap="square" lIns="0" tIns="0" rIns="0" bIns="0" rtlCol="0" anchor="ctr"/>
          <a:lstStyle/>
          <a:p>
            <a:pPr algn="l" indent="0" marL="0">
              <a:buNone/>
            </a:pPr>
            <a:r>
              <a:rPr lang="en-US" sz="1650" b="1" spc="50" kern="0" dirty="0">
                <a:solidFill>
                  <a:srgbClr val="1E4B3A"/>
                </a:solidFill>
                <a:latin typeface="Arial" pitchFamily="34" charset="0"/>
                <a:ea typeface="Arial" pitchFamily="34" charset="-122"/>
                <a:cs typeface="Arial" pitchFamily="34" charset="-120"/>
              </a:rPr>
              <a:t>YIELD</a:t>
            </a:r>
            <a:endParaRPr lang="en-US" sz="1650" dirty="0"/>
          </a:p>
        </p:txBody>
      </p:sp>
      <p:sp>
        <p:nvSpPr>
          <p:cNvPr id="3" name="Shape 1"/>
          <p:cNvSpPr/>
          <p:nvPr/>
        </p:nvSpPr>
        <p:spPr>
          <a:xfrm>
            <a:off x="566928" y="685800"/>
            <a:ext cx="1062990" cy="25603"/>
          </a:xfrm>
          <a:prstGeom prst="rect">
            <a:avLst/>
          </a:prstGeom>
          <a:solidFill>
            <a:srgbClr val="D4A84C"/>
          </a:solidFill>
          <a:ln/>
        </p:spPr>
      </p:sp>
      <p:sp>
        <p:nvSpPr>
          <p:cNvPr id="4" name="Text 2"/>
          <p:cNvSpPr/>
          <p:nvPr/>
        </p:nvSpPr>
        <p:spPr>
          <a:xfrm>
            <a:off x="548640" y="713232"/>
            <a:ext cx="1783080" cy="178308"/>
          </a:xfrm>
          <a:prstGeom prst="rect">
            <a:avLst/>
          </a:prstGeom>
          <a:noFill/>
          <a:ln/>
        </p:spPr>
        <p:txBody>
          <a:bodyPr wrap="square" lIns="0" tIns="0" rIns="0" bIns="0" rtlCol="0" anchor="ctr"/>
          <a:lstStyle/>
          <a:p>
            <a:pPr algn="l" indent="0" marL="0">
              <a:buNone/>
            </a:pPr>
            <a:r>
              <a:rPr lang="en-US" sz="713" spc="220" kern="0" dirty="0">
                <a:solidFill>
                  <a:srgbClr val="1E4B3A"/>
                </a:solidFill>
                <a:latin typeface="Arial" pitchFamily="34" charset="0"/>
                <a:ea typeface="Arial" pitchFamily="34" charset="-122"/>
                <a:cs typeface="Arial" pitchFamily="34" charset="-120"/>
              </a:rPr>
              <a:t>HEALTHCARE</a:t>
            </a:r>
            <a:endParaRPr lang="en-US" sz="713" dirty="0"/>
          </a:p>
        </p:txBody>
      </p:sp>
      <p:sp>
        <p:nvSpPr>
          <p:cNvPr id="5" name="Text 3"/>
          <p:cNvSpPr/>
          <p:nvPr/>
        </p:nvSpPr>
        <p:spPr>
          <a:xfrm>
            <a:off x="548640" y="1051560"/>
            <a:ext cx="8229600" cy="548640"/>
          </a:xfrm>
          <a:prstGeom prst="rect">
            <a:avLst/>
          </a:prstGeom>
          <a:noFill/>
          <a:ln/>
        </p:spPr>
        <p:txBody>
          <a:bodyPr wrap="square" lIns="0" tIns="0" rIns="0" bIns="0" rtlCol="0" anchor="ctr"/>
          <a:lstStyle/>
          <a:p>
            <a:pPr indent="0" marL="0">
              <a:buNone/>
            </a:pPr>
            <a:r>
              <a:rPr lang="en-US" sz="2800" b="1" dirty="0">
                <a:solidFill>
                  <a:srgbClr val="1E4B3A"/>
                </a:solidFill>
                <a:latin typeface="Arial" pitchFamily="34" charset="0"/>
                <a:ea typeface="Arial" pitchFamily="34" charset="-122"/>
                <a:cs typeface="Arial" pitchFamily="34" charset="-120"/>
              </a:rPr>
              <a:t>How It Works</a:t>
            </a:r>
            <a:endParaRPr lang="en-US" sz="2800" dirty="0"/>
          </a:p>
        </p:txBody>
      </p:sp>
      <p:sp>
        <p:nvSpPr>
          <p:cNvPr id="6" name="Text 4"/>
          <p:cNvSpPr/>
          <p:nvPr/>
        </p:nvSpPr>
        <p:spPr>
          <a:xfrm>
            <a:off x="548640" y="1627632"/>
            <a:ext cx="9144000" cy="365760"/>
          </a:xfrm>
          <a:prstGeom prst="rect">
            <a:avLst/>
          </a:prstGeom>
          <a:noFill/>
          <a:ln/>
        </p:spPr>
        <p:txBody>
          <a:bodyPr wrap="square" lIns="0" tIns="0" rIns="0" bIns="0" rtlCol="0" anchor="ctr"/>
          <a:lstStyle/>
          <a:p>
            <a:pPr indent="0" marL="0">
              <a:buNone/>
            </a:pPr>
            <a:r>
              <a:rPr lang="en-US" sz="1350" i="1" dirty="0">
                <a:solidFill>
                  <a:srgbClr val="6B6459"/>
                </a:solidFill>
                <a:latin typeface="Arial" pitchFamily="34" charset="0"/>
                <a:ea typeface="Arial" pitchFamily="34" charset="-122"/>
                <a:cs typeface="Arial" pitchFamily="34" charset="-120"/>
              </a:rPr>
              <a:t>The same workflow underneath both coding and billing.</a:t>
            </a:r>
            <a:endParaRPr lang="en-US" sz="1350" dirty="0"/>
          </a:p>
        </p:txBody>
      </p:sp>
      <p:sp>
        <p:nvSpPr>
          <p:cNvPr id="7" name="Shape 5"/>
          <p:cNvSpPr/>
          <p:nvPr/>
        </p:nvSpPr>
        <p:spPr>
          <a:xfrm>
            <a:off x="1943100" y="2468880"/>
            <a:ext cx="640080" cy="640080"/>
          </a:xfrm>
          <a:prstGeom prst="ellipse">
            <a:avLst/>
          </a:prstGeom>
          <a:solidFill>
            <a:srgbClr val="1E4B3A"/>
          </a:solidFill>
          <a:ln/>
        </p:spPr>
      </p:sp>
      <p:sp>
        <p:nvSpPr>
          <p:cNvPr id="8" name="Text 6"/>
          <p:cNvSpPr/>
          <p:nvPr/>
        </p:nvSpPr>
        <p:spPr>
          <a:xfrm>
            <a:off x="1943100" y="24688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7"/>
          <p:cNvSpPr/>
          <p:nvPr/>
        </p:nvSpPr>
        <p:spPr>
          <a:xfrm>
            <a:off x="4005072" y="2542032"/>
            <a:ext cx="356616" cy="548640"/>
          </a:xfrm>
          <a:prstGeom prst="rect">
            <a:avLst/>
          </a:prstGeom>
          <a:noFill/>
          <a:ln/>
        </p:spPr>
        <p:txBody>
          <a:bodyPr wrap="square" lIns="0" tIns="0" rIns="0" bIns="0" rtlCol="0" anchor="ctr"/>
          <a:lstStyle/>
          <a:p>
            <a:pPr algn="ctr" indent="0" marL="0">
              <a:buNone/>
            </a:pPr>
            <a:r>
              <a:rPr lang="en-US" sz="2200" b="1" dirty="0">
                <a:solidFill>
                  <a:srgbClr val="E5E0D5"/>
                </a:solidFill>
                <a:latin typeface="Arial" pitchFamily="34" charset="0"/>
                <a:ea typeface="Arial" pitchFamily="34" charset="-122"/>
                <a:cs typeface="Arial" pitchFamily="34" charset="-120"/>
              </a:rPr>
              <a:t>→</a:t>
            </a:r>
            <a:endParaRPr lang="en-US" sz="2200" dirty="0"/>
          </a:p>
        </p:txBody>
      </p:sp>
      <p:sp>
        <p:nvSpPr>
          <p:cNvPr id="10" name="Text 8"/>
          <p:cNvSpPr/>
          <p:nvPr/>
        </p:nvSpPr>
        <p:spPr>
          <a:xfrm>
            <a:off x="548640" y="3291840"/>
            <a:ext cx="3429000" cy="411480"/>
          </a:xfrm>
          <a:prstGeom prst="rect">
            <a:avLst/>
          </a:prstGeom>
          <a:noFill/>
          <a:ln/>
        </p:spPr>
        <p:txBody>
          <a:bodyPr wrap="square" lIns="0" tIns="0" rIns="0" bIns="0" rtlCol="0" anchor="ctr"/>
          <a:lstStyle/>
          <a:p>
            <a:pPr algn="ctr" indent="0" marL="0">
              <a:buNone/>
            </a:pPr>
            <a:r>
              <a:rPr lang="en-US" sz="1800" b="1" dirty="0">
                <a:solidFill>
                  <a:srgbClr val="1E4B3A"/>
                </a:solidFill>
                <a:latin typeface="Arial" pitchFamily="34" charset="0"/>
                <a:ea typeface="Arial" pitchFamily="34" charset="-122"/>
                <a:cs typeface="Arial" pitchFamily="34" charset="-120"/>
              </a:rPr>
              <a:t>Capture</a:t>
            </a:r>
            <a:endParaRPr lang="en-US" sz="1800" dirty="0"/>
          </a:p>
        </p:txBody>
      </p:sp>
      <p:sp>
        <p:nvSpPr>
          <p:cNvPr id="11" name="Text 9"/>
          <p:cNvSpPr/>
          <p:nvPr/>
        </p:nvSpPr>
        <p:spPr>
          <a:xfrm>
            <a:off x="548640" y="3749040"/>
            <a:ext cx="3429000" cy="2194560"/>
          </a:xfrm>
          <a:prstGeom prst="rect">
            <a:avLst/>
          </a:prstGeom>
          <a:noFill/>
          <a:ln/>
        </p:spPr>
        <p:txBody>
          <a:bodyPr wrap="square" lIns="0" tIns="0" rIns="0" bIns="0" rtlCol="0" anchor="ctr"/>
          <a:lstStyle/>
          <a:p>
            <a:pPr algn="ctr" indent="0" marL="0">
              <a:lnSpc>
                <a:spcPct val="135000"/>
              </a:lnSpc>
              <a:buNone/>
            </a:pPr>
            <a:r>
              <a:rPr lang="en-US" sz="1200" dirty="0">
                <a:solidFill>
                  <a:srgbClr val="6B6459"/>
                </a:solidFill>
                <a:latin typeface="Arial" pitchFamily="34" charset="0"/>
                <a:ea typeface="Arial" pitchFamily="34" charset="-122"/>
                <a:cs typeface="Arial" pitchFamily="34" charset="-120"/>
              </a:rPr>
              <a:t>AI reads clinical documentation and claims as they're created, and flags undercoded HCC conditions, open quality gaps, or claim errors likely to trigger a denial.</a:t>
            </a:r>
            <a:endParaRPr lang="en-US" sz="1200" dirty="0"/>
          </a:p>
        </p:txBody>
      </p:sp>
      <p:sp>
        <p:nvSpPr>
          <p:cNvPr id="12" name="Shape 10"/>
          <p:cNvSpPr/>
          <p:nvPr/>
        </p:nvSpPr>
        <p:spPr>
          <a:xfrm>
            <a:off x="5783580" y="2468880"/>
            <a:ext cx="640080" cy="640080"/>
          </a:xfrm>
          <a:prstGeom prst="ellipse">
            <a:avLst/>
          </a:prstGeom>
          <a:solidFill>
            <a:srgbClr val="1E4B3A"/>
          </a:solidFill>
          <a:ln/>
        </p:spPr>
      </p:sp>
      <p:sp>
        <p:nvSpPr>
          <p:cNvPr id="13" name="Text 11"/>
          <p:cNvSpPr/>
          <p:nvPr/>
        </p:nvSpPr>
        <p:spPr>
          <a:xfrm>
            <a:off x="5783580" y="24688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4" name="Text 12"/>
          <p:cNvSpPr/>
          <p:nvPr/>
        </p:nvSpPr>
        <p:spPr>
          <a:xfrm>
            <a:off x="7845552" y="2542032"/>
            <a:ext cx="356616" cy="548640"/>
          </a:xfrm>
          <a:prstGeom prst="rect">
            <a:avLst/>
          </a:prstGeom>
          <a:noFill/>
          <a:ln/>
        </p:spPr>
        <p:txBody>
          <a:bodyPr wrap="square" lIns="0" tIns="0" rIns="0" bIns="0" rtlCol="0" anchor="ctr"/>
          <a:lstStyle/>
          <a:p>
            <a:pPr algn="ctr" indent="0" marL="0">
              <a:buNone/>
            </a:pPr>
            <a:r>
              <a:rPr lang="en-US" sz="2200" b="1" dirty="0">
                <a:solidFill>
                  <a:srgbClr val="E5E0D5"/>
                </a:solidFill>
                <a:latin typeface="Arial" pitchFamily="34" charset="0"/>
                <a:ea typeface="Arial" pitchFamily="34" charset="-122"/>
                <a:cs typeface="Arial" pitchFamily="34" charset="-120"/>
              </a:rPr>
              <a:t>→</a:t>
            </a:r>
            <a:endParaRPr lang="en-US" sz="2200" dirty="0"/>
          </a:p>
        </p:txBody>
      </p:sp>
      <p:sp>
        <p:nvSpPr>
          <p:cNvPr id="15" name="Text 13"/>
          <p:cNvSpPr/>
          <p:nvPr/>
        </p:nvSpPr>
        <p:spPr>
          <a:xfrm>
            <a:off x="4389120" y="3291840"/>
            <a:ext cx="3429000" cy="411480"/>
          </a:xfrm>
          <a:prstGeom prst="rect">
            <a:avLst/>
          </a:prstGeom>
          <a:noFill/>
          <a:ln/>
        </p:spPr>
        <p:txBody>
          <a:bodyPr wrap="square" lIns="0" tIns="0" rIns="0" bIns="0" rtlCol="0" anchor="ctr"/>
          <a:lstStyle/>
          <a:p>
            <a:pPr algn="ctr" indent="0" marL="0">
              <a:buNone/>
            </a:pPr>
            <a:r>
              <a:rPr lang="en-US" sz="1800" b="1" dirty="0">
                <a:solidFill>
                  <a:srgbClr val="1E4B3A"/>
                </a:solidFill>
                <a:latin typeface="Arial" pitchFamily="34" charset="0"/>
                <a:ea typeface="Arial" pitchFamily="34" charset="-122"/>
                <a:cs typeface="Arial" pitchFamily="34" charset="-120"/>
              </a:rPr>
              <a:t>Review</a:t>
            </a:r>
            <a:endParaRPr lang="en-US" sz="1800" dirty="0"/>
          </a:p>
        </p:txBody>
      </p:sp>
      <p:sp>
        <p:nvSpPr>
          <p:cNvPr id="16" name="Text 14"/>
          <p:cNvSpPr/>
          <p:nvPr/>
        </p:nvSpPr>
        <p:spPr>
          <a:xfrm>
            <a:off x="4389120" y="3749040"/>
            <a:ext cx="3429000" cy="2194560"/>
          </a:xfrm>
          <a:prstGeom prst="rect">
            <a:avLst/>
          </a:prstGeom>
          <a:noFill/>
          <a:ln/>
        </p:spPr>
        <p:txBody>
          <a:bodyPr wrap="square" lIns="0" tIns="0" rIns="0" bIns="0" rtlCol="0" anchor="ctr"/>
          <a:lstStyle/>
          <a:p>
            <a:pPr algn="ctr" indent="0" marL="0">
              <a:lnSpc>
                <a:spcPct val="135000"/>
              </a:lnSpc>
              <a:buNone/>
            </a:pPr>
            <a:r>
              <a:rPr lang="en-US" sz="1200" dirty="0">
                <a:solidFill>
                  <a:srgbClr val="6B6459"/>
                </a:solidFill>
                <a:latin typeface="Arial" pitchFamily="34" charset="0"/>
                <a:ea typeface="Arial" pitchFamily="34" charset="-122"/>
                <a:cs typeface="Arial" pitchFamily="34" charset="-120"/>
              </a:rPr>
              <a:t>A certified coder or biller reviews every flag before anything is finalized. The AI surfaces candidates; a person decides. No claim or chart is touched by AI alone.</a:t>
            </a:r>
            <a:endParaRPr lang="en-US" sz="1200" dirty="0"/>
          </a:p>
        </p:txBody>
      </p:sp>
      <p:sp>
        <p:nvSpPr>
          <p:cNvPr id="17" name="Shape 15"/>
          <p:cNvSpPr/>
          <p:nvPr/>
        </p:nvSpPr>
        <p:spPr>
          <a:xfrm>
            <a:off x="9624060" y="2468880"/>
            <a:ext cx="640080" cy="640080"/>
          </a:xfrm>
          <a:prstGeom prst="ellipse">
            <a:avLst/>
          </a:prstGeom>
          <a:solidFill>
            <a:srgbClr val="1E4B3A"/>
          </a:solidFill>
          <a:ln/>
        </p:spPr>
      </p:sp>
      <p:sp>
        <p:nvSpPr>
          <p:cNvPr id="18" name="Text 16"/>
          <p:cNvSpPr/>
          <p:nvPr/>
        </p:nvSpPr>
        <p:spPr>
          <a:xfrm>
            <a:off x="9624060" y="24688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9" name="Text 17"/>
          <p:cNvSpPr/>
          <p:nvPr/>
        </p:nvSpPr>
        <p:spPr>
          <a:xfrm>
            <a:off x="8229600" y="3291840"/>
            <a:ext cx="3429000" cy="411480"/>
          </a:xfrm>
          <a:prstGeom prst="rect">
            <a:avLst/>
          </a:prstGeom>
          <a:noFill/>
          <a:ln/>
        </p:spPr>
        <p:txBody>
          <a:bodyPr wrap="square" lIns="0" tIns="0" rIns="0" bIns="0" rtlCol="0" anchor="ctr"/>
          <a:lstStyle/>
          <a:p>
            <a:pPr algn="ctr" indent="0" marL="0">
              <a:buNone/>
            </a:pPr>
            <a:r>
              <a:rPr lang="en-US" sz="1800" b="1" dirty="0">
                <a:solidFill>
                  <a:srgbClr val="1E4B3A"/>
                </a:solidFill>
                <a:latin typeface="Arial" pitchFamily="34" charset="0"/>
                <a:ea typeface="Arial" pitchFamily="34" charset="-122"/>
                <a:cs typeface="Arial" pitchFamily="34" charset="-120"/>
              </a:rPr>
              <a:t>Act</a:t>
            </a:r>
            <a:endParaRPr lang="en-US" sz="1800" dirty="0"/>
          </a:p>
        </p:txBody>
      </p:sp>
      <p:sp>
        <p:nvSpPr>
          <p:cNvPr id="20" name="Text 18"/>
          <p:cNvSpPr/>
          <p:nvPr/>
        </p:nvSpPr>
        <p:spPr>
          <a:xfrm>
            <a:off x="8229600" y="3749040"/>
            <a:ext cx="3429000" cy="2194560"/>
          </a:xfrm>
          <a:prstGeom prst="rect">
            <a:avLst/>
          </a:prstGeom>
          <a:noFill/>
          <a:ln/>
        </p:spPr>
        <p:txBody>
          <a:bodyPr wrap="square" lIns="0" tIns="0" rIns="0" bIns="0" rtlCol="0" anchor="ctr"/>
          <a:lstStyle/>
          <a:p>
            <a:pPr algn="ctr" indent="0" marL="0">
              <a:lnSpc>
                <a:spcPct val="135000"/>
              </a:lnSpc>
              <a:buNone/>
            </a:pPr>
            <a:r>
              <a:rPr lang="en-US" sz="1200" dirty="0">
                <a:solidFill>
                  <a:srgbClr val="6B6459"/>
                </a:solidFill>
                <a:latin typeface="Arial" pitchFamily="34" charset="0"/>
                <a:ea typeface="Arial" pitchFamily="34" charset="-122"/>
                <a:cs typeface="Arial" pitchFamily="34" charset="-120"/>
              </a:rPr>
              <a:t>Physicians get a query while the encounter is still fresh, not in a chart audit months later. Clean claims move to submission the same day they're reviewed.</a:t>
            </a:r>
            <a:endParaRPr lang="en-US" sz="1200" dirty="0"/>
          </a:p>
        </p:txBody>
      </p:sp>
      <p:sp>
        <p:nvSpPr>
          <p:cNvPr id="21" name="Text 19"/>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459"/>
                </a:solidFill>
                <a:latin typeface="Arial" pitchFamily="34" charset="0"/>
                <a:ea typeface="Arial" pitchFamily="34" charset="-122"/>
                <a:cs typeface="Arial" pitchFamily="34" charset="-120"/>
              </a:rPr>
              <a:t>How It Works</a:t>
            </a:r>
            <a:endParaRPr lang="en-US" sz="900" dirty="0"/>
          </a:p>
        </p:txBody>
      </p:sp>
      <p:sp>
        <p:nvSpPr>
          <p:cNvPr id="22" name="Text 20"/>
          <p:cNvSpPr/>
          <p:nvPr/>
        </p:nvSpPr>
        <p:spPr>
          <a:xfrm>
            <a:off x="7162495" y="6473952"/>
            <a:ext cx="4572000" cy="274320"/>
          </a:xfrm>
          <a:prstGeom prst="rect">
            <a:avLst/>
          </a:prstGeom>
          <a:noFill/>
          <a:ln/>
        </p:spPr>
        <p:txBody>
          <a:bodyPr wrap="square" lIns="0" tIns="0" rIns="0" bIns="0" rtlCol="0" anchor="ctr"/>
          <a:lstStyle/>
          <a:p>
            <a:pPr algn="r" indent="0" marL="0">
              <a:buNone/>
            </a:pPr>
            <a:r>
              <a:rPr lang="en-US" sz="900" dirty="0">
                <a:solidFill>
                  <a:srgbClr val="6B6459"/>
                </a:solidFill>
                <a:latin typeface="Arial" pitchFamily="34" charset="0"/>
                <a:ea typeface="Arial" pitchFamily="34" charset="-122"/>
                <a:cs typeface="Arial" pitchFamily="34" charset="-120"/>
              </a:rPr>
              <a:t>Yield Healthcare — Coding &amp; Billing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783080" cy="288036"/>
          </a:xfrm>
          <a:prstGeom prst="rect">
            <a:avLst/>
          </a:prstGeom>
          <a:noFill/>
          <a:ln/>
        </p:spPr>
        <p:txBody>
          <a:bodyPr wrap="square" lIns="0" tIns="0" rIns="0" bIns="0" rtlCol="0" anchor="ctr"/>
          <a:lstStyle/>
          <a:p>
            <a:pPr algn="l" indent="0" marL="0">
              <a:buNone/>
            </a:pPr>
            <a:r>
              <a:rPr lang="en-US" sz="1650" b="1" spc="50" kern="0" dirty="0">
                <a:solidFill>
                  <a:srgbClr val="1E4B3A"/>
                </a:solidFill>
                <a:latin typeface="Arial" pitchFamily="34" charset="0"/>
                <a:ea typeface="Arial" pitchFamily="34" charset="-122"/>
                <a:cs typeface="Arial" pitchFamily="34" charset="-120"/>
              </a:rPr>
              <a:t>YIELD</a:t>
            </a:r>
            <a:endParaRPr lang="en-US" sz="1650" dirty="0"/>
          </a:p>
        </p:txBody>
      </p:sp>
      <p:sp>
        <p:nvSpPr>
          <p:cNvPr id="3" name="Shape 1"/>
          <p:cNvSpPr/>
          <p:nvPr/>
        </p:nvSpPr>
        <p:spPr>
          <a:xfrm>
            <a:off x="566928" y="685800"/>
            <a:ext cx="1062990" cy="25603"/>
          </a:xfrm>
          <a:prstGeom prst="rect">
            <a:avLst/>
          </a:prstGeom>
          <a:solidFill>
            <a:srgbClr val="D4A84C"/>
          </a:solidFill>
          <a:ln/>
        </p:spPr>
      </p:sp>
      <p:sp>
        <p:nvSpPr>
          <p:cNvPr id="4" name="Text 2"/>
          <p:cNvSpPr/>
          <p:nvPr/>
        </p:nvSpPr>
        <p:spPr>
          <a:xfrm>
            <a:off x="548640" y="713232"/>
            <a:ext cx="1783080" cy="178308"/>
          </a:xfrm>
          <a:prstGeom prst="rect">
            <a:avLst/>
          </a:prstGeom>
          <a:noFill/>
          <a:ln/>
        </p:spPr>
        <p:txBody>
          <a:bodyPr wrap="square" lIns="0" tIns="0" rIns="0" bIns="0" rtlCol="0" anchor="ctr"/>
          <a:lstStyle/>
          <a:p>
            <a:pPr algn="l" indent="0" marL="0">
              <a:buNone/>
            </a:pPr>
            <a:r>
              <a:rPr lang="en-US" sz="713" spc="220" kern="0" dirty="0">
                <a:solidFill>
                  <a:srgbClr val="1E4B3A"/>
                </a:solidFill>
                <a:latin typeface="Arial" pitchFamily="34" charset="0"/>
                <a:ea typeface="Arial" pitchFamily="34" charset="-122"/>
                <a:cs typeface="Arial" pitchFamily="34" charset="-120"/>
              </a:rPr>
              <a:t>HEALTHCARE</a:t>
            </a:r>
            <a:endParaRPr lang="en-US" sz="713" dirty="0"/>
          </a:p>
        </p:txBody>
      </p:sp>
      <p:sp>
        <p:nvSpPr>
          <p:cNvPr id="5" name="Text 3"/>
          <p:cNvSpPr/>
          <p:nvPr/>
        </p:nvSpPr>
        <p:spPr>
          <a:xfrm>
            <a:off x="548640" y="1051560"/>
            <a:ext cx="8869680" cy="640080"/>
          </a:xfrm>
          <a:prstGeom prst="rect">
            <a:avLst/>
          </a:prstGeom>
          <a:noFill/>
          <a:ln/>
        </p:spPr>
        <p:txBody>
          <a:bodyPr wrap="square" lIns="0" tIns="0" rIns="0" bIns="0" rtlCol="0" anchor="ctr"/>
          <a:lstStyle/>
          <a:p>
            <a:pPr indent="0" marL="0">
              <a:buNone/>
            </a:pPr>
            <a:r>
              <a:rPr lang="en-US" sz="2300" b="1" dirty="0">
                <a:solidFill>
                  <a:srgbClr val="1E4B3A"/>
                </a:solidFill>
                <a:latin typeface="Arial" pitchFamily="34" charset="0"/>
                <a:ea typeface="Arial" pitchFamily="34" charset="-122"/>
                <a:cs typeface="Arial" pitchFamily="34" charset="-120"/>
              </a:rPr>
              <a:t>Risk-Adjustment Coding &amp; Documentation Support</a:t>
            </a:r>
            <a:endParaRPr lang="en-US" sz="2300" dirty="0"/>
          </a:p>
        </p:txBody>
      </p:sp>
      <p:sp>
        <p:nvSpPr>
          <p:cNvPr id="6" name="Text 4"/>
          <p:cNvSpPr/>
          <p:nvPr/>
        </p:nvSpPr>
        <p:spPr>
          <a:xfrm>
            <a:off x="548640" y="1965960"/>
            <a:ext cx="6309360" cy="4023360"/>
          </a:xfrm>
          <a:prstGeom prst="rect">
            <a:avLst/>
          </a:prstGeom>
          <a:noFill/>
          <a:ln/>
        </p:spPr>
        <p:txBody>
          <a:bodyPr wrap="square" lIns="0" tIns="0" rIns="0" bIns="0" rtlCol="0" anchor="t"/>
          <a:lstStyle/>
          <a:p>
            <a:pPr marL="228600" indent="-228600">
              <a:lnSpc>
                <a:spcPct val="130000"/>
              </a:lnSpc>
              <a:spcAft>
                <a:spcPts val="1800"/>
              </a:spcAft>
              <a:buSzPct val="100000"/>
              <a:buChar char="▪"/>
            </a:pPr>
            <a:r>
              <a:rPr lang="en-US" sz="1400" dirty="0">
                <a:solidFill>
                  <a:srgbClr val="3F3A33"/>
                </a:solidFill>
                <a:latin typeface="Arial" pitchFamily="34" charset="0"/>
                <a:ea typeface="Arial" pitchFamily="34" charset="-122"/>
                <a:cs typeface="Arial" pitchFamily="34" charset="-120"/>
              </a:rPr>
              <a:t>AI reads clinical documentation as it's captured and flags HCC coding gaps in real time, not months later in a retrospective audit.</a:t>
            </a:r>
            <a:endParaRPr lang="en-US" sz="1400" dirty="0"/>
          </a:p>
          <a:p>
            <a:pPr marL="228600" indent="-228600">
              <a:lnSpc>
                <a:spcPct val="130000"/>
              </a:lnSpc>
              <a:spcAft>
                <a:spcPts val="1800"/>
              </a:spcAft>
              <a:buSzPct val="100000"/>
              <a:buChar char="▪"/>
            </a:pPr>
            <a:r>
              <a:rPr lang="en-US" sz="1400" dirty="0">
                <a:solidFill>
                  <a:srgbClr val="3F3A33"/>
                </a:solidFill>
                <a:latin typeface="Arial" pitchFamily="34" charset="0"/>
                <a:ea typeface="Arial" pitchFamily="34" charset="-122"/>
                <a:cs typeface="Arial" pitchFamily="34" charset="-120"/>
              </a:rPr>
              <a:t>Every flag goes to a certified coder before it's finalized. The AI surfaces the gap; a person decides. Not automatic upcoding, and not negotiable.</a:t>
            </a:r>
            <a:endParaRPr lang="en-US" sz="1400" dirty="0"/>
          </a:p>
          <a:p>
            <a:pPr marL="228600" indent="-228600">
              <a:lnSpc>
                <a:spcPct val="130000"/>
              </a:lnSpc>
              <a:spcAft>
                <a:spcPts val="1800"/>
              </a:spcAft>
              <a:buSzPct val="100000"/>
              <a:buChar char="▪"/>
            </a:pPr>
            <a:r>
              <a:rPr lang="en-US" sz="1400" dirty="0">
                <a:solidFill>
                  <a:srgbClr val="3F3A33"/>
                </a:solidFill>
                <a:latin typeface="Arial" pitchFamily="34" charset="0"/>
                <a:ea typeface="Arial" pitchFamily="34" charset="-122"/>
                <a:cs typeface="Arial" pitchFamily="34" charset="-120"/>
              </a:rPr>
              <a:t>Available as a single contract covering your full attributed population, or opt-in practice by practice if your ACO wants to start smaller.</a:t>
            </a:r>
            <a:endParaRPr lang="en-US" sz="1400" dirty="0"/>
          </a:p>
        </p:txBody>
      </p:sp>
      <p:sp>
        <p:nvSpPr>
          <p:cNvPr id="7" name="Shape 5"/>
          <p:cNvSpPr/>
          <p:nvPr/>
        </p:nvSpPr>
        <p:spPr>
          <a:xfrm>
            <a:off x="7223760" y="1965960"/>
            <a:ext cx="4434840" cy="3749040"/>
          </a:xfrm>
          <a:prstGeom prst="roundRect">
            <a:avLst>
              <a:gd name="adj" fmla="val 1951"/>
            </a:avLst>
          </a:prstGeom>
          <a:solidFill>
            <a:srgbClr val="FFFFFF"/>
          </a:solidFill>
          <a:ln w="12700">
            <a:solidFill>
              <a:srgbClr val="E5E0D5"/>
            </a:solidFill>
            <a:prstDash val="solid"/>
          </a:ln>
        </p:spPr>
      </p:sp>
      <p:sp>
        <p:nvSpPr>
          <p:cNvPr id="8" name="Shape 6"/>
          <p:cNvSpPr/>
          <p:nvPr/>
        </p:nvSpPr>
        <p:spPr>
          <a:xfrm>
            <a:off x="7223760" y="1965960"/>
            <a:ext cx="4434840" cy="54864"/>
          </a:xfrm>
          <a:prstGeom prst="rect">
            <a:avLst/>
          </a:prstGeom>
          <a:solidFill>
            <a:srgbClr val="D4A84C"/>
          </a:solidFill>
          <a:ln/>
        </p:spPr>
      </p:sp>
      <p:sp>
        <p:nvSpPr>
          <p:cNvPr id="9" name="Text 7"/>
          <p:cNvSpPr/>
          <p:nvPr/>
        </p:nvSpPr>
        <p:spPr>
          <a:xfrm>
            <a:off x="7223760" y="2286000"/>
            <a:ext cx="4434840" cy="822960"/>
          </a:xfrm>
          <a:prstGeom prst="rect">
            <a:avLst/>
          </a:prstGeom>
          <a:noFill/>
          <a:ln/>
        </p:spPr>
        <p:txBody>
          <a:bodyPr wrap="square" lIns="0" tIns="0" rIns="0" bIns="0" rtlCol="0" anchor="ctr"/>
          <a:lstStyle/>
          <a:p>
            <a:pPr algn="ctr" indent="0" marL="0">
              <a:buNone/>
            </a:pPr>
            <a:r>
              <a:rPr lang="en-US" sz="3000" b="1" dirty="0">
                <a:solidFill>
                  <a:srgbClr val="1E4B3A"/>
                </a:solidFill>
                <a:latin typeface="Arial" pitchFamily="34" charset="0"/>
                <a:ea typeface="Arial" pitchFamily="34" charset="-122"/>
                <a:cs typeface="Arial" pitchFamily="34" charset="-120"/>
              </a:rPr>
              <a:t>2 Paths</a:t>
            </a:r>
            <a:endParaRPr lang="en-US" sz="3000" dirty="0"/>
          </a:p>
        </p:txBody>
      </p:sp>
      <p:sp>
        <p:nvSpPr>
          <p:cNvPr id="10" name="Text 8"/>
          <p:cNvSpPr/>
          <p:nvPr/>
        </p:nvSpPr>
        <p:spPr>
          <a:xfrm>
            <a:off x="7461504" y="3108960"/>
            <a:ext cx="3959352" cy="2377440"/>
          </a:xfrm>
          <a:prstGeom prst="rect">
            <a:avLst/>
          </a:prstGeom>
          <a:noFill/>
          <a:ln/>
        </p:spPr>
        <p:txBody>
          <a:bodyPr wrap="square" lIns="0" tIns="0" rIns="0" bIns="0" rtlCol="0" anchor="ctr"/>
          <a:lstStyle/>
          <a:p>
            <a:pPr algn="ctr" indent="0" marL="0">
              <a:lnSpc>
                <a:spcPct val="130000"/>
              </a:lnSpc>
              <a:buNone/>
            </a:pPr>
            <a:r>
              <a:rPr lang="en-US" sz="1150" dirty="0">
                <a:solidFill>
                  <a:srgbClr val="6B6459"/>
                </a:solidFill>
                <a:latin typeface="Arial" pitchFamily="34" charset="0"/>
                <a:ea typeface="Arial" pitchFamily="34" charset="-122"/>
                <a:cs typeface="Arial" pitchFamily="34" charset="-120"/>
              </a:rPr>
              <a:t>Contract with your ACO for full-population coverage, or let individual practices opt in on their own. Priced PMPY either way, never on risk-score lift.</a:t>
            </a:r>
            <a:endParaRPr lang="en-US" sz="1150" dirty="0"/>
          </a:p>
        </p:txBody>
      </p:sp>
      <p:sp>
        <p:nvSpPr>
          <p:cNvPr id="11" name="Text 9"/>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459"/>
                </a:solidFill>
                <a:latin typeface="Arial" pitchFamily="34" charset="0"/>
                <a:ea typeface="Arial" pitchFamily="34" charset="-122"/>
                <a:cs typeface="Arial" pitchFamily="34" charset="-120"/>
              </a:rPr>
              <a:t>Coding</a:t>
            </a:r>
            <a:endParaRPr lang="en-US" sz="900" dirty="0"/>
          </a:p>
        </p:txBody>
      </p:sp>
      <p:sp>
        <p:nvSpPr>
          <p:cNvPr id="12" name="Text 10"/>
          <p:cNvSpPr/>
          <p:nvPr/>
        </p:nvSpPr>
        <p:spPr>
          <a:xfrm>
            <a:off x="7162495" y="6473952"/>
            <a:ext cx="4572000" cy="274320"/>
          </a:xfrm>
          <a:prstGeom prst="rect">
            <a:avLst/>
          </a:prstGeom>
          <a:noFill/>
          <a:ln/>
        </p:spPr>
        <p:txBody>
          <a:bodyPr wrap="square" lIns="0" tIns="0" rIns="0" bIns="0" rtlCol="0" anchor="ctr"/>
          <a:lstStyle/>
          <a:p>
            <a:pPr algn="r" indent="0" marL="0">
              <a:buNone/>
            </a:pPr>
            <a:r>
              <a:rPr lang="en-US" sz="900" dirty="0">
                <a:solidFill>
                  <a:srgbClr val="6B6459"/>
                </a:solidFill>
                <a:latin typeface="Arial" pitchFamily="34" charset="0"/>
                <a:ea typeface="Arial" pitchFamily="34" charset="-122"/>
                <a:cs typeface="Arial" pitchFamily="34" charset="-120"/>
              </a:rPr>
              <a:t>Yield Healthcare — Coding &amp; Billing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783080" cy="288036"/>
          </a:xfrm>
          <a:prstGeom prst="rect">
            <a:avLst/>
          </a:prstGeom>
          <a:noFill/>
          <a:ln/>
        </p:spPr>
        <p:txBody>
          <a:bodyPr wrap="square" lIns="0" tIns="0" rIns="0" bIns="0" rtlCol="0" anchor="ctr"/>
          <a:lstStyle/>
          <a:p>
            <a:pPr algn="l" indent="0" marL="0">
              <a:buNone/>
            </a:pPr>
            <a:r>
              <a:rPr lang="en-US" sz="1650" b="1" spc="50" kern="0" dirty="0">
                <a:solidFill>
                  <a:srgbClr val="1E4B3A"/>
                </a:solidFill>
                <a:latin typeface="Arial" pitchFamily="34" charset="0"/>
                <a:ea typeface="Arial" pitchFamily="34" charset="-122"/>
                <a:cs typeface="Arial" pitchFamily="34" charset="-120"/>
              </a:rPr>
              <a:t>YIELD</a:t>
            </a:r>
            <a:endParaRPr lang="en-US" sz="1650" dirty="0"/>
          </a:p>
        </p:txBody>
      </p:sp>
      <p:sp>
        <p:nvSpPr>
          <p:cNvPr id="3" name="Shape 1"/>
          <p:cNvSpPr/>
          <p:nvPr/>
        </p:nvSpPr>
        <p:spPr>
          <a:xfrm>
            <a:off x="566928" y="685800"/>
            <a:ext cx="1062990" cy="25603"/>
          </a:xfrm>
          <a:prstGeom prst="rect">
            <a:avLst/>
          </a:prstGeom>
          <a:solidFill>
            <a:srgbClr val="D4A84C"/>
          </a:solidFill>
          <a:ln/>
        </p:spPr>
      </p:sp>
      <p:sp>
        <p:nvSpPr>
          <p:cNvPr id="4" name="Text 2"/>
          <p:cNvSpPr/>
          <p:nvPr/>
        </p:nvSpPr>
        <p:spPr>
          <a:xfrm>
            <a:off x="548640" y="713232"/>
            <a:ext cx="1783080" cy="178308"/>
          </a:xfrm>
          <a:prstGeom prst="rect">
            <a:avLst/>
          </a:prstGeom>
          <a:noFill/>
          <a:ln/>
        </p:spPr>
        <p:txBody>
          <a:bodyPr wrap="square" lIns="0" tIns="0" rIns="0" bIns="0" rtlCol="0" anchor="ctr"/>
          <a:lstStyle/>
          <a:p>
            <a:pPr algn="l" indent="0" marL="0">
              <a:buNone/>
            </a:pPr>
            <a:r>
              <a:rPr lang="en-US" sz="713" spc="220" kern="0" dirty="0">
                <a:solidFill>
                  <a:srgbClr val="1E4B3A"/>
                </a:solidFill>
                <a:latin typeface="Arial" pitchFamily="34" charset="0"/>
                <a:ea typeface="Arial" pitchFamily="34" charset="-122"/>
                <a:cs typeface="Arial" pitchFamily="34" charset="-120"/>
              </a:rPr>
              <a:t>HEALTHCARE</a:t>
            </a:r>
            <a:endParaRPr lang="en-US" sz="713" dirty="0"/>
          </a:p>
        </p:txBody>
      </p:sp>
      <p:sp>
        <p:nvSpPr>
          <p:cNvPr id="5" name="Text 3"/>
          <p:cNvSpPr/>
          <p:nvPr/>
        </p:nvSpPr>
        <p:spPr>
          <a:xfrm>
            <a:off x="548640" y="1051560"/>
            <a:ext cx="8869680" cy="640080"/>
          </a:xfrm>
          <a:prstGeom prst="rect">
            <a:avLst/>
          </a:prstGeom>
          <a:noFill/>
          <a:ln/>
        </p:spPr>
        <p:txBody>
          <a:bodyPr wrap="square" lIns="0" tIns="0" rIns="0" bIns="0" rtlCol="0" anchor="ctr"/>
          <a:lstStyle/>
          <a:p>
            <a:pPr indent="0" marL="0">
              <a:buNone/>
            </a:pPr>
            <a:r>
              <a:rPr lang="en-US" sz="2300" b="1" dirty="0">
                <a:solidFill>
                  <a:srgbClr val="1E4B3A"/>
                </a:solidFill>
                <a:latin typeface="Arial" pitchFamily="34" charset="0"/>
                <a:ea typeface="Arial" pitchFamily="34" charset="-122"/>
                <a:cs typeface="Arial" pitchFamily="34" charset="-120"/>
              </a:rPr>
              <a:t>Billing &amp; Claims Support</a:t>
            </a:r>
            <a:endParaRPr lang="en-US" sz="2300" dirty="0"/>
          </a:p>
        </p:txBody>
      </p:sp>
      <p:sp>
        <p:nvSpPr>
          <p:cNvPr id="6" name="Text 4"/>
          <p:cNvSpPr/>
          <p:nvPr/>
        </p:nvSpPr>
        <p:spPr>
          <a:xfrm>
            <a:off x="548640" y="1965960"/>
            <a:ext cx="6309360" cy="4023360"/>
          </a:xfrm>
          <a:prstGeom prst="rect">
            <a:avLst/>
          </a:prstGeom>
          <a:noFill/>
          <a:ln/>
        </p:spPr>
        <p:txBody>
          <a:bodyPr wrap="square" lIns="0" tIns="0" rIns="0" bIns="0" rtlCol="0" anchor="t"/>
          <a:lstStyle/>
          <a:p>
            <a:pPr marL="228600" indent="-228600">
              <a:lnSpc>
                <a:spcPct val="130000"/>
              </a:lnSpc>
              <a:spcAft>
                <a:spcPts val="1800"/>
              </a:spcAft>
              <a:buSzPct val="100000"/>
              <a:buChar char="▪"/>
            </a:pPr>
            <a:r>
              <a:rPr lang="en-US" sz="1400" dirty="0">
                <a:solidFill>
                  <a:srgbClr val="3F3A33"/>
                </a:solidFill>
                <a:latin typeface="Arial" pitchFamily="34" charset="0"/>
                <a:ea typeface="Arial" pitchFamily="34" charset="-122"/>
                <a:cs typeface="Arial" pitchFamily="34" charset="-120"/>
              </a:rPr>
              <a:t>AI scrubs every claim before submission, catching the errors that get practices denied, then routes clean claims through a licensed clearinghouse partner.</a:t>
            </a:r>
            <a:endParaRPr lang="en-US" sz="1400" dirty="0"/>
          </a:p>
          <a:p>
            <a:pPr marL="228600" indent="-228600">
              <a:lnSpc>
                <a:spcPct val="130000"/>
              </a:lnSpc>
              <a:spcAft>
                <a:spcPts val="1800"/>
              </a:spcAft>
              <a:buSzPct val="100000"/>
              <a:buChar char="▪"/>
            </a:pPr>
            <a:r>
              <a:rPr lang="en-US" sz="1400" dirty="0">
                <a:solidFill>
                  <a:srgbClr val="3F3A33"/>
                </a:solidFill>
                <a:latin typeface="Arial" pitchFamily="34" charset="0"/>
                <a:ea typeface="Arial" pitchFamily="34" charset="-122"/>
                <a:cs typeface="Arial" pitchFamily="34" charset="-120"/>
              </a:rPr>
              <a:t>Built for the independent practices in your network that don't run their own billing operation and don't have a coding team to lean on.</a:t>
            </a:r>
            <a:endParaRPr lang="en-US" sz="1400" dirty="0"/>
          </a:p>
          <a:p>
            <a:pPr marL="228600" indent="-228600">
              <a:lnSpc>
                <a:spcPct val="130000"/>
              </a:lnSpc>
              <a:spcAft>
                <a:spcPts val="1800"/>
              </a:spcAft>
              <a:buSzPct val="100000"/>
              <a:buChar char="▪"/>
            </a:pPr>
            <a:r>
              <a:rPr lang="en-US" sz="1400" dirty="0">
                <a:solidFill>
                  <a:srgbClr val="3F3A33"/>
                </a:solidFill>
                <a:latin typeface="Arial" pitchFamily="34" charset="0"/>
                <a:ea typeface="Arial" pitchFamily="34" charset="-122"/>
                <a:cs typeface="Arial" pitchFamily="34" charset="-120"/>
              </a:rPr>
              <a:t>Opt-in practice by practice, not an ACO-wide contract. Reimbursement still flows directly to the practice, the same as it does today.</a:t>
            </a:r>
            <a:endParaRPr lang="en-US" sz="1400" dirty="0"/>
          </a:p>
        </p:txBody>
      </p:sp>
      <p:sp>
        <p:nvSpPr>
          <p:cNvPr id="7" name="Shape 5"/>
          <p:cNvSpPr/>
          <p:nvPr/>
        </p:nvSpPr>
        <p:spPr>
          <a:xfrm>
            <a:off x="7223760" y="1965960"/>
            <a:ext cx="4434840" cy="3749040"/>
          </a:xfrm>
          <a:prstGeom prst="roundRect">
            <a:avLst>
              <a:gd name="adj" fmla="val 1951"/>
            </a:avLst>
          </a:prstGeom>
          <a:solidFill>
            <a:srgbClr val="FFFFFF"/>
          </a:solidFill>
          <a:ln w="12700">
            <a:solidFill>
              <a:srgbClr val="E5E0D5"/>
            </a:solidFill>
            <a:prstDash val="solid"/>
          </a:ln>
        </p:spPr>
      </p:sp>
      <p:sp>
        <p:nvSpPr>
          <p:cNvPr id="8" name="Shape 6"/>
          <p:cNvSpPr/>
          <p:nvPr/>
        </p:nvSpPr>
        <p:spPr>
          <a:xfrm>
            <a:off x="7223760" y="1965960"/>
            <a:ext cx="4434840" cy="54864"/>
          </a:xfrm>
          <a:prstGeom prst="rect">
            <a:avLst/>
          </a:prstGeom>
          <a:solidFill>
            <a:srgbClr val="8FA687"/>
          </a:solidFill>
          <a:ln/>
        </p:spPr>
      </p:sp>
      <p:sp>
        <p:nvSpPr>
          <p:cNvPr id="9" name="Text 7"/>
          <p:cNvSpPr/>
          <p:nvPr/>
        </p:nvSpPr>
        <p:spPr>
          <a:xfrm>
            <a:off x="7223760" y="2286000"/>
            <a:ext cx="4434840" cy="822960"/>
          </a:xfrm>
          <a:prstGeom prst="rect">
            <a:avLst/>
          </a:prstGeom>
          <a:noFill/>
          <a:ln/>
        </p:spPr>
        <p:txBody>
          <a:bodyPr wrap="square" lIns="0" tIns="0" rIns="0" bIns="0" rtlCol="0" anchor="ctr"/>
          <a:lstStyle/>
          <a:p>
            <a:pPr algn="ctr" indent="0" marL="0">
              <a:buNone/>
            </a:pPr>
            <a:r>
              <a:rPr lang="en-US" sz="3000" b="1" dirty="0">
                <a:solidFill>
                  <a:srgbClr val="1E4B3A"/>
                </a:solidFill>
                <a:latin typeface="Arial" pitchFamily="34" charset="0"/>
                <a:ea typeface="Arial" pitchFamily="34" charset="-122"/>
                <a:cs typeface="Arial" pitchFamily="34" charset="-120"/>
              </a:rPr>
              <a:t>Payments</a:t>
            </a:r>
            <a:endParaRPr lang="en-US" sz="3000" dirty="0"/>
          </a:p>
        </p:txBody>
      </p:sp>
      <p:sp>
        <p:nvSpPr>
          <p:cNvPr id="10" name="Text 8"/>
          <p:cNvSpPr/>
          <p:nvPr/>
        </p:nvSpPr>
        <p:spPr>
          <a:xfrm>
            <a:off x="7461504" y="3108960"/>
            <a:ext cx="3959352" cy="2377440"/>
          </a:xfrm>
          <a:prstGeom prst="rect">
            <a:avLst/>
          </a:prstGeom>
          <a:noFill/>
          <a:ln/>
        </p:spPr>
        <p:txBody>
          <a:bodyPr wrap="square" lIns="0" tIns="0" rIns="0" bIns="0" rtlCol="0" anchor="ctr"/>
          <a:lstStyle/>
          <a:p>
            <a:pPr algn="ctr" indent="0" marL="0">
              <a:lnSpc>
                <a:spcPct val="130000"/>
              </a:lnSpc>
              <a:buNone/>
            </a:pPr>
            <a:r>
              <a:rPr lang="en-US" sz="1150" dirty="0">
                <a:solidFill>
                  <a:srgbClr val="6B6459"/>
                </a:solidFill>
                <a:latin typeface="Arial" pitchFamily="34" charset="0"/>
                <a:ea typeface="Arial" pitchFamily="34" charset="-122"/>
                <a:cs typeface="Arial" pitchFamily="34" charset="-120"/>
              </a:rPr>
              <a:t>We never accept, hold, or move your money. That's a scope decision, not a gap.</a:t>
            </a:r>
            <a:endParaRPr lang="en-US" sz="1150" dirty="0"/>
          </a:p>
        </p:txBody>
      </p:sp>
      <p:sp>
        <p:nvSpPr>
          <p:cNvPr id="11" name="Text 9"/>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459"/>
                </a:solidFill>
                <a:latin typeface="Arial" pitchFamily="34" charset="0"/>
                <a:ea typeface="Arial" pitchFamily="34" charset="-122"/>
                <a:cs typeface="Arial" pitchFamily="34" charset="-120"/>
              </a:rPr>
              <a:t>Billing</a:t>
            </a:r>
            <a:endParaRPr lang="en-US" sz="900" dirty="0"/>
          </a:p>
        </p:txBody>
      </p:sp>
      <p:sp>
        <p:nvSpPr>
          <p:cNvPr id="12" name="Text 10"/>
          <p:cNvSpPr/>
          <p:nvPr/>
        </p:nvSpPr>
        <p:spPr>
          <a:xfrm>
            <a:off x="7162495" y="6473952"/>
            <a:ext cx="4572000" cy="274320"/>
          </a:xfrm>
          <a:prstGeom prst="rect">
            <a:avLst/>
          </a:prstGeom>
          <a:noFill/>
          <a:ln/>
        </p:spPr>
        <p:txBody>
          <a:bodyPr wrap="square" lIns="0" tIns="0" rIns="0" bIns="0" rtlCol="0" anchor="ctr"/>
          <a:lstStyle/>
          <a:p>
            <a:pPr algn="r" indent="0" marL="0">
              <a:buNone/>
            </a:pPr>
            <a:r>
              <a:rPr lang="en-US" sz="900" dirty="0">
                <a:solidFill>
                  <a:srgbClr val="6B6459"/>
                </a:solidFill>
                <a:latin typeface="Arial" pitchFamily="34" charset="0"/>
                <a:ea typeface="Arial" pitchFamily="34" charset="-122"/>
                <a:cs typeface="Arial" pitchFamily="34" charset="-120"/>
              </a:rPr>
              <a:t>Yield Healthcare — Coding &amp; Billing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783080" cy="288036"/>
          </a:xfrm>
          <a:prstGeom prst="rect">
            <a:avLst/>
          </a:prstGeom>
          <a:noFill/>
          <a:ln/>
        </p:spPr>
        <p:txBody>
          <a:bodyPr wrap="square" lIns="0" tIns="0" rIns="0" bIns="0" rtlCol="0" anchor="ctr"/>
          <a:lstStyle/>
          <a:p>
            <a:pPr algn="l" indent="0" marL="0">
              <a:buNone/>
            </a:pPr>
            <a:r>
              <a:rPr lang="en-US" sz="1650" b="1" spc="50" kern="0" dirty="0">
                <a:solidFill>
                  <a:srgbClr val="1E4B3A"/>
                </a:solidFill>
                <a:latin typeface="Arial" pitchFamily="34" charset="0"/>
                <a:ea typeface="Arial" pitchFamily="34" charset="-122"/>
                <a:cs typeface="Arial" pitchFamily="34" charset="-120"/>
              </a:rPr>
              <a:t>YIELD</a:t>
            </a:r>
            <a:endParaRPr lang="en-US" sz="1650" dirty="0"/>
          </a:p>
        </p:txBody>
      </p:sp>
      <p:sp>
        <p:nvSpPr>
          <p:cNvPr id="3" name="Shape 1"/>
          <p:cNvSpPr/>
          <p:nvPr/>
        </p:nvSpPr>
        <p:spPr>
          <a:xfrm>
            <a:off x="566928" y="685800"/>
            <a:ext cx="1062990" cy="25603"/>
          </a:xfrm>
          <a:prstGeom prst="rect">
            <a:avLst/>
          </a:prstGeom>
          <a:solidFill>
            <a:srgbClr val="D4A84C"/>
          </a:solidFill>
          <a:ln/>
        </p:spPr>
      </p:sp>
      <p:sp>
        <p:nvSpPr>
          <p:cNvPr id="4" name="Text 2"/>
          <p:cNvSpPr/>
          <p:nvPr/>
        </p:nvSpPr>
        <p:spPr>
          <a:xfrm>
            <a:off x="548640" y="713232"/>
            <a:ext cx="1783080" cy="178308"/>
          </a:xfrm>
          <a:prstGeom prst="rect">
            <a:avLst/>
          </a:prstGeom>
          <a:noFill/>
          <a:ln/>
        </p:spPr>
        <p:txBody>
          <a:bodyPr wrap="square" lIns="0" tIns="0" rIns="0" bIns="0" rtlCol="0" anchor="ctr"/>
          <a:lstStyle/>
          <a:p>
            <a:pPr algn="l" indent="0" marL="0">
              <a:buNone/>
            </a:pPr>
            <a:r>
              <a:rPr lang="en-US" sz="713" spc="220" kern="0" dirty="0">
                <a:solidFill>
                  <a:srgbClr val="1E4B3A"/>
                </a:solidFill>
                <a:latin typeface="Arial" pitchFamily="34" charset="0"/>
                <a:ea typeface="Arial" pitchFamily="34" charset="-122"/>
                <a:cs typeface="Arial" pitchFamily="34" charset="-120"/>
              </a:rPr>
              <a:t>HEALTHCARE</a:t>
            </a:r>
            <a:endParaRPr lang="en-US" sz="713" dirty="0"/>
          </a:p>
        </p:txBody>
      </p:sp>
      <p:sp>
        <p:nvSpPr>
          <p:cNvPr id="5" name="Text 3"/>
          <p:cNvSpPr/>
          <p:nvPr/>
        </p:nvSpPr>
        <p:spPr>
          <a:xfrm>
            <a:off x="548640" y="1051560"/>
            <a:ext cx="7315200" cy="548640"/>
          </a:xfrm>
          <a:prstGeom prst="rect">
            <a:avLst/>
          </a:prstGeom>
          <a:noFill/>
          <a:ln/>
        </p:spPr>
        <p:txBody>
          <a:bodyPr wrap="square" lIns="0" tIns="0" rIns="0" bIns="0" rtlCol="0" anchor="ctr"/>
          <a:lstStyle/>
          <a:p>
            <a:pPr indent="0" marL="0">
              <a:buNone/>
            </a:pPr>
            <a:r>
              <a:rPr lang="en-US" sz="2800" b="1" dirty="0">
                <a:solidFill>
                  <a:srgbClr val="1E4B3A"/>
                </a:solidFill>
                <a:latin typeface="Arial" pitchFamily="34" charset="0"/>
                <a:ea typeface="Arial" pitchFamily="34" charset="-122"/>
                <a:cs typeface="Arial" pitchFamily="34" charset="-120"/>
              </a:rPr>
              <a:t>Pricing</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2313432"/>
                <a:gridCol w="4389120"/>
                <a:gridCol w="4389120"/>
              </a:tblGrid>
              <a:tr h="658368">
                <a:tc>
                  <a:txBody>
                    <a:bodyPr/>
                    <a:lstStyle/>
                    <a:p>
                      <a:pPr algn="l" indent="0" marL="0">
                        <a:buNone/>
                      </a:pPr>
                      <a:endParaRPr lang="en-US" sz="1250" dirty="0">
                        <a:latin typeface="Arial" charset="0"/>
                        <a:ea typeface="Arial" charset="0"/>
                        <a:cs typeface="Arial" charset="0"/>
                      </a:endParaRPr>
                    </a:p>
                  </a:txBody>
                  <a:tcPr marL="91440" marR="91440" marT="45720" marB="45720" anchor="ctr">
                    <a:lnL w="9525" cap="flat" cmpd="sng" algn="ctr">
                      <a:solidFill>
                        <a:srgbClr val="E5E0D5"/>
                      </a:solidFill>
                      <a:prstDash val="solid"/>
                      <a:round/>
                      <a:headEnd type="none" w="med" len="med"/>
                      <a:tailEnd type="none" w="med" len="med"/>
                    </a:lnL>
                    <a:lnR w="9525" cap="flat" cmpd="sng" algn="ctr">
                      <a:solidFill>
                        <a:srgbClr val="E5E0D5"/>
                      </a:solidFill>
                      <a:prstDash val="solid"/>
                      <a:round/>
                      <a:headEnd type="none" w="med" len="med"/>
                      <a:tailEnd type="none" w="med" len="med"/>
                    </a:lnR>
                    <a:lnT w="9525" cap="flat" cmpd="sng" algn="ctr">
                      <a:solidFill>
                        <a:srgbClr val="E5E0D5"/>
                      </a:solidFill>
                      <a:prstDash val="solid"/>
                      <a:round/>
                      <a:headEnd type="none" w="med" len="med"/>
                      <a:tailEnd type="none" w="med" len="med"/>
                    </a:lnT>
                    <a:lnB w="9525" cap="flat" cmpd="sng" algn="ctr">
                      <a:solidFill>
                        <a:srgbClr val="E5E0D5"/>
                      </a:solidFill>
                      <a:prstDash val="solid"/>
                      <a:round/>
                      <a:headEnd type="none" w="med" len="med"/>
                      <a:tailEnd type="none" w="med" len="med"/>
                    </a:lnB>
                    <a:solidFill>
                      <a:srgbClr val="1E4B3A"/>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Coding &amp; Documentation</a:t>
                      </a:r>
                      <a:endParaRPr lang="en-US" sz="1250" dirty="0">
                        <a:latin typeface="Arial" charset="0"/>
                        <a:ea typeface="Arial" charset="0"/>
                        <a:cs typeface="Arial" charset="0"/>
                      </a:endParaRPr>
                    </a:p>
                  </a:txBody>
                  <a:tcPr marL="91440" marR="91440" marT="45720" marB="45720" anchor="ctr">
                    <a:lnL w="9525" cap="flat" cmpd="sng" algn="ctr">
                      <a:solidFill>
                        <a:srgbClr val="E5E0D5"/>
                      </a:solidFill>
                      <a:prstDash val="solid"/>
                      <a:round/>
                      <a:headEnd type="none" w="med" len="med"/>
                      <a:tailEnd type="none" w="med" len="med"/>
                    </a:lnL>
                    <a:lnR w="9525" cap="flat" cmpd="sng" algn="ctr">
                      <a:solidFill>
                        <a:srgbClr val="E5E0D5"/>
                      </a:solidFill>
                      <a:prstDash val="solid"/>
                      <a:round/>
                      <a:headEnd type="none" w="med" len="med"/>
                      <a:tailEnd type="none" w="med" len="med"/>
                    </a:lnR>
                    <a:lnT w="9525" cap="flat" cmpd="sng" algn="ctr">
                      <a:solidFill>
                        <a:srgbClr val="E5E0D5"/>
                      </a:solidFill>
                      <a:prstDash val="solid"/>
                      <a:round/>
                      <a:headEnd type="none" w="med" len="med"/>
                      <a:tailEnd type="none" w="med" len="med"/>
                    </a:lnT>
                    <a:lnB w="9525" cap="flat" cmpd="sng" algn="ctr">
                      <a:solidFill>
                        <a:srgbClr val="E5E0D5"/>
                      </a:solidFill>
                      <a:prstDash val="solid"/>
                      <a:round/>
                      <a:headEnd type="none" w="med" len="med"/>
                      <a:tailEnd type="none" w="med" len="med"/>
                    </a:lnB>
                    <a:solidFill>
                      <a:srgbClr val="1E4B3A"/>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Billing &amp; Claims</a:t>
                      </a:r>
                      <a:endParaRPr lang="en-US" sz="1250" dirty="0">
                        <a:latin typeface="Arial" charset="0"/>
                        <a:ea typeface="Arial" charset="0"/>
                        <a:cs typeface="Arial" charset="0"/>
                      </a:endParaRPr>
                    </a:p>
                  </a:txBody>
                  <a:tcPr marL="91440" marR="91440" marT="45720" marB="45720" anchor="ctr">
                    <a:lnL w="9525" cap="flat" cmpd="sng" algn="ctr">
                      <a:solidFill>
                        <a:srgbClr val="E5E0D5"/>
                      </a:solidFill>
                      <a:prstDash val="solid"/>
                      <a:round/>
                      <a:headEnd type="none" w="med" len="med"/>
                      <a:tailEnd type="none" w="med" len="med"/>
                    </a:lnL>
                    <a:lnR w="9525" cap="flat" cmpd="sng" algn="ctr">
                      <a:solidFill>
                        <a:srgbClr val="E5E0D5"/>
                      </a:solidFill>
                      <a:prstDash val="solid"/>
                      <a:round/>
                      <a:headEnd type="none" w="med" len="med"/>
                      <a:tailEnd type="none" w="med" len="med"/>
                    </a:lnR>
                    <a:lnT w="9525" cap="flat" cmpd="sng" algn="ctr">
                      <a:solidFill>
                        <a:srgbClr val="E5E0D5"/>
                      </a:solidFill>
                      <a:prstDash val="solid"/>
                      <a:round/>
                      <a:headEnd type="none" w="med" len="med"/>
                      <a:tailEnd type="none" w="med" len="med"/>
                    </a:lnT>
                    <a:lnB w="9525" cap="flat" cmpd="sng" algn="ctr">
                      <a:solidFill>
                        <a:srgbClr val="E5E0D5"/>
                      </a:solidFill>
                      <a:prstDash val="solid"/>
                      <a:round/>
                      <a:headEnd type="none" w="med" len="med"/>
                      <a:tailEnd type="none" w="med" len="med"/>
                    </a:lnB>
                    <a:solidFill>
                      <a:srgbClr val="1E4B3A"/>
                    </a:solidFill>
                  </a:tcPr>
                </a:tc>
              </a:tr>
              <a:tr h="658368">
                <a:tc>
                  <a:txBody>
                    <a:bodyPr/>
                    <a:lstStyle/>
                    <a:p>
                      <a:pPr indent="0" marL="0">
                        <a:buNone/>
                      </a:pPr>
                      <a:r>
                        <a:rPr lang="en-US" sz="1200" b="1" dirty="0">
                          <a:solidFill>
                            <a:srgbClr val="1E4B3A"/>
                          </a:solidFill>
                          <a:latin typeface="Arial" pitchFamily="34" charset="0"/>
                          <a:ea typeface="Arial" pitchFamily="34" charset="-122"/>
                          <a:cs typeface="Arial" pitchFamily="34" charset="-120"/>
                        </a:rPr>
                        <a:t>Structure</a:t>
                      </a:r>
                      <a:endParaRPr lang="en-US" sz="1200" dirty="0">
                        <a:latin typeface="Arial" charset="0"/>
                        <a:ea typeface="Arial" charset="0"/>
                        <a:cs typeface="Arial" charset="0"/>
                      </a:endParaRPr>
                    </a:p>
                  </a:txBody>
                  <a:tcPr marL="91440" marR="91440" marT="45720" marB="45720" anchor="ctr">
                    <a:lnL w="9525" cap="flat" cmpd="sng" algn="ctr">
                      <a:solidFill>
                        <a:srgbClr val="E5E0D5"/>
                      </a:solidFill>
                      <a:prstDash val="solid"/>
                      <a:round/>
                      <a:headEnd type="none" w="med" len="med"/>
                      <a:tailEnd type="none" w="med" len="med"/>
                    </a:lnL>
                    <a:lnR w="9525" cap="flat" cmpd="sng" algn="ctr">
                      <a:solidFill>
                        <a:srgbClr val="E5E0D5"/>
                      </a:solidFill>
                      <a:prstDash val="solid"/>
                      <a:round/>
                      <a:headEnd type="none" w="med" len="med"/>
                      <a:tailEnd type="none" w="med" len="med"/>
                    </a:lnR>
                    <a:lnT w="9525" cap="flat" cmpd="sng" algn="ctr">
                      <a:solidFill>
                        <a:srgbClr val="E5E0D5"/>
                      </a:solidFill>
                      <a:prstDash val="solid"/>
                      <a:round/>
                      <a:headEnd type="none" w="med" len="med"/>
                      <a:tailEnd type="none" w="med" len="med"/>
                    </a:lnT>
                    <a:lnB w="9525" cap="flat" cmpd="sng" algn="ctr">
                      <a:solidFill>
                        <a:srgbClr val="E5E0D5"/>
                      </a:solidFill>
                      <a:prstDash val="solid"/>
                      <a:round/>
                      <a:headEnd type="none" w="med" len="med"/>
                      <a:tailEnd type="none" w="med" len="med"/>
                    </a:lnB>
                  </a:tcPr>
                </a:tc>
                <a:tc>
                  <a:txBody>
                    <a:bodyPr/>
                    <a:lstStyle/>
                    <a:p>
                      <a:pPr algn="ctr" indent="0" marL="0">
                        <a:buNone/>
                      </a:pPr>
                      <a:r>
                        <a:rPr lang="en-US" sz="1200" dirty="0">
                          <a:solidFill>
                            <a:srgbClr val="3F3A33"/>
                          </a:solidFill>
                          <a:latin typeface="Arial" pitchFamily="34" charset="0"/>
                          <a:ea typeface="Arial" pitchFamily="34" charset="-122"/>
                          <a:cs typeface="Arial" pitchFamily="34" charset="-120"/>
                        </a:rPr>
                        <a:t>PMPY fee, ACO-wide contract or practice opt-in</a:t>
                      </a:r>
                      <a:endParaRPr lang="en-US" sz="1200" dirty="0">
                        <a:latin typeface="Arial" charset="0"/>
                        <a:ea typeface="Arial" charset="0"/>
                        <a:cs typeface="Arial" charset="0"/>
                      </a:endParaRPr>
                    </a:p>
                  </a:txBody>
                  <a:tcPr marL="91440" marR="91440" marT="45720" marB="45720" anchor="ctr">
                    <a:lnL w="9525" cap="flat" cmpd="sng" algn="ctr">
                      <a:solidFill>
                        <a:srgbClr val="E5E0D5"/>
                      </a:solidFill>
                      <a:prstDash val="solid"/>
                      <a:round/>
                      <a:headEnd type="none" w="med" len="med"/>
                      <a:tailEnd type="none" w="med" len="med"/>
                    </a:lnL>
                    <a:lnR w="9525" cap="flat" cmpd="sng" algn="ctr">
                      <a:solidFill>
                        <a:srgbClr val="E5E0D5"/>
                      </a:solidFill>
                      <a:prstDash val="solid"/>
                      <a:round/>
                      <a:headEnd type="none" w="med" len="med"/>
                      <a:tailEnd type="none" w="med" len="med"/>
                    </a:lnR>
                    <a:lnT w="9525" cap="flat" cmpd="sng" algn="ctr">
                      <a:solidFill>
                        <a:srgbClr val="E5E0D5"/>
                      </a:solidFill>
                      <a:prstDash val="solid"/>
                      <a:round/>
                      <a:headEnd type="none" w="med" len="med"/>
                      <a:tailEnd type="none" w="med" len="med"/>
                    </a:lnT>
                    <a:lnB w="9525" cap="flat" cmpd="sng" algn="ctr">
                      <a:solidFill>
                        <a:srgbClr val="E5E0D5"/>
                      </a:solidFill>
                      <a:prstDash val="solid"/>
                      <a:round/>
                      <a:headEnd type="none" w="med" len="med"/>
                      <a:tailEnd type="none" w="med" len="med"/>
                    </a:lnB>
                  </a:tcPr>
                </a:tc>
                <a:tc>
                  <a:txBody>
                    <a:bodyPr/>
                    <a:lstStyle/>
                    <a:p>
                      <a:pPr algn="ctr" indent="0" marL="0">
                        <a:buNone/>
                      </a:pPr>
                      <a:r>
                        <a:rPr lang="en-US" sz="1200" dirty="0">
                          <a:solidFill>
                            <a:srgbClr val="3F3A33"/>
                          </a:solidFill>
                          <a:latin typeface="Arial" pitchFamily="34" charset="0"/>
                          <a:ea typeface="Arial" pitchFamily="34" charset="-122"/>
                          <a:cs typeface="Arial" pitchFamily="34" charset="-120"/>
                        </a:rPr>
                        <a:t>% of collections or flat monthly fee per provider, opt-in</a:t>
                      </a:r>
                      <a:endParaRPr lang="en-US" sz="1200" dirty="0">
                        <a:latin typeface="Arial" charset="0"/>
                        <a:ea typeface="Arial" charset="0"/>
                        <a:cs typeface="Arial" charset="0"/>
                      </a:endParaRPr>
                    </a:p>
                  </a:txBody>
                  <a:tcPr marL="91440" marR="91440" marT="45720" marB="45720" anchor="ctr">
                    <a:lnL w="9525" cap="flat" cmpd="sng" algn="ctr">
                      <a:solidFill>
                        <a:srgbClr val="E5E0D5"/>
                      </a:solidFill>
                      <a:prstDash val="solid"/>
                      <a:round/>
                      <a:headEnd type="none" w="med" len="med"/>
                      <a:tailEnd type="none" w="med" len="med"/>
                    </a:lnL>
                    <a:lnR w="9525" cap="flat" cmpd="sng" algn="ctr">
                      <a:solidFill>
                        <a:srgbClr val="E5E0D5"/>
                      </a:solidFill>
                      <a:prstDash val="solid"/>
                      <a:round/>
                      <a:headEnd type="none" w="med" len="med"/>
                      <a:tailEnd type="none" w="med" len="med"/>
                    </a:lnR>
                    <a:lnT w="9525" cap="flat" cmpd="sng" algn="ctr">
                      <a:solidFill>
                        <a:srgbClr val="E5E0D5"/>
                      </a:solidFill>
                      <a:prstDash val="solid"/>
                      <a:round/>
                      <a:headEnd type="none" w="med" len="med"/>
                      <a:tailEnd type="none" w="med" len="med"/>
                    </a:lnT>
                    <a:lnB w="9525" cap="flat" cmpd="sng" algn="ctr">
                      <a:solidFill>
                        <a:srgbClr val="E5E0D5"/>
                      </a:solidFill>
                      <a:prstDash val="solid"/>
                      <a:round/>
                      <a:headEnd type="none" w="med" len="med"/>
                      <a:tailEnd type="none" w="med" len="med"/>
                    </a:lnB>
                  </a:tcPr>
                </a:tc>
              </a:tr>
              <a:tr h="658368">
                <a:tc>
                  <a:txBody>
                    <a:bodyPr/>
                    <a:lstStyle/>
                    <a:p>
                      <a:pPr indent="0" marL="0">
                        <a:buNone/>
                      </a:pPr>
                      <a:r>
                        <a:rPr lang="en-US" sz="1200" b="1" dirty="0">
                          <a:solidFill>
                            <a:srgbClr val="1E4B3A"/>
                          </a:solidFill>
                          <a:latin typeface="Arial" pitchFamily="34" charset="0"/>
                          <a:ea typeface="Arial" pitchFamily="34" charset="-122"/>
                          <a:cs typeface="Arial" pitchFamily="34" charset="-120"/>
                        </a:rPr>
                        <a:t>Illustrative price</a:t>
                      </a:r>
                      <a:endParaRPr lang="en-US" sz="1200" dirty="0">
                        <a:latin typeface="Arial" charset="0"/>
                        <a:ea typeface="Arial" charset="0"/>
                        <a:cs typeface="Arial" charset="0"/>
                      </a:endParaRPr>
                    </a:p>
                  </a:txBody>
                  <a:tcPr marL="91440" marR="91440" marT="45720" marB="45720" anchor="ctr">
                    <a:lnL w="9525" cap="flat" cmpd="sng" algn="ctr">
                      <a:solidFill>
                        <a:srgbClr val="E5E0D5"/>
                      </a:solidFill>
                      <a:prstDash val="solid"/>
                      <a:round/>
                      <a:headEnd type="none" w="med" len="med"/>
                      <a:tailEnd type="none" w="med" len="med"/>
                    </a:lnL>
                    <a:lnR w="9525" cap="flat" cmpd="sng" algn="ctr">
                      <a:solidFill>
                        <a:srgbClr val="E5E0D5"/>
                      </a:solidFill>
                      <a:prstDash val="solid"/>
                      <a:round/>
                      <a:headEnd type="none" w="med" len="med"/>
                      <a:tailEnd type="none" w="med" len="med"/>
                    </a:lnR>
                    <a:lnT w="9525" cap="flat" cmpd="sng" algn="ctr">
                      <a:solidFill>
                        <a:srgbClr val="E5E0D5"/>
                      </a:solidFill>
                      <a:prstDash val="solid"/>
                      <a:round/>
                      <a:headEnd type="none" w="med" len="med"/>
                      <a:tailEnd type="none" w="med" len="med"/>
                    </a:lnT>
                    <a:lnB w="9525" cap="flat" cmpd="sng" algn="ctr">
                      <a:solidFill>
                        <a:srgbClr val="E5E0D5"/>
                      </a:solidFill>
                      <a:prstDash val="solid"/>
                      <a:round/>
                      <a:headEnd type="none" w="med" len="med"/>
                      <a:tailEnd type="none" w="med" len="med"/>
                    </a:lnB>
                    <a:solidFill>
                      <a:srgbClr val="F2F2F2"/>
                    </a:solidFill>
                  </a:tcPr>
                </a:tc>
                <a:tc>
                  <a:txBody>
                    <a:bodyPr/>
                    <a:lstStyle/>
                    <a:p>
                      <a:pPr algn="ctr" indent="0" marL="0">
                        <a:buNone/>
                      </a:pPr>
                      <a:r>
                        <a:rPr lang="en-US" sz="1150" dirty="0">
                          <a:solidFill>
                            <a:srgbClr val="3F3A33"/>
                          </a:solidFill>
                          <a:latin typeface="Arial" pitchFamily="34" charset="0"/>
                          <a:ea typeface="Arial" pitchFamily="34" charset="-122"/>
                          <a:cs typeface="Arial" pitchFamily="34" charset="-120"/>
                        </a:rPr>
                        <a:t>$6–$9 PMPY (ACO-wide) · $10–$14 PMPY (practice opt-in)</a:t>
                      </a:r>
                      <a:endParaRPr lang="en-US" sz="1150" dirty="0">
                        <a:latin typeface="Arial" charset="0"/>
                        <a:ea typeface="Arial" charset="0"/>
                        <a:cs typeface="Arial" charset="0"/>
                      </a:endParaRPr>
                    </a:p>
                  </a:txBody>
                  <a:tcPr marL="91440" marR="91440" marT="45720" marB="45720" anchor="ctr">
                    <a:lnL w="9525" cap="flat" cmpd="sng" algn="ctr">
                      <a:solidFill>
                        <a:srgbClr val="E5E0D5"/>
                      </a:solidFill>
                      <a:prstDash val="solid"/>
                      <a:round/>
                      <a:headEnd type="none" w="med" len="med"/>
                      <a:tailEnd type="none" w="med" len="med"/>
                    </a:lnL>
                    <a:lnR w="9525" cap="flat" cmpd="sng" algn="ctr">
                      <a:solidFill>
                        <a:srgbClr val="E5E0D5"/>
                      </a:solidFill>
                      <a:prstDash val="solid"/>
                      <a:round/>
                      <a:headEnd type="none" w="med" len="med"/>
                      <a:tailEnd type="none" w="med" len="med"/>
                    </a:lnR>
                    <a:lnT w="9525" cap="flat" cmpd="sng" algn="ctr">
                      <a:solidFill>
                        <a:srgbClr val="E5E0D5"/>
                      </a:solidFill>
                      <a:prstDash val="solid"/>
                      <a:round/>
                      <a:headEnd type="none" w="med" len="med"/>
                      <a:tailEnd type="none" w="med" len="med"/>
                    </a:lnT>
                    <a:lnB w="9525" cap="flat" cmpd="sng" algn="ctr">
                      <a:solidFill>
                        <a:srgbClr val="E5E0D5"/>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F3A33"/>
                          </a:solidFill>
                          <a:latin typeface="Arial" pitchFamily="34" charset="0"/>
                          <a:ea typeface="Arial" pitchFamily="34" charset="-122"/>
                          <a:cs typeface="Arial" pitchFamily="34" charset="-120"/>
                        </a:rPr>
                        <a:t>4–6% of collections, or $450–$650 / provider / month</a:t>
                      </a:r>
                      <a:endParaRPr lang="en-US" sz="1200" dirty="0">
                        <a:latin typeface="Arial" charset="0"/>
                        <a:ea typeface="Arial" charset="0"/>
                        <a:cs typeface="Arial" charset="0"/>
                      </a:endParaRPr>
                    </a:p>
                  </a:txBody>
                  <a:tcPr marL="91440" marR="91440" marT="45720" marB="45720" anchor="ctr">
                    <a:lnL w="9525" cap="flat" cmpd="sng" algn="ctr">
                      <a:solidFill>
                        <a:srgbClr val="E5E0D5"/>
                      </a:solidFill>
                      <a:prstDash val="solid"/>
                      <a:round/>
                      <a:headEnd type="none" w="med" len="med"/>
                      <a:tailEnd type="none" w="med" len="med"/>
                    </a:lnL>
                    <a:lnR w="9525" cap="flat" cmpd="sng" algn="ctr">
                      <a:solidFill>
                        <a:srgbClr val="E5E0D5"/>
                      </a:solidFill>
                      <a:prstDash val="solid"/>
                      <a:round/>
                      <a:headEnd type="none" w="med" len="med"/>
                      <a:tailEnd type="none" w="med" len="med"/>
                    </a:lnR>
                    <a:lnT w="9525" cap="flat" cmpd="sng" algn="ctr">
                      <a:solidFill>
                        <a:srgbClr val="E5E0D5"/>
                      </a:solidFill>
                      <a:prstDash val="solid"/>
                      <a:round/>
                      <a:headEnd type="none" w="med" len="med"/>
                      <a:tailEnd type="none" w="med" len="med"/>
                    </a:lnT>
                    <a:lnB w="9525" cap="flat" cmpd="sng" algn="ctr">
                      <a:solidFill>
                        <a:srgbClr val="E5E0D5"/>
                      </a:solidFill>
                      <a:prstDash val="solid"/>
                      <a:round/>
                      <a:headEnd type="none" w="med" len="med"/>
                      <a:tailEnd type="none" w="med" len="med"/>
                    </a:lnB>
                    <a:solidFill>
                      <a:srgbClr val="F2F2F2"/>
                    </a:solidFill>
                  </a:tcPr>
                </a:tc>
              </a:tr>
              <a:tr h="658368">
                <a:tc>
                  <a:txBody>
                    <a:bodyPr/>
                    <a:lstStyle/>
                    <a:p>
                      <a:pPr indent="0" marL="0">
                        <a:buNone/>
                      </a:pPr>
                      <a:r>
                        <a:rPr lang="en-US" sz="1200" b="1" dirty="0">
                          <a:solidFill>
                            <a:srgbClr val="1E4B3A"/>
                          </a:solidFill>
                          <a:latin typeface="Arial" pitchFamily="34" charset="0"/>
                          <a:ea typeface="Arial" pitchFamily="34" charset="-122"/>
                          <a:cs typeface="Arial" pitchFamily="34" charset="-120"/>
                        </a:rPr>
                        <a:t>Delivery</a:t>
                      </a:r>
                      <a:endParaRPr lang="en-US" sz="1200" dirty="0">
                        <a:latin typeface="Arial" charset="0"/>
                        <a:ea typeface="Arial" charset="0"/>
                        <a:cs typeface="Arial" charset="0"/>
                      </a:endParaRPr>
                    </a:p>
                  </a:txBody>
                  <a:tcPr marL="91440" marR="91440" marT="45720" marB="45720" anchor="ctr">
                    <a:lnL w="9525" cap="flat" cmpd="sng" algn="ctr">
                      <a:solidFill>
                        <a:srgbClr val="E5E0D5"/>
                      </a:solidFill>
                      <a:prstDash val="solid"/>
                      <a:round/>
                      <a:headEnd type="none" w="med" len="med"/>
                      <a:tailEnd type="none" w="med" len="med"/>
                    </a:lnL>
                    <a:lnR w="9525" cap="flat" cmpd="sng" algn="ctr">
                      <a:solidFill>
                        <a:srgbClr val="E5E0D5"/>
                      </a:solidFill>
                      <a:prstDash val="solid"/>
                      <a:round/>
                      <a:headEnd type="none" w="med" len="med"/>
                      <a:tailEnd type="none" w="med" len="med"/>
                    </a:lnR>
                    <a:lnT w="9525" cap="flat" cmpd="sng" algn="ctr">
                      <a:solidFill>
                        <a:srgbClr val="E5E0D5"/>
                      </a:solidFill>
                      <a:prstDash val="solid"/>
                      <a:round/>
                      <a:headEnd type="none" w="med" len="med"/>
                      <a:tailEnd type="none" w="med" len="med"/>
                    </a:lnT>
                    <a:lnB w="9525" cap="flat" cmpd="sng" algn="ctr">
                      <a:solidFill>
                        <a:srgbClr val="E5E0D5"/>
                      </a:solidFill>
                      <a:prstDash val="solid"/>
                      <a:round/>
                      <a:headEnd type="none" w="med" len="med"/>
                      <a:tailEnd type="none" w="med" len="med"/>
                    </a:lnB>
                  </a:tcPr>
                </a:tc>
                <a:tc>
                  <a:txBody>
                    <a:bodyPr/>
                    <a:lstStyle/>
                    <a:p>
                      <a:pPr algn="ctr" indent="0" marL="0">
                        <a:buNone/>
                      </a:pPr>
                      <a:r>
                        <a:rPr lang="en-US" sz="1200" dirty="0">
                          <a:solidFill>
                            <a:srgbClr val="3F3A33"/>
                          </a:solidFill>
                          <a:latin typeface="Arial" pitchFamily="34" charset="0"/>
                          <a:ea typeface="Arial" pitchFamily="34" charset="-122"/>
                          <a:cs typeface="Arial" pitchFamily="34" charset="-120"/>
                        </a:rPr>
                        <a:t>AI-driven review + in-house certified coders</a:t>
                      </a:r>
                      <a:endParaRPr lang="en-US" sz="1200" dirty="0">
                        <a:latin typeface="Arial" charset="0"/>
                        <a:ea typeface="Arial" charset="0"/>
                        <a:cs typeface="Arial" charset="0"/>
                      </a:endParaRPr>
                    </a:p>
                  </a:txBody>
                  <a:tcPr marL="91440" marR="91440" marT="45720" marB="45720" anchor="ctr">
                    <a:lnL w="9525" cap="flat" cmpd="sng" algn="ctr">
                      <a:solidFill>
                        <a:srgbClr val="E5E0D5"/>
                      </a:solidFill>
                      <a:prstDash val="solid"/>
                      <a:round/>
                      <a:headEnd type="none" w="med" len="med"/>
                      <a:tailEnd type="none" w="med" len="med"/>
                    </a:lnL>
                    <a:lnR w="9525" cap="flat" cmpd="sng" algn="ctr">
                      <a:solidFill>
                        <a:srgbClr val="E5E0D5"/>
                      </a:solidFill>
                      <a:prstDash val="solid"/>
                      <a:round/>
                      <a:headEnd type="none" w="med" len="med"/>
                      <a:tailEnd type="none" w="med" len="med"/>
                    </a:lnR>
                    <a:lnT w="9525" cap="flat" cmpd="sng" algn="ctr">
                      <a:solidFill>
                        <a:srgbClr val="E5E0D5"/>
                      </a:solidFill>
                      <a:prstDash val="solid"/>
                      <a:round/>
                      <a:headEnd type="none" w="med" len="med"/>
                      <a:tailEnd type="none" w="med" len="med"/>
                    </a:lnT>
                    <a:lnB w="9525" cap="flat" cmpd="sng" algn="ctr">
                      <a:solidFill>
                        <a:srgbClr val="E5E0D5"/>
                      </a:solidFill>
                      <a:prstDash val="solid"/>
                      <a:round/>
                      <a:headEnd type="none" w="med" len="med"/>
                      <a:tailEnd type="none" w="med" len="med"/>
                    </a:lnB>
                  </a:tcPr>
                </a:tc>
                <a:tc>
                  <a:txBody>
                    <a:bodyPr/>
                    <a:lstStyle/>
                    <a:p>
                      <a:pPr algn="ctr" indent="0" marL="0">
                        <a:buNone/>
                      </a:pPr>
                      <a:r>
                        <a:rPr lang="en-US" sz="1200" dirty="0">
                          <a:solidFill>
                            <a:srgbClr val="3F3A33"/>
                          </a:solidFill>
                          <a:latin typeface="Arial" pitchFamily="34" charset="0"/>
                          <a:ea typeface="Arial" pitchFamily="34" charset="-122"/>
                          <a:cs typeface="Arial" pitchFamily="34" charset="-120"/>
                        </a:rPr>
                        <a:t>AI-driven scrubbing + licensed billing partner</a:t>
                      </a:r>
                      <a:endParaRPr lang="en-US" sz="1200" dirty="0">
                        <a:latin typeface="Arial" charset="0"/>
                        <a:ea typeface="Arial" charset="0"/>
                        <a:cs typeface="Arial" charset="0"/>
                      </a:endParaRPr>
                    </a:p>
                  </a:txBody>
                  <a:tcPr marL="91440" marR="91440" marT="45720" marB="45720" anchor="ctr">
                    <a:lnL w="9525" cap="flat" cmpd="sng" algn="ctr">
                      <a:solidFill>
                        <a:srgbClr val="E5E0D5"/>
                      </a:solidFill>
                      <a:prstDash val="solid"/>
                      <a:round/>
                      <a:headEnd type="none" w="med" len="med"/>
                      <a:tailEnd type="none" w="med" len="med"/>
                    </a:lnL>
                    <a:lnR w="9525" cap="flat" cmpd="sng" algn="ctr">
                      <a:solidFill>
                        <a:srgbClr val="E5E0D5"/>
                      </a:solidFill>
                      <a:prstDash val="solid"/>
                      <a:round/>
                      <a:headEnd type="none" w="med" len="med"/>
                      <a:tailEnd type="none" w="med" len="med"/>
                    </a:lnR>
                    <a:lnT w="9525" cap="flat" cmpd="sng" algn="ctr">
                      <a:solidFill>
                        <a:srgbClr val="E5E0D5"/>
                      </a:solidFill>
                      <a:prstDash val="solid"/>
                      <a:round/>
                      <a:headEnd type="none" w="med" len="med"/>
                      <a:tailEnd type="none" w="med" len="med"/>
                    </a:lnT>
                    <a:lnB w="9525" cap="flat" cmpd="sng" algn="ctr">
                      <a:solidFill>
                        <a:srgbClr val="E5E0D5"/>
                      </a:solidFill>
                      <a:prstDash val="solid"/>
                      <a:round/>
                      <a:headEnd type="none" w="med" len="med"/>
                      <a:tailEnd type="none" w="med" len="med"/>
                    </a:lnB>
                  </a:tcPr>
                </a:tc>
              </a:tr>
              <a:tr h="658368">
                <a:tc>
                  <a:txBody>
                    <a:bodyPr/>
                    <a:lstStyle/>
                    <a:p>
                      <a:pPr indent="0" marL="0">
                        <a:buNone/>
                      </a:pPr>
                      <a:r>
                        <a:rPr lang="en-US" sz="1200" b="1" dirty="0">
                          <a:solidFill>
                            <a:srgbClr val="1E4B3A"/>
                          </a:solidFill>
                          <a:latin typeface="Arial" pitchFamily="34" charset="0"/>
                          <a:ea typeface="Arial" pitchFamily="34" charset="-122"/>
                          <a:cs typeface="Arial" pitchFamily="34" charset="-120"/>
                        </a:rPr>
                        <a:t>Sold to</a:t>
                      </a:r>
                      <a:endParaRPr lang="en-US" sz="1200" dirty="0">
                        <a:latin typeface="Arial" charset="0"/>
                        <a:ea typeface="Arial" charset="0"/>
                        <a:cs typeface="Arial" charset="0"/>
                      </a:endParaRPr>
                    </a:p>
                  </a:txBody>
                  <a:tcPr marL="91440" marR="91440" marT="45720" marB="45720" anchor="ctr">
                    <a:lnL w="9525" cap="flat" cmpd="sng" algn="ctr">
                      <a:solidFill>
                        <a:srgbClr val="E5E0D5"/>
                      </a:solidFill>
                      <a:prstDash val="solid"/>
                      <a:round/>
                      <a:headEnd type="none" w="med" len="med"/>
                      <a:tailEnd type="none" w="med" len="med"/>
                    </a:lnL>
                    <a:lnR w="9525" cap="flat" cmpd="sng" algn="ctr">
                      <a:solidFill>
                        <a:srgbClr val="E5E0D5"/>
                      </a:solidFill>
                      <a:prstDash val="solid"/>
                      <a:round/>
                      <a:headEnd type="none" w="med" len="med"/>
                      <a:tailEnd type="none" w="med" len="med"/>
                    </a:lnR>
                    <a:lnT w="9525" cap="flat" cmpd="sng" algn="ctr">
                      <a:solidFill>
                        <a:srgbClr val="E5E0D5"/>
                      </a:solidFill>
                      <a:prstDash val="solid"/>
                      <a:round/>
                      <a:headEnd type="none" w="med" len="med"/>
                      <a:tailEnd type="none" w="med" len="med"/>
                    </a:lnT>
                    <a:lnB w="9525" cap="flat" cmpd="sng" algn="ctr">
                      <a:solidFill>
                        <a:srgbClr val="E5E0D5"/>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F3A33"/>
                          </a:solidFill>
                          <a:latin typeface="Arial" pitchFamily="34" charset="0"/>
                          <a:ea typeface="Arial" pitchFamily="34" charset="-122"/>
                          <a:cs typeface="Arial" pitchFamily="34" charset="-120"/>
                        </a:rPr>
                        <a:t>Your ACO, or individual practices directly</a:t>
                      </a:r>
                      <a:endParaRPr lang="en-US" sz="1200" dirty="0">
                        <a:latin typeface="Arial" charset="0"/>
                        <a:ea typeface="Arial" charset="0"/>
                        <a:cs typeface="Arial" charset="0"/>
                      </a:endParaRPr>
                    </a:p>
                  </a:txBody>
                  <a:tcPr marL="91440" marR="91440" marT="45720" marB="45720" anchor="ctr">
                    <a:lnL w="9525" cap="flat" cmpd="sng" algn="ctr">
                      <a:solidFill>
                        <a:srgbClr val="E5E0D5"/>
                      </a:solidFill>
                      <a:prstDash val="solid"/>
                      <a:round/>
                      <a:headEnd type="none" w="med" len="med"/>
                      <a:tailEnd type="none" w="med" len="med"/>
                    </a:lnL>
                    <a:lnR w="9525" cap="flat" cmpd="sng" algn="ctr">
                      <a:solidFill>
                        <a:srgbClr val="E5E0D5"/>
                      </a:solidFill>
                      <a:prstDash val="solid"/>
                      <a:round/>
                      <a:headEnd type="none" w="med" len="med"/>
                      <a:tailEnd type="none" w="med" len="med"/>
                    </a:lnR>
                    <a:lnT w="9525" cap="flat" cmpd="sng" algn="ctr">
                      <a:solidFill>
                        <a:srgbClr val="E5E0D5"/>
                      </a:solidFill>
                      <a:prstDash val="solid"/>
                      <a:round/>
                      <a:headEnd type="none" w="med" len="med"/>
                      <a:tailEnd type="none" w="med" len="med"/>
                    </a:lnT>
                    <a:lnB w="9525" cap="flat" cmpd="sng" algn="ctr">
                      <a:solidFill>
                        <a:srgbClr val="E5E0D5"/>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3F3A33"/>
                          </a:solidFill>
                          <a:latin typeface="Arial" pitchFamily="34" charset="0"/>
                          <a:ea typeface="Arial" pitchFamily="34" charset="-122"/>
                          <a:cs typeface="Arial" pitchFamily="34" charset="-120"/>
                        </a:rPr>
                        <a:t>Your participating practices, through you</a:t>
                      </a:r>
                      <a:endParaRPr lang="en-US" sz="1200" dirty="0">
                        <a:latin typeface="Arial" charset="0"/>
                        <a:ea typeface="Arial" charset="0"/>
                        <a:cs typeface="Arial" charset="0"/>
                      </a:endParaRPr>
                    </a:p>
                  </a:txBody>
                  <a:tcPr marL="91440" marR="91440" marT="45720" marB="45720" anchor="ctr">
                    <a:lnL w="9525" cap="flat" cmpd="sng" algn="ctr">
                      <a:solidFill>
                        <a:srgbClr val="E5E0D5"/>
                      </a:solidFill>
                      <a:prstDash val="solid"/>
                      <a:round/>
                      <a:headEnd type="none" w="med" len="med"/>
                      <a:tailEnd type="none" w="med" len="med"/>
                    </a:lnL>
                    <a:lnR w="9525" cap="flat" cmpd="sng" algn="ctr">
                      <a:solidFill>
                        <a:srgbClr val="E5E0D5"/>
                      </a:solidFill>
                      <a:prstDash val="solid"/>
                      <a:round/>
                      <a:headEnd type="none" w="med" len="med"/>
                      <a:tailEnd type="none" w="med" len="med"/>
                    </a:lnR>
                    <a:lnT w="9525" cap="flat" cmpd="sng" algn="ctr">
                      <a:solidFill>
                        <a:srgbClr val="E5E0D5"/>
                      </a:solidFill>
                      <a:prstDash val="solid"/>
                      <a:round/>
                      <a:headEnd type="none" w="med" len="med"/>
                      <a:tailEnd type="none" w="med" len="med"/>
                    </a:lnT>
                    <a:lnB w="9525" cap="flat" cmpd="sng" algn="ctr">
                      <a:solidFill>
                        <a:srgbClr val="E5E0D5"/>
                      </a:solidFill>
                      <a:prstDash val="solid"/>
                      <a:round/>
                      <a:headEnd type="none" w="med" len="med"/>
                      <a:tailEnd type="none" w="med" len="med"/>
                    </a:lnB>
                    <a:solidFill>
                      <a:srgbClr val="F2F2F2"/>
                    </a:solidFill>
                  </a:tcPr>
                </a:tc>
              </a:tr>
            </a:tbl>
          </a:graphicData>
        </a:graphic>
      </p:graphicFrame>
      <p:sp>
        <p:nvSpPr>
          <p:cNvPr id="7" name="Text 4"/>
          <p:cNvSpPr/>
          <p:nvPr/>
        </p:nvSpPr>
        <p:spPr>
          <a:xfrm>
            <a:off x="548640" y="5943600"/>
            <a:ext cx="10058400" cy="365760"/>
          </a:xfrm>
          <a:prstGeom prst="rect">
            <a:avLst/>
          </a:prstGeom>
          <a:noFill/>
          <a:ln/>
        </p:spPr>
        <p:txBody>
          <a:bodyPr wrap="square" lIns="0" tIns="0" rIns="0" bIns="0" rtlCol="0" anchor="ctr"/>
          <a:lstStyle/>
          <a:p>
            <a:pPr indent="0" marL="0">
              <a:buNone/>
            </a:pPr>
            <a:r>
              <a:rPr lang="en-US" sz="1000" i="1" dirty="0">
                <a:solidFill>
                  <a:srgbClr val="6B6459"/>
                </a:solidFill>
                <a:latin typeface="Arial" pitchFamily="34" charset="0"/>
                <a:ea typeface="Arial" pitchFamily="34" charset="-122"/>
                <a:cs typeface="Arial" pitchFamily="34" charset="-120"/>
              </a:rPr>
              <a:t>Figures are Yield Healthcare planning estimates, refined once pilot ACO contracts are in place.</a:t>
            </a:r>
            <a:endParaRPr lang="en-US" sz="1000" dirty="0"/>
          </a:p>
        </p:txBody>
      </p:sp>
      <p:sp>
        <p:nvSpPr>
          <p:cNvPr id="8" name="Text 5"/>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459"/>
                </a:solidFill>
                <a:latin typeface="Arial" pitchFamily="34" charset="0"/>
                <a:ea typeface="Arial" pitchFamily="34" charset="-122"/>
                <a:cs typeface="Arial" pitchFamily="34" charset="-120"/>
              </a:rPr>
              <a:t>Pricing</a:t>
            </a:r>
            <a:endParaRPr lang="en-US" sz="900" dirty="0"/>
          </a:p>
        </p:txBody>
      </p:sp>
      <p:sp>
        <p:nvSpPr>
          <p:cNvPr id="9" name="Text 6"/>
          <p:cNvSpPr/>
          <p:nvPr/>
        </p:nvSpPr>
        <p:spPr>
          <a:xfrm>
            <a:off x="7162495" y="6473952"/>
            <a:ext cx="4572000" cy="274320"/>
          </a:xfrm>
          <a:prstGeom prst="rect">
            <a:avLst/>
          </a:prstGeom>
          <a:noFill/>
          <a:ln/>
        </p:spPr>
        <p:txBody>
          <a:bodyPr wrap="square" lIns="0" tIns="0" rIns="0" bIns="0" rtlCol="0" anchor="ctr"/>
          <a:lstStyle/>
          <a:p>
            <a:pPr algn="r" indent="0" marL="0">
              <a:buNone/>
            </a:pPr>
            <a:r>
              <a:rPr lang="en-US" sz="900" dirty="0">
                <a:solidFill>
                  <a:srgbClr val="6B6459"/>
                </a:solidFill>
                <a:latin typeface="Arial" pitchFamily="34" charset="0"/>
                <a:ea typeface="Arial" pitchFamily="34" charset="-122"/>
                <a:cs typeface="Arial" pitchFamily="34" charset="-120"/>
              </a:rPr>
              <a:t>Yield Healthcare — Coding &amp; Billing</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783080" cy="288036"/>
          </a:xfrm>
          <a:prstGeom prst="rect">
            <a:avLst/>
          </a:prstGeom>
          <a:noFill/>
          <a:ln/>
        </p:spPr>
        <p:txBody>
          <a:bodyPr wrap="square" lIns="0" tIns="0" rIns="0" bIns="0" rtlCol="0" anchor="ctr"/>
          <a:lstStyle/>
          <a:p>
            <a:pPr algn="l" indent="0" marL="0">
              <a:buNone/>
            </a:pPr>
            <a:r>
              <a:rPr lang="en-US" sz="1650" b="1" spc="50" kern="0" dirty="0">
                <a:solidFill>
                  <a:srgbClr val="1E4B3A"/>
                </a:solidFill>
                <a:latin typeface="Arial" pitchFamily="34" charset="0"/>
                <a:ea typeface="Arial" pitchFamily="34" charset="-122"/>
                <a:cs typeface="Arial" pitchFamily="34" charset="-120"/>
              </a:rPr>
              <a:t>YIELD</a:t>
            </a:r>
            <a:endParaRPr lang="en-US" sz="1650" dirty="0"/>
          </a:p>
        </p:txBody>
      </p:sp>
      <p:sp>
        <p:nvSpPr>
          <p:cNvPr id="3" name="Shape 1"/>
          <p:cNvSpPr/>
          <p:nvPr/>
        </p:nvSpPr>
        <p:spPr>
          <a:xfrm>
            <a:off x="566928" y="685800"/>
            <a:ext cx="1062990" cy="25603"/>
          </a:xfrm>
          <a:prstGeom prst="rect">
            <a:avLst/>
          </a:prstGeom>
          <a:solidFill>
            <a:srgbClr val="D4A84C"/>
          </a:solidFill>
          <a:ln/>
        </p:spPr>
      </p:sp>
      <p:sp>
        <p:nvSpPr>
          <p:cNvPr id="4" name="Text 2"/>
          <p:cNvSpPr/>
          <p:nvPr/>
        </p:nvSpPr>
        <p:spPr>
          <a:xfrm>
            <a:off x="548640" y="713232"/>
            <a:ext cx="1783080" cy="178308"/>
          </a:xfrm>
          <a:prstGeom prst="rect">
            <a:avLst/>
          </a:prstGeom>
          <a:noFill/>
          <a:ln/>
        </p:spPr>
        <p:txBody>
          <a:bodyPr wrap="square" lIns="0" tIns="0" rIns="0" bIns="0" rtlCol="0" anchor="ctr"/>
          <a:lstStyle/>
          <a:p>
            <a:pPr algn="l" indent="0" marL="0">
              <a:buNone/>
            </a:pPr>
            <a:r>
              <a:rPr lang="en-US" sz="713" spc="220" kern="0" dirty="0">
                <a:solidFill>
                  <a:srgbClr val="1E4B3A"/>
                </a:solidFill>
                <a:latin typeface="Arial" pitchFamily="34" charset="0"/>
                <a:ea typeface="Arial" pitchFamily="34" charset="-122"/>
                <a:cs typeface="Arial" pitchFamily="34" charset="-120"/>
              </a:rPr>
              <a:t>HEALTHCARE</a:t>
            </a:r>
            <a:endParaRPr lang="en-US" sz="713" dirty="0"/>
          </a:p>
        </p:txBody>
      </p:sp>
      <p:sp>
        <p:nvSpPr>
          <p:cNvPr id="5" name="Text 3"/>
          <p:cNvSpPr/>
          <p:nvPr/>
        </p:nvSpPr>
        <p:spPr>
          <a:xfrm>
            <a:off x="548640" y="1051560"/>
            <a:ext cx="8229600" cy="548640"/>
          </a:xfrm>
          <a:prstGeom prst="rect">
            <a:avLst/>
          </a:prstGeom>
          <a:noFill/>
          <a:ln/>
        </p:spPr>
        <p:txBody>
          <a:bodyPr wrap="square" lIns="0" tIns="0" rIns="0" bIns="0" rtlCol="0" anchor="ctr"/>
          <a:lstStyle/>
          <a:p>
            <a:pPr indent="0" marL="0">
              <a:buNone/>
            </a:pPr>
            <a:r>
              <a:rPr lang="en-US" sz="2800" b="1" dirty="0">
                <a:solidFill>
                  <a:srgbClr val="1E4B3A"/>
                </a:solidFill>
                <a:latin typeface="Arial" pitchFamily="34" charset="0"/>
                <a:ea typeface="Arial" pitchFamily="34" charset="-122"/>
                <a:cs typeface="Arial" pitchFamily="34" charset="-120"/>
              </a:rPr>
              <a:t>Built to Survive an Audit</a:t>
            </a:r>
            <a:endParaRPr lang="en-US" sz="2800" dirty="0"/>
          </a:p>
        </p:txBody>
      </p:sp>
      <p:sp>
        <p:nvSpPr>
          <p:cNvPr id="6" name="Shape 4"/>
          <p:cNvSpPr/>
          <p:nvPr/>
        </p:nvSpPr>
        <p:spPr>
          <a:xfrm>
            <a:off x="548640" y="2057400"/>
            <a:ext cx="566928" cy="566928"/>
          </a:xfrm>
          <a:prstGeom prst="ellipse">
            <a:avLst/>
          </a:prstGeom>
          <a:solidFill>
            <a:srgbClr val="EEF3EC"/>
          </a:solidFill>
          <a:ln w="12700">
            <a:solidFill>
              <a:srgbClr val="E5E0D5"/>
            </a:solidFill>
            <a:prstDash val="solid"/>
          </a:ln>
        </p:spPr>
      </p:sp>
      <p:sp>
        <p:nvSpPr>
          <p:cNvPr id="7" name="Text 5"/>
          <p:cNvSpPr/>
          <p:nvPr/>
        </p:nvSpPr>
        <p:spPr>
          <a:xfrm>
            <a:off x="548640" y="2057400"/>
            <a:ext cx="566928" cy="566928"/>
          </a:xfrm>
          <a:prstGeom prst="rect">
            <a:avLst/>
          </a:prstGeom>
          <a:noFill/>
          <a:ln/>
        </p:spPr>
        <p:txBody>
          <a:bodyPr wrap="square" lIns="0" tIns="0" rIns="0" bIns="0" rtlCol="0" anchor="ctr"/>
          <a:lstStyle/>
          <a:p>
            <a:pPr algn="ctr" indent="0" marL="0">
              <a:buNone/>
            </a:pPr>
            <a:r>
              <a:rPr lang="en-US" sz="1600" b="1" dirty="0">
                <a:solidFill>
                  <a:srgbClr val="1E4B3A"/>
                </a:solidFill>
                <a:latin typeface="Arial" pitchFamily="34" charset="0"/>
                <a:ea typeface="Arial" pitchFamily="34" charset="-122"/>
                <a:cs typeface="Arial" pitchFamily="34" charset="-120"/>
              </a:rPr>
              <a:t>1</a:t>
            </a:r>
            <a:endParaRPr lang="en-US" sz="1600" dirty="0"/>
          </a:p>
        </p:txBody>
      </p:sp>
      <p:sp>
        <p:nvSpPr>
          <p:cNvPr id="8" name="Text 6"/>
          <p:cNvSpPr/>
          <p:nvPr/>
        </p:nvSpPr>
        <p:spPr>
          <a:xfrm>
            <a:off x="1371600" y="2057400"/>
            <a:ext cx="9875520" cy="329184"/>
          </a:xfrm>
          <a:prstGeom prst="rect">
            <a:avLst/>
          </a:prstGeom>
          <a:noFill/>
          <a:ln/>
        </p:spPr>
        <p:txBody>
          <a:bodyPr wrap="square" lIns="0" tIns="0" rIns="0" bIns="0" rtlCol="0" anchor="ctr"/>
          <a:lstStyle/>
          <a:p>
            <a:pPr indent="0" marL="0">
              <a:buNone/>
            </a:pPr>
            <a:r>
              <a:rPr lang="en-US" sz="1600" b="1" dirty="0">
                <a:solidFill>
                  <a:srgbClr val="3F3A33"/>
                </a:solidFill>
                <a:latin typeface="Arial" pitchFamily="34" charset="0"/>
                <a:ea typeface="Arial" pitchFamily="34" charset="-122"/>
                <a:cs typeface="Arial" pitchFamily="34" charset="-120"/>
              </a:rPr>
              <a:t>AI flags, a person decides.</a:t>
            </a:r>
            <a:endParaRPr lang="en-US" sz="1600" dirty="0"/>
          </a:p>
        </p:txBody>
      </p:sp>
      <p:sp>
        <p:nvSpPr>
          <p:cNvPr id="9" name="Text 7"/>
          <p:cNvSpPr/>
          <p:nvPr/>
        </p:nvSpPr>
        <p:spPr>
          <a:xfrm>
            <a:off x="1371600" y="2386584"/>
            <a:ext cx="9875520" cy="548640"/>
          </a:xfrm>
          <a:prstGeom prst="rect">
            <a:avLst/>
          </a:prstGeom>
          <a:noFill/>
          <a:ln/>
        </p:spPr>
        <p:txBody>
          <a:bodyPr wrap="square" lIns="0" tIns="0" rIns="0" bIns="0" rtlCol="0" anchor="ctr"/>
          <a:lstStyle/>
          <a:p>
            <a:pPr indent="0" marL="0">
              <a:lnSpc>
                <a:spcPct val="130000"/>
              </a:lnSpc>
              <a:buNone/>
            </a:pPr>
            <a:r>
              <a:rPr lang="en-US" sz="1250" dirty="0">
                <a:solidFill>
                  <a:srgbClr val="6B6459"/>
                </a:solidFill>
                <a:latin typeface="Arial" pitchFamily="34" charset="0"/>
                <a:ea typeface="Arial" pitchFamily="34" charset="-122"/>
                <a:cs typeface="Arial" pitchFamily="34" charset="-120"/>
              </a:rPr>
              <a:t>Every AI-surfaced coding gap is reviewed and confirmed by a certified coder before it's finalized. No claim or chart is touched by AI alone.</a:t>
            </a:r>
            <a:endParaRPr lang="en-US" sz="1250" dirty="0"/>
          </a:p>
        </p:txBody>
      </p:sp>
      <p:sp>
        <p:nvSpPr>
          <p:cNvPr id="10" name="Shape 8"/>
          <p:cNvSpPr/>
          <p:nvPr/>
        </p:nvSpPr>
        <p:spPr>
          <a:xfrm>
            <a:off x="548640" y="3337560"/>
            <a:ext cx="566928" cy="566928"/>
          </a:xfrm>
          <a:prstGeom prst="ellipse">
            <a:avLst/>
          </a:prstGeom>
          <a:solidFill>
            <a:srgbClr val="EEF3EC"/>
          </a:solidFill>
          <a:ln w="12700">
            <a:solidFill>
              <a:srgbClr val="E5E0D5"/>
            </a:solidFill>
            <a:prstDash val="solid"/>
          </a:ln>
        </p:spPr>
      </p:sp>
      <p:sp>
        <p:nvSpPr>
          <p:cNvPr id="11" name="Text 9"/>
          <p:cNvSpPr/>
          <p:nvPr/>
        </p:nvSpPr>
        <p:spPr>
          <a:xfrm>
            <a:off x="548640" y="3337560"/>
            <a:ext cx="566928" cy="566928"/>
          </a:xfrm>
          <a:prstGeom prst="rect">
            <a:avLst/>
          </a:prstGeom>
          <a:noFill/>
          <a:ln/>
        </p:spPr>
        <p:txBody>
          <a:bodyPr wrap="square" lIns="0" tIns="0" rIns="0" bIns="0" rtlCol="0" anchor="ctr"/>
          <a:lstStyle/>
          <a:p>
            <a:pPr algn="ctr" indent="0" marL="0">
              <a:buNone/>
            </a:pPr>
            <a:r>
              <a:rPr lang="en-US" sz="1600" b="1" dirty="0">
                <a:solidFill>
                  <a:srgbClr val="1E4B3A"/>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371600" y="3337560"/>
            <a:ext cx="9875520" cy="329184"/>
          </a:xfrm>
          <a:prstGeom prst="rect">
            <a:avLst/>
          </a:prstGeom>
          <a:noFill/>
          <a:ln/>
        </p:spPr>
        <p:txBody>
          <a:bodyPr wrap="square" lIns="0" tIns="0" rIns="0" bIns="0" rtlCol="0" anchor="ctr"/>
          <a:lstStyle/>
          <a:p>
            <a:pPr indent="0" marL="0">
              <a:buNone/>
            </a:pPr>
            <a:r>
              <a:rPr lang="en-US" sz="1600" b="1" dirty="0">
                <a:solidFill>
                  <a:srgbClr val="3F3A33"/>
                </a:solidFill>
                <a:latin typeface="Arial" pitchFamily="34" charset="0"/>
                <a:ea typeface="Arial" pitchFamily="34" charset="-122"/>
                <a:cs typeface="Arial" pitchFamily="34" charset="-120"/>
              </a:rPr>
              <a:t>Priced on documentation, not volume.</a:t>
            </a:r>
            <a:endParaRPr lang="en-US" sz="1600" dirty="0"/>
          </a:p>
        </p:txBody>
      </p:sp>
      <p:sp>
        <p:nvSpPr>
          <p:cNvPr id="13" name="Text 11"/>
          <p:cNvSpPr/>
          <p:nvPr/>
        </p:nvSpPr>
        <p:spPr>
          <a:xfrm>
            <a:off x="1371600" y="3666744"/>
            <a:ext cx="9875520" cy="548640"/>
          </a:xfrm>
          <a:prstGeom prst="rect">
            <a:avLst/>
          </a:prstGeom>
          <a:noFill/>
          <a:ln/>
        </p:spPr>
        <p:txBody>
          <a:bodyPr wrap="square" lIns="0" tIns="0" rIns="0" bIns="0" rtlCol="0" anchor="ctr"/>
          <a:lstStyle/>
          <a:p>
            <a:pPr indent="0" marL="0">
              <a:lnSpc>
                <a:spcPct val="130000"/>
              </a:lnSpc>
              <a:buNone/>
            </a:pPr>
            <a:r>
              <a:rPr lang="en-US" sz="1250" dirty="0">
                <a:solidFill>
                  <a:srgbClr val="6B6459"/>
                </a:solidFill>
                <a:latin typeface="Arial" pitchFamily="34" charset="0"/>
                <a:ea typeface="Arial" pitchFamily="34" charset="-122"/>
                <a:cs typeface="Arial" pitchFamily="34" charset="-120"/>
              </a:rPr>
              <a:t>We price coding on a flat per-life basis, never on how much your risk score moves. That keeps the incentive where it belongs, whether a person or the model found the gap.</a:t>
            </a:r>
            <a:endParaRPr lang="en-US" sz="1250" dirty="0"/>
          </a:p>
        </p:txBody>
      </p:sp>
      <p:sp>
        <p:nvSpPr>
          <p:cNvPr id="14" name="Shape 12"/>
          <p:cNvSpPr/>
          <p:nvPr/>
        </p:nvSpPr>
        <p:spPr>
          <a:xfrm>
            <a:off x="548640" y="4617720"/>
            <a:ext cx="566928" cy="566928"/>
          </a:xfrm>
          <a:prstGeom prst="ellipse">
            <a:avLst/>
          </a:prstGeom>
          <a:solidFill>
            <a:srgbClr val="EEF3EC"/>
          </a:solidFill>
          <a:ln w="12700">
            <a:solidFill>
              <a:srgbClr val="E5E0D5"/>
            </a:solidFill>
            <a:prstDash val="solid"/>
          </a:ln>
        </p:spPr>
      </p:sp>
      <p:sp>
        <p:nvSpPr>
          <p:cNvPr id="15" name="Text 13"/>
          <p:cNvSpPr/>
          <p:nvPr/>
        </p:nvSpPr>
        <p:spPr>
          <a:xfrm>
            <a:off x="548640" y="4617720"/>
            <a:ext cx="566928" cy="566928"/>
          </a:xfrm>
          <a:prstGeom prst="rect">
            <a:avLst/>
          </a:prstGeom>
          <a:noFill/>
          <a:ln/>
        </p:spPr>
        <p:txBody>
          <a:bodyPr wrap="square" lIns="0" tIns="0" rIns="0" bIns="0" rtlCol="0" anchor="ctr"/>
          <a:lstStyle/>
          <a:p>
            <a:pPr algn="ctr" indent="0" marL="0">
              <a:buNone/>
            </a:pPr>
            <a:r>
              <a:rPr lang="en-US" sz="1600" b="1" dirty="0">
                <a:solidFill>
                  <a:srgbClr val="1E4B3A"/>
                </a:solidFill>
                <a:latin typeface="Arial" pitchFamily="34" charset="0"/>
                <a:ea typeface="Arial" pitchFamily="34" charset="-122"/>
                <a:cs typeface="Arial" pitchFamily="34" charset="-120"/>
              </a:rPr>
              <a:t>3</a:t>
            </a:r>
            <a:endParaRPr lang="en-US" sz="1600" dirty="0"/>
          </a:p>
        </p:txBody>
      </p:sp>
      <p:sp>
        <p:nvSpPr>
          <p:cNvPr id="16" name="Text 14"/>
          <p:cNvSpPr/>
          <p:nvPr/>
        </p:nvSpPr>
        <p:spPr>
          <a:xfrm>
            <a:off x="1371600" y="4617720"/>
            <a:ext cx="9875520" cy="329184"/>
          </a:xfrm>
          <a:prstGeom prst="rect">
            <a:avLst/>
          </a:prstGeom>
          <a:noFill/>
          <a:ln/>
        </p:spPr>
        <p:txBody>
          <a:bodyPr wrap="square" lIns="0" tIns="0" rIns="0" bIns="0" rtlCol="0" anchor="ctr"/>
          <a:lstStyle/>
          <a:p>
            <a:pPr indent="0" marL="0">
              <a:buNone/>
            </a:pPr>
            <a:r>
              <a:rPr lang="en-US" sz="1600" b="1" dirty="0">
                <a:solidFill>
                  <a:srgbClr val="3F3A33"/>
                </a:solidFill>
                <a:latin typeface="Arial" pitchFamily="34" charset="0"/>
                <a:ea typeface="Arial" pitchFamily="34" charset="-122"/>
                <a:cs typeface="Arial" pitchFamily="34" charset="-120"/>
              </a:rPr>
              <a:t>An audit trail from day one.</a:t>
            </a:r>
            <a:endParaRPr lang="en-US" sz="1600" dirty="0"/>
          </a:p>
        </p:txBody>
      </p:sp>
      <p:sp>
        <p:nvSpPr>
          <p:cNvPr id="17" name="Text 15"/>
          <p:cNvSpPr/>
          <p:nvPr/>
        </p:nvSpPr>
        <p:spPr>
          <a:xfrm>
            <a:off x="1371600" y="4946904"/>
            <a:ext cx="9875520" cy="548640"/>
          </a:xfrm>
          <a:prstGeom prst="rect">
            <a:avLst/>
          </a:prstGeom>
          <a:noFill/>
          <a:ln/>
        </p:spPr>
        <p:txBody>
          <a:bodyPr wrap="square" lIns="0" tIns="0" rIns="0" bIns="0" rtlCol="0" anchor="ctr"/>
          <a:lstStyle/>
          <a:p>
            <a:pPr indent="0" marL="0">
              <a:lnSpc>
                <a:spcPct val="130000"/>
              </a:lnSpc>
              <a:buNone/>
            </a:pPr>
            <a:r>
              <a:rPr lang="en-US" sz="1250" dirty="0">
                <a:solidFill>
                  <a:srgbClr val="6B6459"/>
                </a:solidFill>
                <a:latin typeface="Arial" pitchFamily="34" charset="0"/>
                <a:ea typeface="Arial" pitchFamily="34" charset="-122"/>
                <a:cs typeface="Arial" pitchFamily="34" charset="-120"/>
              </a:rPr>
              <a:t>Every recommendation, AI-flagged or coder-found, carries the clinical documentation behind it, ready for OIG or DOJ-level review, not assembled after the fact.</a:t>
            </a:r>
            <a:endParaRPr lang="en-US" sz="1250" dirty="0"/>
          </a:p>
        </p:txBody>
      </p:sp>
      <p:sp>
        <p:nvSpPr>
          <p:cNvPr id="18" name="Text 1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459"/>
                </a:solidFill>
                <a:latin typeface="Arial" pitchFamily="34" charset="0"/>
                <a:ea typeface="Arial" pitchFamily="34" charset="-122"/>
                <a:cs typeface="Arial" pitchFamily="34" charset="-120"/>
              </a:rPr>
              <a:t>Compliance</a:t>
            </a:r>
            <a:endParaRPr lang="en-US" sz="900" dirty="0"/>
          </a:p>
        </p:txBody>
      </p:sp>
      <p:sp>
        <p:nvSpPr>
          <p:cNvPr id="19" name="Text 17"/>
          <p:cNvSpPr/>
          <p:nvPr/>
        </p:nvSpPr>
        <p:spPr>
          <a:xfrm>
            <a:off x="7162495" y="6473952"/>
            <a:ext cx="4572000" cy="274320"/>
          </a:xfrm>
          <a:prstGeom prst="rect">
            <a:avLst/>
          </a:prstGeom>
          <a:noFill/>
          <a:ln/>
        </p:spPr>
        <p:txBody>
          <a:bodyPr wrap="square" lIns="0" tIns="0" rIns="0" bIns="0" rtlCol="0" anchor="ctr"/>
          <a:lstStyle/>
          <a:p>
            <a:pPr algn="r" indent="0" marL="0">
              <a:buNone/>
            </a:pPr>
            <a:r>
              <a:rPr lang="en-US" sz="900" dirty="0">
                <a:solidFill>
                  <a:srgbClr val="6B6459"/>
                </a:solidFill>
                <a:latin typeface="Arial" pitchFamily="34" charset="0"/>
                <a:ea typeface="Arial" pitchFamily="34" charset="-122"/>
                <a:cs typeface="Arial" pitchFamily="34" charset="-120"/>
              </a:rPr>
              <a:t>Yield Healthcare — Coding &amp; Billing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783080" cy="288036"/>
          </a:xfrm>
          <a:prstGeom prst="rect">
            <a:avLst/>
          </a:prstGeom>
          <a:noFill/>
          <a:ln/>
        </p:spPr>
        <p:txBody>
          <a:bodyPr wrap="square" lIns="0" tIns="0" rIns="0" bIns="0" rtlCol="0" anchor="ctr"/>
          <a:lstStyle/>
          <a:p>
            <a:pPr algn="l" indent="0" marL="0">
              <a:buNone/>
            </a:pPr>
            <a:r>
              <a:rPr lang="en-US" sz="1650" b="1" spc="50" kern="0" dirty="0">
                <a:solidFill>
                  <a:srgbClr val="1E4B3A"/>
                </a:solidFill>
                <a:latin typeface="Arial" pitchFamily="34" charset="0"/>
                <a:ea typeface="Arial" pitchFamily="34" charset="-122"/>
                <a:cs typeface="Arial" pitchFamily="34" charset="-120"/>
              </a:rPr>
              <a:t>YIELD</a:t>
            </a:r>
            <a:endParaRPr lang="en-US" sz="1650" dirty="0"/>
          </a:p>
        </p:txBody>
      </p:sp>
      <p:sp>
        <p:nvSpPr>
          <p:cNvPr id="3" name="Shape 1"/>
          <p:cNvSpPr/>
          <p:nvPr/>
        </p:nvSpPr>
        <p:spPr>
          <a:xfrm>
            <a:off x="566928" y="685800"/>
            <a:ext cx="1062990" cy="25603"/>
          </a:xfrm>
          <a:prstGeom prst="rect">
            <a:avLst/>
          </a:prstGeom>
          <a:solidFill>
            <a:srgbClr val="D4A84C"/>
          </a:solidFill>
          <a:ln/>
        </p:spPr>
      </p:sp>
      <p:sp>
        <p:nvSpPr>
          <p:cNvPr id="4" name="Text 2"/>
          <p:cNvSpPr/>
          <p:nvPr/>
        </p:nvSpPr>
        <p:spPr>
          <a:xfrm>
            <a:off x="548640" y="713232"/>
            <a:ext cx="1783080" cy="178308"/>
          </a:xfrm>
          <a:prstGeom prst="rect">
            <a:avLst/>
          </a:prstGeom>
          <a:noFill/>
          <a:ln/>
        </p:spPr>
        <p:txBody>
          <a:bodyPr wrap="square" lIns="0" tIns="0" rIns="0" bIns="0" rtlCol="0" anchor="ctr"/>
          <a:lstStyle/>
          <a:p>
            <a:pPr algn="l" indent="0" marL="0">
              <a:buNone/>
            </a:pPr>
            <a:r>
              <a:rPr lang="en-US" sz="713" spc="220" kern="0" dirty="0">
                <a:solidFill>
                  <a:srgbClr val="1E4B3A"/>
                </a:solidFill>
                <a:latin typeface="Arial" pitchFamily="34" charset="0"/>
                <a:ea typeface="Arial" pitchFamily="34" charset="-122"/>
                <a:cs typeface="Arial" pitchFamily="34" charset="-120"/>
              </a:rPr>
              <a:t>HEALTHCARE</a:t>
            </a:r>
            <a:endParaRPr lang="en-US" sz="713" dirty="0"/>
          </a:p>
        </p:txBody>
      </p:sp>
      <p:sp>
        <p:nvSpPr>
          <p:cNvPr id="5" name="Text 3"/>
          <p:cNvSpPr/>
          <p:nvPr/>
        </p:nvSpPr>
        <p:spPr>
          <a:xfrm>
            <a:off x="548640" y="1051560"/>
            <a:ext cx="8229600" cy="548640"/>
          </a:xfrm>
          <a:prstGeom prst="rect">
            <a:avLst/>
          </a:prstGeom>
          <a:noFill/>
          <a:ln/>
        </p:spPr>
        <p:txBody>
          <a:bodyPr wrap="square" lIns="0" tIns="0" rIns="0" bIns="0" rtlCol="0" anchor="ctr"/>
          <a:lstStyle/>
          <a:p>
            <a:pPr indent="0" marL="0">
              <a:buNone/>
            </a:pPr>
            <a:r>
              <a:rPr lang="en-US" sz="2800" b="1" dirty="0">
                <a:solidFill>
                  <a:srgbClr val="1E4B3A"/>
                </a:solidFill>
                <a:latin typeface="Arial" pitchFamily="34" charset="0"/>
                <a:ea typeface="Arial" pitchFamily="34" charset="-122"/>
                <a:cs typeface="Arial" pitchFamily="34" charset="-120"/>
              </a:rPr>
              <a:t>How We Roll This Out</a:t>
            </a:r>
            <a:endParaRPr lang="en-US" sz="2800" dirty="0"/>
          </a:p>
        </p:txBody>
      </p:sp>
      <p:sp>
        <p:nvSpPr>
          <p:cNvPr id="6" name="Shape 4"/>
          <p:cNvSpPr/>
          <p:nvPr/>
        </p:nvSpPr>
        <p:spPr>
          <a:xfrm>
            <a:off x="548640" y="2103120"/>
            <a:ext cx="2624328" cy="3566160"/>
          </a:xfrm>
          <a:prstGeom prst="roundRect">
            <a:avLst>
              <a:gd name="adj" fmla="val 2787"/>
            </a:avLst>
          </a:prstGeom>
          <a:solidFill>
            <a:srgbClr val="FFFFFF"/>
          </a:solidFill>
          <a:ln w="12700">
            <a:solidFill>
              <a:srgbClr val="E5E0D5"/>
            </a:solidFill>
            <a:prstDash val="solid"/>
          </a:ln>
        </p:spPr>
      </p:sp>
      <p:sp>
        <p:nvSpPr>
          <p:cNvPr id="7" name="Shape 5"/>
          <p:cNvSpPr/>
          <p:nvPr/>
        </p:nvSpPr>
        <p:spPr>
          <a:xfrm>
            <a:off x="548640" y="2103120"/>
            <a:ext cx="2624328" cy="54864"/>
          </a:xfrm>
          <a:prstGeom prst="rect">
            <a:avLst/>
          </a:prstGeom>
          <a:solidFill>
            <a:srgbClr val="8FA687"/>
          </a:solidFill>
          <a:ln/>
        </p:spPr>
      </p:sp>
      <p:sp>
        <p:nvSpPr>
          <p:cNvPr id="8" name="Text 6"/>
          <p:cNvSpPr/>
          <p:nvPr/>
        </p:nvSpPr>
        <p:spPr>
          <a:xfrm>
            <a:off x="749808" y="2331720"/>
            <a:ext cx="2221992" cy="274320"/>
          </a:xfrm>
          <a:prstGeom prst="rect">
            <a:avLst/>
          </a:prstGeom>
          <a:noFill/>
          <a:ln/>
        </p:spPr>
        <p:txBody>
          <a:bodyPr wrap="square" lIns="0" tIns="0" rIns="0" bIns="0" rtlCol="0" anchor="ctr"/>
          <a:lstStyle/>
          <a:p>
            <a:pPr indent="0" marL="0">
              <a:buNone/>
            </a:pPr>
            <a:r>
              <a:rPr lang="en-US" sz="1100" b="1" spc="100" kern="0" dirty="0">
                <a:solidFill>
                  <a:srgbClr val="8FA687"/>
                </a:solidFill>
                <a:latin typeface="Arial" pitchFamily="34" charset="0"/>
                <a:ea typeface="Arial" pitchFamily="34" charset="-122"/>
                <a:cs typeface="Arial" pitchFamily="34" charset="-120"/>
              </a:rPr>
              <a:t>Phase 1</a:t>
            </a:r>
            <a:endParaRPr lang="en-US" sz="1100" dirty="0"/>
          </a:p>
        </p:txBody>
      </p:sp>
      <p:sp>
        <p:nvSpPr>
          <p:cNvPr id="9" name="Text 7"/>
          <p:cNvSpPr/>
          <p:nvPr/>
        </p:nvSpPr>
        <p:spPr>
          <a:xfrm>
            <a:off x="749808" y="2606040"/>
            <a:ext cx="2221992" cy="594360"/>
          </a:xfrm>
          <a:prstGeom prst="rect">
            <a:avLst/>
          </a:prstGeom>
          <a:noFill/>
          <a:ln/>
        </p:spPr>
        <p:txBody>
          <a:bodyPr wrap="square" lIns="0" tIns="0" rIns="0" bIns="0" rtlCol="0" anchor="ctr"/>
          <a:lstStyle/>
          <a:p>
            <a:pPr indent="0" marL="0">
              <a:lnSpc>
                <a:spcPct val="110000"/>
              </a:lnSpc>
              <a:buNone/>
            </a:pPr>
            <a:r>
              <a:rPr lang="en-US" sz="1600" b="1" dirty="0">
                <a:solidFill>
                  <a:srgbClr val="1E4B3A"/>
                </a:solidFill>
                <a:latin typeface="Arial" pitchFamily="34" charset="0"/>
                <a:ea typeface="Arial" pitchFamily="34" charset="-122"/>
                <a:cs typeface="Arial" pitchFamily="34" charset="-120"/>
              </a:rPr>
              <a:t>Coding pilot</a:t>
            </a:r>
            <a:endParaRPr lang="en-US" sz="1600" dirty="0"/>
          </a:p>
        </p:txBody>
      </p:sp>
      <p:sp>
        <p:nvSpPr>
          <p:cNvPr id="10" name="Text 8"/>
          <p:cNvSpPr/>
          <p:nvPr/>
        </p:nvSpPr>
        <p:spPr>
          <a:xfrm>
            <a:off x="749808" y="3246120"/>
            <a:ext cx="2221992" cy="2286000"/>
          </a:xfrm>
          <a:prstGeom prst="rect">
            <a:avLst/>
          </a:prstGeom>
          <a:noFill/>
          <a:ln/>
        </p:spPr>
        <p:txBody>
          <a:bodyPr wrap="square" lIns="0" tIns="0" rIns="0" bIns="0" rtlCol="0" anchor="ctr"/>
          <a:lstStyle/>
          <a:p>
            <a:pPr indent="0" marL="0">
              <a:lnSpc>
                <a:spcPct val="130000"/>
              </a:lnSpc>
              <a:buNone/>
            </a:pPr>
            <a:r>
              <a:rPr lang="en-US" sz="1100" dirty="0">
                <a:solidFill>
                  <a:srgbClr val="6B6459"/>
                </a:solidFill>
                <a:latin typeface="Arial" pitchFamily="34" charset="0"/>
                <a:ea typeface="Arial" pitchFamily="34" charset="-122"/>
                <a:cs typeface="Arial" pitchFamily="34" charset="-120"/>
              </a:rPr>
              <a:t>AI-driven coding and documentation support with a small group of pilot ACOs, validating the models against certified-coder review. No billing offering yet.</a:t>
            </a:r>
            <a:endParaRPr lang="en-US" sz="1100" dirty="0"/>
          </a:p>
        </p:txBody>
      </p:sp>
      <p:sp>
        <p:nvSpPr>
          <p:cNvPr id="11" name="Shape 9"/>
          <p:cNvSpPr/>
          <p:nvPr/>
        </p:nvSpPr>
        <p:spPr>
          <a:xfrm>
            <a:off x="3429000" y="2103120"/>
            <a:ext cx="2624328" cy="3566160"/>
          </a:xfrm>
          <a:prstGeom prst="roundRect">
            <a:avLst>
              <a:gd name="adj" fmla="val 2787"/>
            </a:avLst>
          </a:prstGeom>
          <a:solidFill>
            <a:srgbClr val="FFFFFF"/>
          </a:solidFill>
          <a:ln w="12700">
            <a:solidFill>
              <a:srgbClr val="E5E0D5"/>
            </a:solidFill>
            <a:prstDash val="solid"/>
          </a:ln>
        </p:spPr>
      </p:sp>
      <p:sp>
        <p:nvSpPr>
          <p:cNvPr id="12" name="Shape 10"/>
          <p:cNvSpPr/>
          <p:nvPr/>
        </p:nvSpPr>
        <p:spPr>
          <a:xfrm>
            <a:off x="3429000" y="2103120"/>
            <a:ext cx="2624328" cy="54864"/>
          </a:xfrm>
          <a:prstGeom prst="rect">
            <a:avLst/>
          </a:prstGeom>
          <a:solidFill>
            <a:srgbClr val="D4A84C"/>
          </a:solidFill>
          <a:ln/>
        </p:spPr>
      </p:sp>
      <p:sp>
        <p:nvSpPr>
          <p:cNvPr id="13" name="Text 11"/>
          <p:cNvSpPr/>
          <p:nvPr/>
        </p:nvSpPr>
        <p:spPr>
          <a:xfrm>
            <a:off x="3630168" y="2331720"/>
            <a:ext cx="2221992" cy="274320"/>
          </a:xfrm>
          <a:prstGeom prst="rect">
            <a:avLst/>
          </a:prstGeom>
          <a:noFill/>
          <a:ln/>
        </p:spPr>
        <p:txBody>
          <a:bodyPr wrap="square" lIns="0" tIns="0" rIns="0" bIns="0" rtlCol="0" anchor="ctr"/>
          <a:lstStyle/>
          <a:p>
            <a:pPr indent="0" marL="0">
              <a:buNone/>
            </a:pPr>
            <a:r>
              <a:rPr lang="en-US" sz="1100" b="1" spc="100" kern="0" dirty="0">
                <a:solidFill>
                  <a:srgbClr val="8FA687"/>
                </a:solidFill>
                <a:latin typeface="Arial" pitchFamily="34" charset="0"/>
                <a:ea typeface="Arial" pitchFamily="34" charset="-122"/>
                <a:cs typeface="Arial" pitchFamily="34" charset="-120"/>
              </a:rPr>
              <a:t>Phase 2</a:t>
            </a:r>
            <a:endParaRPr lang="en-US" sz="1100" dirty="0"/>
          </a:p>
        </p:txBody>
      </p:sp>
      <p:sp>
        <p:nvSpPr>
          <p:cNvPr id="14" name="Text 12"/>
          <p:cNvSpPr/>
          <p:nvPr/>
        </p:nvSpPr>
        <p:spPr>
          <a:xfrm>
            <a:off x="3630168" y="2606040"/>
            <a:ext cx="2221992" cy="594360"/>
          </a:xfrm>
          <a:prstGeom prst="rect">
            <a:avLst/>
          </a:prstGeom>
          <a:noFill/>
          <a:ln/>
        </p:spPr>
        <p:txBody>
          <a:bodyPr wrap="square" lIns="0" tIns="0" rIns="0" bIns="0" rtlCol="0" anchor="ctr"/>
          <a:lstStyle/>
          <a:p>
            <a:pPr indent="0" marL="0">
              <a:lnSpc>
                <a:spcPct val="110000"/>
              </a:lnSpc>
              <a:buNone/>
            </a:pPr>
            <a:r>
              <a:rPr lang="en-US" sz="1600" b="1" dirty="0">
                <a:solidFill>
                  <a:srgbClr val="1E4B3A"/>
                </a:solidFill>
                <a:latin typeface="Arial" pitchFamily="34" charset="0"/>
                <a:ea typeface="Arial" pitchFamily="34" charset="-122"/>
                <a:cs typeface="Arial" pitchFamily="34" charset="-120"/>
              </a:rPr>
              <a:t>Add billing</a:t>
            </a:r>
            <a:endParaRPr lang="en-US" sz="1600" dirty="0"/>
          </a:p>
        </p:txBody>
      </p:sp>
      <p:sp>
        <p:nvSpPr>
          <p:cNvPr id="15" name="Text 13"/>
          <p:cNvSpPr/>
          <p:nvPr/>
        </p:nvSpPr>
        <p:spPr>
          <a:xfrm>
            <a:off x="3630168" y="3246120"/>
            <a:ext cx="2221992" cy="2286000"/>
          </a:xfrm>
          <a:prstGeom prst="rect">
            <a:avLst/>
          </a:prstGeom>
          <a:noFill/>
          <a:ln/>
        </p:spPr>
        <p:txBody>
          <a:bodyPr wrap="square" lIns="0" tIns="0" rIns="0" bIns="0" rtlCol="0" anchor="ctr"/>
          <a:lstStyle/>
          <a:p>
            <a:pPr indent="0" marL="0">
              <a:lnSpc>
                <a:spcPct val="130000"/>
              </a:lnSpc>
              <a:buNone/>
            </a:pPr>
            <a:r>
              <a:rPr lang="en-US" sz="1100" dirty="0">
                <a:solidFill>
                  <a:srgbClr val="6B6459"/>
                </a:solidFill>
                <a:latin typeface="Arial" pitchFamily="34" charset="0"/>
                <a:ea typeface="Arial" pitchFamily="34" charset="-122"/>
                <a:cs typeface="Arial" pitchFamily="34" charset="-120"/>
              </a:rPr>
              <a:t>Launch AI-driven billing and claims support through a licensed partner. Expand coding to new ACOs, and open the practice-level opt-in path.</a:t>
            </a:r>
            <a:endParaRPr lang="en-US" sz="1100" dirty="0"/>
          </a:p>
        </p:txBody>
      </p:sp>
      <p:sp>
        <p:nvSpPr>
          <p:cNvPr id="16" name="Shape 14"/>
          <p:cNvSpPr/>
          <p:nvPr/>
        </p:nvSpPr>
        <p:spPr>
          <a:xfrm>
            <a:off x="6309360" y="2103120"/>
            <a:ext cx="2624328" cy="3566160"/>
          </a:xfrm>
          <a:prstGeom prst="roundRect">
            <a:avLst>
              <a:gd name="adj" fmla="val 2787"/>
            </a:avLst>
          </a:prstGeom>
          <a:solidFill>
            <a:srgbClr val="FFFFFF"/>
          </a:solidFill>
          <a:ln w="12700">
            <a:solidFill>
              <a:srgbClr val="E5E0D5"/>
            </a:solidFill>
            <a:prstDash val="solid"/>
          </a:ln>
        </p:spPr>
      </p:sp>
      <p:sp>
        <p:nvSpPr>
          <p:cNvPr id="17" name="Shape 15"/>
          <p:cNvSpPr/>
          <p:nvPr/>
        </p:nvSpPr>
        <p:spPr>
          <a:xfrm>
            <a:off x="6309360" y="2103120"/>
            <a:ext cx="2624328" cy="54864"/>
          </a:xfrm>
          <a:prstGeom prst="rect">
            <a:avLst/>
          </a:prstGeom>
          <a:solidFill>
            <a:srgbClr val="8FA687"/>
          </a:solidFill>
          <a:ln/>
        </p:spPr>
      </p:sp>
      <p:sp>
        <p:nvSpPr>
          <p:cNvPr id="18" name="Text 16"/>
          <p:cNvSpPr/>
          <p:nvPr/>
        </p:nvSpPr>
        <p:spPr>
          <a:xfrm>
            <a:off x="6510528" y="2331720"/>
            <a:ext cx="2221992" cy="274320"/>
          </a:xfrm>
          <a:prstGeom prst="rect">
            <a:avLst/>
          </a:prstGeom>
          <a:noFill/>
          <a:ln/>
        </p:spPr>
        <p:txBody>
          <a:bodyPr wrap="square" lIns="0" tIns="0" rIns="0" bIns="0" rtlCol="0" anchor="ctr"/>
          <a:lstStyle/>
          <a:p>
            <a:pPr indent="0" marL="0">
              <a:buNone/>
            </a:pPr>
            <a:r>
              <a:rPr lang="en-US" sz="1100" b="1" spc="100" kern="0" dirty="0">
                <a:solidFill>
                  <a:srgbClr val="8FA687"/>
                </a:solidFill>
                <a:latin typeface="Arial" pitchFamily="34" charset="0"/>
                <a:ea typeface="Arial" pitchFamily="34" charset="-122"/>
                <a:cs typeface="Arial" pitchFamily="34" charset="-120"/>
              </a:rPr>
              <a:t>Phase 3</a:t>
            </a:r>
            <a:endParaRPr lang="en-US" sz="1100" dirty="0"/>
          </a:p>
        </p:txBody>
      </p:sp>
      <p:sp>
        <p:nvSpPr>
          <p:cNvPr id="19" name="Text 17"/>
          <p:cNvSpPr/>
          <p:nvPr/>
        </p:nvSpPr>
        <p:spPr>
          <a:xfrm>
            <a:off x="6510528" y="2606040"/>
            <a:ext cx="2221992" cy="594360"/>
          </a:xfrm>
          <a:prstGeom prst="rect">
            <a:avLst/>
          </a:prstGeom>
          <a:noFill/>
          <a:ln/>
        </p:spPr>
        <p:txBody>
          <a:bodyPr wrap="square" lIns="0" tIns="0" rIns="0" bIns="0" rtlCol="0" anchor="ctr"/>
          <a:lstStyle/>
          <a:p>
            <a:pPr indent="0" marL="0">
              <a:lnSpc>
                <a:spcPct val="110000"/>
              </a:lnSpc>
              <a:buNone/>
            </a:pPr>
            <a:r>
              <a:rPr lang="en-US" sz="1600" b="1" dirty="0">
                <a:solidFill>
                  <a:srgbClr val="1E4B3A"/>
                </a:solidFill>
                <a:latin typeface="Arial" pitchFamily="34" charset="0"/>
                <a:ea typeface="Arial" pitchFamily="34" charset="-122"/>
                <a:cs typeface="Arial" pitchFamily="34" charset="-120"/>
              </a:rPr>
              <a:t>Scale both</a:t>
            </a:r>
            <a:endParaRPr lang="en-US" sz="1600" dirty="0"/>
          </a:p>
        </p:txBody>
      </p:sp>
      <p:sp>
        <p:nvSpPr>
          <p:cNvPr id="20" name="Text 18"/>
          <p:cNvSpPr/>
          <p:nvPr/>
        </p:nvSpPr>
        <p:spPr>
          <a:xfrm>
            <a:off x="6510528" y="3246120"/>
            <a:ext cx="2221992" cy="2286000"/>
          </a:xfrm>
          <a:prstGeom prst="rect">
            <a:avLst/>
          </a:prstGeom>
          <a:noFill/>
          <a:ln/>
        </p:spPr>
        <p:txBody>
          <a:bodyPr wrap="square" lIns="0" tIns="0" rIns="0" bIns="0" rtlCol="0" anchor="ctr"/>
          <a:lstStyle/>
          <a:p>
            <a:pPr indent="0" marL="0">
              <a:lnSpc>
                <a:spcPct val="130000"/>
              </a:lnSpc>
              <a:buNone/>
            </a:pPr>
            <a:r>
              <a:rPr lang="en-US" sz="1100" dirty="0">
                <a:solidFill>
                  <a:srgbClr val="6B6459"/>
                </a:solidFill>
                <a:latin typeface="Arial" pitchFamily="34" charset="0"/>
                <a:ea typeface="Arial" pitchFamily="34" charset="-122"/>
                <a:cs typeface="Arial" pitchFamily="34" charset="-120"/>
              </a:rPr>
              <a:t>Grow both lines and decide whether to bring billing infrastructure in-house, based on proven volume.</a:t>
            </a:r>
            <a:endParaRPr lang="en-US" sz="1100" dirty="0"/>
          </a:p>
        </p:txBody>
      </p:sp>
      <p:sp>
        <p:nvSpPr>
          <p:cNvPr id="21" name="Shape 19"/>
          <p:cNvSpPr/>
          <p:nvPr/>
        </p:nvSpPr>
        <p:spPr>
          <a:xfrm>
            <a:off x="9189720" y="2103120"/>
            <a:ext cx="2624328" cy="3566160"/>
          </a:xfrm>
          <a:prstGeom prst="roundRect">
            <a:avLst>
              <a:gd name="adj" fmla="val 2787"/>
            </a:avLst>
          </a:prstGeom>
          <a:solidFill>
            <a:srgbClr val="FFFFFF"/>
          </a:solidFill>
          <a:ln w="12700">
            <a:solidFill>
              <a:srgbClr val="E5E0D5"/>
            </a:solidFill>
            <a:prstDash val="solid"/>
          </a:ln>
        </p:spPr>
      </p:sp>
      <p:sp>
        <p:nvSpPr>
          <p:cNvPr id="22" name="Shape 20"/>
          <p:cNvSpPr/>
          <p:nvPr/>
        </p:nvSpPr>
        <p:spPr>
          <a:xfrm>
            <a:off x="9189720" y="2103120"/>
            <a:ext cx="2624328" cy="54864"/>
          </a:xfrm>
          <a:prstGeom prst="rect">
            <a:avLst/>
          </a:prstGeom>
          <a:solidFill>
            <a:srgbClr val="6B6459"/>
          </a:solidFill>
          <a:ln/>
        </p:spPr>
      </p:sp>
      <p:sp>
        <p:nvSpPr>
          <p:cNvPr id="23" name="Text 21"/>
          <p:cNvSpPr/>
          <p:nvPr/>
        </p:nvSpPr>
        <p:spPr>
          <a:xfrm>
            <a:off x="9390888" y="2331720"/>
            <a:ext cx="2221992" cy="274320"/>
          </a:xfrm>
          <a:prstGeom prst="rect">
            <a:avLst/>
          </a:prstGeom>
          <a:noFill/>
          <a:ln/>
        </p:spPr>
        <p:txBody>
          <a:bodyPr wrap="square" lIns="0" tIns="0" rIns="0" bIns="0" rtlCol="0" anchor="ctr"/>
          <a:lstStyle/>
          <a:p>
            <a:pPr indent="0" marL="0">
              <a:buNone/>
            </a:pPr>
            <a:r>
              <a:rPr lang="en-US" sz="1100" b="1" spc="100" kern="0" dirty="0">
                <a:solidFill>
                  <a:srgbClr val="8FA687"/>
                </a:solidFill>
                <a:latin typeface="Arial" pitchFamily="34" charset="0"/>
                <a:ea typeface="Arial" pitchFamily="34" charset="-122"/>
                <a:cs typeface="Arial" pitchFamily="34" charset="-120"/>
              </a:rPr>
              <a:t>Phase 4</a:t>
            </a:r>
            <a:endParaRPr lang="en-US" sz="1100" dirty="0"/>
          </a:p>
        </p:txBody>
      </p:sp>
      <p:sp>
        <p:nvSpPr>
          <p:cNvPr id="24" name="Text 22"/>
          <p:cNvSpPr/>
          <p:nvPr/>
        </p:nvSpPr>
        <p:spPr>
          <a:xfrm>
            <a:off x="9390888" y="2606040"/>
            <a:ext cx="2221992" cy="594360"/>
          </a:xfrm>
          <a:prstGeom prst="rect">
            <a:avLst/>
          </a:prstGeom>
          <a:noFill/>
          <a:ln/>
        </p:spPr>
        <p:txBody>
          <a:bodyPr wrap="square" lIns="0" tIns="0" rIns="0" bIns="0" rtlCol="0" anchor="ctr"/>
          <a:lstStyle/>
          <a:p>
            <a:pPr indent="0" marL="0">
              <a:lnSpc>
                <a:spcPct val="110000"/>
              </a:lnSpc>
              <a:buNone/>
            </a:pPr>
            <a:r>
              <a:rPr lang="en-US" sz="1600" b="1" dirty="0">
                <a:solidFill>
                  <a:srgbClr val="1E4B3A"/>
                </a:solidFill>
                <a:latin typeface="Arial" pitchFamily="34" charset="0"/>
                <a:ea typeface="Arial" pitchFamily="34" charset="-122"/>
                <a:cs typeface="Arial" pitchFamily="34" charset="-120"/>
              </a:rPr>
              <a:t>Payments (future)</a:t>
            </a:r>
            <a:endParaRPr lang="en-US" sz="1600" dirty="0"/>
          </a:p>
        </p:txBody>
      </p:sp>
      <p:sp>
        <p:nvSpPr>
          <p:cNvPr id="25" name="Text 23"/>
          <p:cNvSpPr/>
          <p:nvPr/>
        </p:nvSpPr>
        <p:spPr>
          <a:xfrm>
            <a:off x="9390888" y="3246120"/>
            <a:ext cx="2221992" cy="2286000"/>
          </a:xfrm>
          <a:prstGeom prst="rect">
            <a:avLst/>
          </a:prstGeom>
          <a:noFill/>
          <a:ln/>
        </p:spPr>
        <p:txBody>
          <a:bodyPr wrap="square" lIns="0" tIns="0" rIns="0" bIns="0" rtlCol="0" anchor="ctr"/>
          <a:lstStyle/>
          <a:p>
            <a:pPr indent="0" marL="0">
              <a:lnSpc>
                <a:spcPct val="130000"/>
              </a:lnSpc>
              <a:buNone/>
            </a:pPr>
            <a:r>
              <a:rPr lang="en-US" sz="1100" dirty="0">
                <a:solidFill>
                  <a:srgbClr val="6B6459"/>
                </a:solidFill>
                <a:latin typeface="Arial" pitchFamily="34" charset="0"/>
                <a:ea typeface="Arial" pitchFamily="34" charset="-122"/>
                <a:cs typeface="Arial" pitchFamily="34" charset="-120"/>
              </a:rPr>
              <a:t>Only after coding and billing are proven at scale, and only after a dedicated legal review. Not committed today.</a:t>
            </a:r>
            <a:endParaRPr lang="en-US" sz="1100" dirty="0"/>
          </a:p>
        </p:txBody>
      </p:sp>
      <p:sp>
        <p:nvSpPr>
          <p:cNvPr id="26" name="Text 2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6B6459"/>
                </a:solidFill>
                <a:latin typeface="Arial" pitchFamily="34" charset="0"/>
                <a:ea typeface="Arial" pitchFamily="34" charset="-122"/>
                <a:cs typeface="Arial" pitchFamily="34" charset="-120"/>
              </a:rPr>
              <a:t>Roadmap</a:t>
            </a:r>
            <a:endParaRPr lang="en-US" sz="900" dirty="0"/>
          </a:p>
        </p:txBody>
      </p:sp>
      <p:sp>
        <p:nvSpPr>
          <p:cNvPr id="27" name="Text 25"/>
          <p:cNvSpPr/>
          <p:nvPr/>
        </p:nvSpPr>
        <p:spPr>
          <a:xfrm>
            <a:off x="7162495" y="6473952"/>
            <a:ext cx="4572000" cy="274320"/>
          </a:xfrm>
          <a:prstGeom prst="rect">
            <a:avLst/>
          </a:prstGeom>
          <a:noFill/>
          <a:ln/>
        </p:spPr>
        <p:txBody>
          <a:bodyPr wrap="square" lIns="0" tIns="0" rIns="0" bIns="0" rtlCol="0" anchor="ctr"/>
          <a:lstStyle/>
          <a:p>
            <a:pPr algn="r" indent="0" marL="0">
              <a:buNone/>
            </a:pPr>
            <a:r>
              <a:rPr lang="en-US" sz="900" dirty="0">
                <a:solidFill>
                  <a:srgbClr val="6B6459"/>
                </a:solidFill>
                <a:latin typeface="Arial" pitchFamily="34" charset="0"/>
                <a:ea typeface="Arial" pitchFamily="34" charset="-122"/>
                <a:cs typeface="Arial" pitchFamily="34" charset="-120"/>
              </a:rPr>
              <a:t>Yield Healthcare — Coding &amp; Billing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4B3A"/>
        </a:solidFill>
      </p:bgPr>
    </p:bg>
    <p:spTree>
      <p:nvGrpSpPr>
        <p:cNvPr id="1" name=""/>
        <p:cNvGrpSpPr/>
        <p:nvPr/>
      </p:nvGrpSpPr>
      <p:grpSpPr>
        <a:xfrm>
          <a:off x="0" y="0"/>
          <a:ext cx="0" cy="0"/>
          <a:chOff x="0" y="0"/>
          <a:chExt cx="0" cy="0"/>
        </a:xfrm>
      </p:grpSpPr>
      <p:sp>
        <p:nvSpPr>
          <p:cNvPr id="2" name="Text 0"/>
          <p:cNvSpPr/>
          <p:nvPr/>
        </p:nvSpPr>
        <p:spPr>
          <a:xfrm>
            <a:off x="4937760" y="2286000"/>
            <a:ext cx="3090672" cy="499262"/>
          </a:xfrm>
          <a:prstGeom prst="rect">
            <a:avLst/>
          </a:prstGeom>
          <a:noFill/>
          <a:ln/>
        </p:spPr>
        <p:txBody>
          <a:bodyPr wrap="square" lIns="0" tIns="0" rIns="0" bIns="0" rtlCol="0" anchor="ctr"/>
          <a:lstStyle/>
          <a:p>
            <a:pPr algn="l" indent="0" marL="0">
              <a:buNone/>
            </a:pPr>
            <a:r>
              <a:rPr lang="en-US" sz="2860" b="1" spc="50" kern="0" dirty="0">
                <a:solidFill>
                  <a:srgbClr val="F5F1E8"/>
                </a:solidFill>
                <a:latin typeface="Arial" pitchFamily="34" charset="0"/>
                <a:ea typeface="Arial" pitchFamily="34" charset="-122"/>
                <a:cs typeface="Arial" pitchFamily="34" charset="-120"/>
              </a:rPr>
              <a:t>YIELD</a:t>
            </a:r>
            <a:endParaRPr lang="en-US" sz="2860" dirty="0"/>
          </a:p>
        </p:txBody>
      </p:sp>
      <p:sp>
        <p:nvSpPr>
          <p:cNvPr id="3" name="Shape 1"/>
          <p:cNvSpPr/>
          <p:nvPr/>
        </p:nvSpPr>
        <p:spPr>
          <a:xfrm>
            <a:off x="4956048" y="2761488"/>
            <a:ext cx="1842516" cy="25603"/>
          </a:xfrm>
          <a:prstGeom prst="rect">
            <a:avLst/>
          </a:prstGeom>
          <a:solidFill>
            <a:srgbClr val="D4A84C"/>
          </a:solidFill>
          <a:ln/>
        </p:spPr>
      </p:sp>
      <p:sp>
        <p:nvSpPr>
          <p:cNvPr id="4" name="Text 2"/>
          <p:cNvSpPr/>
          <p:nvPr/>
        </p:nvSpPr>
        <p:spPr>
          <a:xfrm>
            <a:off x="4937760" y="2809037"/>
            <a:ext cx="3090672" cy="309067"/>
          </a:xfrm>
          <a:prstGeom prst="rect">
            <a:avLst/>
          </a:prstGeom>
          <a:noFill/>
          <a:ln/>
        </p:spPr>
        <p:txBody>
          <a:bodyPr wrap="square" lIns="0" tIns="0" rIns="0" bIns="0" rtlCol="0" anchor="ctr"/>
          <a:lstStyle/>
          <a:p>
            <a:pPr algn="l" indent="0" marL="0">
              <a:buNone/>
            </a:pPr>
            <a:r>
              <a:rPr lang="en-US" sz="1235" spc="220" kern="0" dirty="0">
                <a:solidFill>
                  <a:srgbClr val="F5F1E8"/>
                </a:solidFill>
                <a:latin typeface="Arial" pitchFamily="34" charset="0"/>
                <a:ea typeface="Arial" pitchFamily="34" charset="-122"/>
                <a:cs typeface="Arial" pitchFamily="34" charset="-120"/>
              </a:rPr>
              <a:t>HEALTHCARE</a:t>
            </a:r>
            <a:endParaRPr lang="en-US" sz="1235" dirty="0"/>
          </a:p>
        </p:txBody>
      </p:sp>
      <p:sp>
        <p:nvSpPr>
          <p:cNvPr id="5" name="Text 3"/>
          <p:cNvSpPr/>
          <p:nvPr/>
        </p:nvSpPr>
        <p:spPr>
          <a:xfrm>
            <a:off x="3108960" y="3200400"/>
            <a:ext cx="5943600" cy="548640"/>
          </a:xfrm>
          <a:prstGeom prst="rect">
            <a:avLst/>
          </a:prstGeom>
          <a:noFill/>
          <a:ln/>
        </p:spPr>
        <p:txBody>
          <a:bodyPr wrap="square" lIns="0" tIns="0" rIns="0" bIns="0" rtlCol="0" anchor="ctr"/>
          <a:lstStyle/>
          <a:p>
            <a:pPr algn="ctr" indent="0" marL="0">
              <a:buNone/>
            </a:pPr>
            <a:r>
              <a:rPr lang="en-US" sz="1600" i="1" dirty="0">
                <a:solidFill>
                  <a:srgbClr val="8FA687"/>
                </a:solidFill>
                <a:latin typeface="Arial" pitchFamily="34" charset="0"/>
                <a:ea typeface="Arial" pitchFamily="34" charset="-122"/>
                <a:cs typeface="Arial" pitchFamily="34" charset="-120"/>
              </a:rPr>
              <a:t>Let's talk about your coding gap.</a:t>
            </a:r>
            <a:endParaRPr lang="en-US" sz="1600" dirty="0"/>
          </a:p>
        </p:txBody>
      </p:sp>
      <p:sp>
        <p:nvSpPr>
          <p:cNvPr id="6" name="Text 4"/>
          <p:cNvSpPr/>
          <p:nvPr/>
        </p:nvSpPr>
        <p:spPr>
          <a:xfrm>
            <a:off x="3108960" y="5943600"/>
            <a:ext cx="5943600" cy="365760"/>
          </a:xfrm>
          <a:prstGeom prst="rect">
            <a:avLst/>
          </a:prstGeom>
          <a:noFill/>
          <a:ln/>
        </p:spPr>
        <p:txBody>
          <a:bodyPr wrap="square" lIns="0" tIns="0" rIns="0" bIns="0" rtlCol="0" anchor="ctr"/>
          <a:lstStyle/>
          <a:p>
            <a:pPr algn="ctr" indent="0" marL="0">
              <a:buNone/>
            </a:pPr>
            <a:r>
              <a:rPr lang="en-US" sz="1100" dirty="0">
                <a:solidFill>
                  <a:srgbClr val="9FB8AC"/>
                </a:solidFill>
                <a:latin typeface="Arial" pitchFamily="34" charset="0"/>
                <a:ea typeface="Arial" pitchFamily="34" charset="-122"/>
                <a:cs typeface="Arial" pitchFamily="34" charset="-120"/>
              </a:rPr>
              <a:t>hello@yieldhealthcare.com   ·   yieldhealthcare.com</a:t>
            </a:r>
            <a:endParaRPr lang="en-US" sz="1100" dirty="0"/>
          </a:p>
        </p:txBody>
      </p:sp>
      <p:sp>
        <p:nvSpPr>
          <p:cNvPr id="7" name="Text 5"/>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9FB8AC"/>
                </a:solidFill>
                <a:latin typeface="Arial" pitchFamily="34" charset="0"/>
                <a:ea typeface="Arial" pitchFamily="34" charset="-122"/>
                <a:cs typeface="Arial" pitchFamily="34" charset="-120"/>
              </a:rPr>
              <a:t>Closing</a:t>
            </a:r>
            <a:endParaRPr lang="en-US" sz="900" dirty="0"/>
          </a:p>
        </p:txBody>
      </p:sp>
      <p:sp>
        <p:nvSpPr>
          <p:cNvPr id="8" name="Text 6"/>
          <p:cNvSpPr/>
          <p:nvPr/>
        </p:nvSpPr>
        <p:spPr>
          <a:xfrm>
            <a:off x="7162495" y="6473952"/>
            <a:ext cx="4572000" cy="274320"/>
          </a:xfrm>
          <a:prstGeom prst="rect">
            <a:avLst/>
          </a:prstGeom>
          <a:noFill/>
          <a:ln/>
        </p:spPr>
        <p:txBody>
          <a:bodyPr wrap="square" lIns="0" tIns="0" rIns="0" bIns="0" rtlCol="0" anchor="ctr"/>
          <a:lstStyle/>
          <a:p>
            <a:pPr algn="r" indent="0" marL="0">
              <a:buNone/>
            </a:pPr>
            <a:r>
              <a:rPr lang="en-US" sz="900" dirty="0">
                <a:solidFill>
                  <a:srgbClr val="9FB8AC"/>
                </a:solidFill>
                <a:latin typeface="Arial" pitchFamily="34" charset="0"/>
                <a:ea typeface="Arial" pitchFamily="34" charset="-122"/>
                <a:cs typeface="Arial" pitchFamily="34" charset="-120"/>
              </a:rPr>
              <a:t>Yield Healthcare — Coding &amp; Billing</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Yield Healthcare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Yield Healthcare — Coding &amp; Billing</dc:title>
  <dc:subject>PptxGenJS Presentation</dc:subject>
  <dc:creator>Yield Healthcare</dc:creator>
  <cp:lastModifiedBy>Yield Healthcare</cp:lastModifiedBy>
  <cp:revision>1</cp:revision>
  <dcterms:created xsi:type="dcterms:W3CDTF">2026-08-07T16:58:26Z</dcterms:created>
  <dcterms:modified xsi:type="dcterms:W3CDTF">2026-08-07T16:58:26Z</dcterms:modified>
</cp:coreProperties>
</file>